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033" autoAdjust="0"/>
  </p:normalViewPr>
  <p:slideViewPr>
    <p:cSldViewPr>
      <p:cViewPr varScale="1">
        <p:scale>
          <a:sx n="82" d="100"/>
          <a:sy n="82" d="100"/>
        </p:scale>
        <p:origin x="691" y="3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A22486BD-0CDD-4D05-BE6D-30FDC2FD2F34}" type="datetimeFigureOut">
              <a:rPr lang="en-IN" smtClean="0"/>
              <a:t>17-05-2026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B22DD3BB-8524-40C8-A9B6-19FD676231C9}" type="slidenum">
              <a:rPr lang="en-IN" smtClean="0"/>
              <a:t>‹#›</a:t>
            </a:fld>
            <a:endParaRPr lang="en-IN"/>
          </a:p>
        </p:txBody>
      </p:sp>
    </p:spTree>
    <p:extLst>
      <p:ext uri="{BB962C8B-B14F-4D97-AF65-F5344CB8AC3E}">
        <p14:creationId xmlns:p14="http://schemas.microsoft.com/office/powerpoint/2010/main" val="1161459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22DD3BB-8524-40C8-A9B6-19FD676231C9}" type="slidenum">
              <a:rPr lang="en-IN" smtClean="0"/>
              <a:t>2</a:t>
            </a:fld>
            <a:endParaRPr lang="en-IN"/>
          </a:p>
        </p:txBody>
      </p:sp>
    </p:spTree>
    <p:extLst>
      <p:ext uri="{BB962C8B-B14F-4D97-AF65-F5344CB8AC3E}">
        <p14:creationId xmlns:p14="http://schemas.microsoft.com/office/powerpoint/2010/main" val="12217965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1" name="bg object 21"/>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6" name="Holder 6"/>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7" name="Holder 7"/>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4" name="Holder 4"/>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5" name="Holder 5"/>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1" name="bg object 21"/>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3" name="Holder 3"/>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4" name="Holder 4"/>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7"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 name="Holder 2"/>
          <p:cNvSpPr>
            <a:spLocks noGrp="1"/>
          </p:cNvSpPr>
          <p:nvPr>
            <p:ph type="title"/>
          </p:nvPr>
        </p:nvSpPr>
        <p:spPr>
          <a:xfrm>
            <a:off x="73025" y="182323"/>
            <a:ext cx="4739005" cy="69596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236899" y="1074318"/>
            <a:ext cx="11346815" cy="3137535"/>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149031" y="6629427"/>
            <a:ext cx="635000"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5" name="Holder 5"/>
          <p:cNvSpPr>
            <a:spLocks noGrp="1"/>
          </p:cNvSpPr>
          <p:nvPr>
            <p:ph type="dt" sz="half" idx="6"/>
          </p:nvPr>
        </p:nvSpPr>
        <p:spPr>
          <a:xfrm>
            <a:off x="1773949" y="6629558"/>
            <a:ext cx="3661410"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a:xfrm>
            <a:off x="11793245" y="6629427"/>
            <a:ext cx="228600" cy="250825"/>
          </a:xfrm>
          <a:prstGeom prst="rect">
            <a:avLst/>
          </a:prstGeom>
        </p:spPr>
        <p:txBody>
          <a:bodyPr wrap="square" lIns="0" tIns="0" rIns="0" bIns="0">
            <a:spAutoFit/>
          </a:bodyPr>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77240" y="6634440"/>
            <a:ext cx="11414760" cy="223520"/>
            <a:chOff x="777240" y="6634440"/>
            <a:chExt cx="11414760" cy="223520"/>
          </a:xfrm>
        </p:grpSpPr>
        <p:sp>
          <p:nvSpPr>
            <p:cNvPr id="3" name="object 3"/>
            <p:cNvSpPr/>
            <p:nvPr/>
          </p:nvSpPr>
          <p:spPr>
            <a:xfrm>
              <a:off x="777240" y="6634440"/>
              <a:ext cx="5781675" cy="220979"/>
            </a:xfrm>
            <a:custGeom>
              <a:avLst/>
              <a:gdLst/>
              <a:ahLst/>
              <a:cxnLst/>
              <a:rect l="l" t="t" r="r" b="b"/>
              <a:pathLst>
                <a:path w="5781675" h="220979">
                  <a:moveTo>
                    <a:pt x="5781599" y="220679"/>
                  </a:moveTo>
                  <a:lnTo>
                    <a:pt x="0" y="220679"/>
                  </a:lnTo>
                  <a:lnTo>
                    <a:pt x="0" y="0"/>
                  </a:lnTo>
                  <a:lnTo>
                    <a:pt x="5781599" y="0"/>
                  </a:lnTo>
                  <a:lnTo>
                    <a:pt x="5781599" y="220679"/>
                  </a:lnTo>
                  <a:close/>
                </a:path>
              </a:pathLst>
            </a:custGeom>
            <a:solidFill>
              <a:srgbClr val="002060"/>
            </a:solidFill>
          </p:spPr>
          <p:txBody>
            <a:bodyPr wrap="square" lIns="0" tIns="0" rIns="0" bIns="0" rtlCol="0"/>
            <a:lstStyle/>
            <a:p>
              <a:endParaRPr/>
            </a:p>
          </p:txBody>
        </p:sp>
        <p:sp>
          <p:nvSpPr>
            <p:cNvPr id="4" name="object 4"/>
            <p:cNvSpPr/>
            <p:nvPr/>
          </p:nvSpPr>
          <p:spPr>
            <a:xfrm>
              <a:off x="6559199" y="6634440"/>
              <a:ext cx="5194935" cy="220979"/>
            </a:xfrm>
            <a:custGeom>
              <a:avLst/>
              <a:gdLst/>
              <a:ahLst/>
              <a:cxnLst/>
              <a:rect l="l" t="t" r="r" b="b"/>
              <a:pathLst>
                <a:path w="5194934" h="220979">
                  <a:moveTo>
                    <a:pt x="5194799" y="220679"/>
                  </a:moveTo>
                  <a:lnTo>
                    <a:pt x="0" y="220679"/>
                  </a:lnTo>
                  <a:lnTo>
                    <a:pt x="0" y="0"/>
                  </a:lnTo>
                  <a:lnTo>
                    <a:pt x="5194799" y="0"/>
                  </a:lnTo>
                  <a:lnTo>
                    <a:pt x="5194799" y="220679"/>
                  </a:lnTo>
                  <a:close/>
                </a:path>
              </a:pathLst>
            </a:custGeom>
            <a:solidFill>
              <a:srgbClr val="008080"/>
            </a:solidFill>
          </p:spPr>
          <p:txBody>
            <a:bodyPr wrap="square" lIns="0" tIns="0" rIns="0" bIns="0" rtlCol="0"/>
            <a:lstStyle/>
            <a:p>
              <a:endParaRPr/>
            </a:p>
          </p:txBody>
        </p:sp>
        <p:sp>
          <p:nvSpPr>
            <p:cNvPr id="5" name="object 5"/>
            <p:cNvSpPr/>
            <p:nvPr/>
          </p:nvSpPr>
          <p:spPr>
            <a:xfrm>
              <a:off x="11754359" y="6636960"/>
              <a:ext cx="437515" cy="220979"/>
            </a:xfrm>
            <a:custGeom>
              <a:avLst/>
              <a:gdLst/>
              <a:ahLst/>
              <a:cxnLst/>
              <a:rect l="l" t="t" r="r" b="b"/>
              <a:pathLst>
                <a:path w="437515" h="220979">
                  <a:moveTo>
                    <a:pt x="437399" y="220679"/>
                  </a:moveTo>
                  <a:lnTo>
                    <a:pt x="0" y="220679"/>
                  </a:lnTo>
                  <a:lnTo>
                    <a:pt x="0" y="0"/>
                  </a:lnTo>
                  <a:lnTo>
                    <a:pt x="437399" y="0"/>
                  </a:lnTo>
                  <a:lnTo>
                    <a:pt x="437399" y="220679"/>
                  </a:lnTo>
                  <a:close/>
                </a:path>
              </a:pathLst>
            </a:custGeom>
            <a:solidFill>
              <a:srgbClr val="FFC000"/>
            </a:solidFill>
          </p:spPr>
          <p:txBody>
            <a:bodyPr wrap="square" lIns="0" tIns="0" rIns="0" bIns="0" rtlCol="0"/>
            <a:lstStyle/>
            <a:p>
              <a:endParaRPr/>
            </a:p>
          </p:txBody>
        </p:sp>
      </p:grpSp>
      <p:sp>
        <p:nvSpPr>
          <p:cNvPr id="6" name="object 6"/>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7" name="object 7"/>
          <p:cNvSpPr/>
          <p:nvPr/>
        </p:nvSpPr>
        <p:spPr>
          <a:xfrm>
            <a:off x="0" y="6634440"/>
            <a:ext cx="777240" cy="221615"/>
          </a:xfrm>
          <a:custGeom>
            <a:avLst/>
            <a:gdLst/>
            <a:ahLst/>
            <a:cxnLst/>
            <a:rect l="l" t="t" r="r" b="b"/>
            <a:pathLst>
              <a:path w="777240" h="221615">
                <a:moveTo>
                  <a:pt x="776879" y="221039"/>
                </a:moveTo>
                <a:lnTo>
                  <a:pt x="0" y="221039"/>
                </a:lnTo>
                <a:lnTo>
                  <a:pt x="0" y="0"/>
                </a:lnTo>
                <a:lnTo>
                  <a:pt x="776879" y="0"/>
                </a:lnTo>
                <a:lnTo>
                  <a:pt x="776879" y="221039"/>
                </a:lnTo>
                <a:close/>
              </a:path>
            </a:pathLst>
          </a:custGeom>
          <a:solidFill>
            <a:srgbClr val="C55A11"/>
          </a:solidFill>
        </p:spPr>
        <p:txBody>
          <a:bodyPr wrap="square" lIns="0" tIns="0" rIns="0" bIns="0" rtlCol="0"/>
          <a:lstStyle/>
          <a:p>
            <a:endParaRPr/>
          </a:p>
        </p:txBody>
      </p:sp>
      <p:sp>
        <p:nvSpPr>
          <p:cNvPr id="8" name="object 8"/>
          <p:cNvSpPr txBox="1"/>
          <p:nvPr/>
        </p:nvSpPr>
        <p:spPr>
          <a:xfrm>
            <a:off x="4551746" y="1665226"/>
            <a:ext cx="3674597" cy="423834"/>
          </a:xfrm>
          <a:prstGeom prst="rect">
            <a:avLst/>
          </a:prstGeom>
        </p:spPr>
        <p:txBody>
          <a:bodyPr vert="horz" wrap="square" lIns="0" tIns="13335" rIns="0" bIns="0" rtlCol="0">
            <a:spAutoFit/>
          </a:bodyPr>
          <a:lstStyle/>
          <a:p>
            <a:pPr algn="ctr">
              <a:lnSpc>
                <a:spcPts val="2080"/>
              </a:lnSpc>
              <a:spcBef>
                <a:spcPts val="105"/>
              </a:spcBef>
            </a:pPr>
            <a:r>
              <a:rPr lang="en-US" sz="2400" dirty="0">
                <a:latin typeface="Times New Roman"/>
                <a:cs typeface="Times New Roman"/>
              </a:rPr>
              <a:t>B. JAHNAV ARJUN GOWD</a:t>
            </a:r>
            <a:endParaRPr sz="2400" dirty="0">
              <a:latin typeface="Times New Roman"/>
              <a:cs typeface="Times New Roman"/>
            </a:endParaRPr>
          </a:p>
          <a:p>
            <a:pPr marL="635" algn="ctr">
              <a:lnSpc>
                <a:spcPts val="1060"/>
              </a:lnSpc>
            </a:pPr>
            <a:r>
              <a:rPr sz="1100" dirty="0">
                <a:latin typeface="Times New Roman"/>
                <a:cs typeface="Times New Roman"/>
              </a:rPr>
              <a:t>Roll</a:t>
            </a:r>
            <a:r>
              <a:rPr sz="1100" spc="5" dirty="0">
                <a:latin typeface="Times New Roman"/>
                <a:cs typeface="Times New Roman"/>
              </a:rPr>
              <a:t> </a:t>
            </a:r>
            <a:r>
              <a:rPr sz="1100" dirty="0">
                <a:latin typeface="Times New Roman"/>
                <a:cs typeface="Times New Roman"/>
              </a:rPr>
              <a:t>No.</a:t>
            </a:r>
            <a:r>
              <a:rPr sz="1100" spc="5" dirty="0">
                <a:latin typeface="Times New Roman"/>
                <a:cs typeface="Times New Roman"/>
              </a:rPr>
              <a:t> </a:t>
            </a:r>
            <a:r>
              <a:rPr sz="1100" spc="-10" dirty="0">
                <a:latin typeface="Times New Roman"/>
                <a:cs typeface="Times New Roman"/>
              </a:rPr>
              <a:t>2</a:t>
            </a:r>
            <a:r>
              <a:rPr lang="en-US" sz="1100" spc="-10" dirty="0">
                <a:latin typeface="Times New Roman"/>
                <a:cs typeface="Times New Roman"/>
              </a:rPr>
              <a:t>2</a:t>
            </a:r>
            <a:r>
              <a:rPr sz="1100" spc="-10" dirty="0">
                <a:latin typeface="Times New Roman"/>
                <a:cs typeface="Times New Roman"/>
              </a:rPr>
              <a:t>4G1A05</a:t>
            </a:r>
            <a:r>
              <a:rPr lang="en-US" sz="1100" spc="-10" dirty="0">
                <a:latin typeface="Times New Roman"/>
                <a:cs typeface="Times New Roman"/>
              </a:rPr>
              <a:t>32</a:t>
            </a:r>
            <a:endParaRPr sz="1100" dirty="0">
              <a:latin typeface="Times New Roman"/>
              <a:cs typeface="Times New Roman"/>
            </a:endParaRPr>
          </a:p>
        </p:txBody>
      </p:sp>
      <p:sp>
        <p:nvSpPr>
          <p:cNvPr id="9" name="object 9"/>
          <p:cNvSpPr txBox="1"/>
          <p:nvPr/>
        </p:nvSpPr>
        <p:spPr>
          <a:xfrm>
            <a:off x="4401823" y="2322009"/>
            <a:ext cx="3382017" cy="901337"/>
          </a:xfrm>
          <a:prstGeom prst="rect">
            <a:avLst/>
          </a:prstGeom>
        </p:spPr>
        <p:txBody>
          <a:bodyPr vert="horz" wrap="square" lIns="0" tIns="12700" rIns="0" bIns="0" rtlCol="0">
            <a:spAutoFit/>
          </a:bodyPr>
          <a:lstStyle/>
          <a:p>
            <a:pPr marL="635" algn="ctr">
              <a:lnSpc>
                <a:spcPts val="1630"/>
              </a:lnSpc>
              <a:spcBef>
                <a:spcPts val="100"/>
              </a:spcBef>
            </a:pPr>
            <a:r>
              <a:rPr sz="1400" i="1" dirty="0">
                <a:latin typeface="Times New Roman"/>
                <a:cs typeface="Times New Roman"/>
              </a:rPr>
              <a:t>Under</a:t>
            </a:r>
            <a:r>
              <a:rPr sz="1400" i="1" spc="-35" dirty="0">
                <a:latin typeface="Times New Roman"/>
                <a:cs typeface="Times New Roman"/>
              </a:rPr>
              <a:t> </a:t>
            </a:r>
            <a:r>
              <a:rPr sz="1400" i="1" dirty="0">
                <a:latin typeface="Times New Roman"/>
                <a:cs typeface="Times New Roman"/>
              </a:rPr>
              <a:t>the</a:t>
            </a:r>
            <a:r>
              <a:rPr sz="1400" i="1" spc="-35" dirty="0">
                <a:latin typeface="Times New Roman"/>
                <a:cs typeface="Times New Roman"/>
              </a:rPr>
              <a:t> </a:t>
            </a:r>
            <a:r>
              <a:rPr sz="1400" i="1" spc="-10" dirty="0">
                <a:latin typeface="Times New Roman"/>
                <a:cs typeface="Times New Roman"/>
              </a:rPr>
              <a:t>guidance</a:t>
            </a:r>
            <a:r>
              <a:rPr sz="1400" i="1" spc="-35" dirty="0">
                <a:latin typeface="Times New Roman"/>
                <a:cs typeface="Times New Roman"/>
              </a:rPr>
              <a:t> </a:t>
            </a:r>
            <a:r>
              <a:rPr sz="1400" i="1" spc="-25" dirty="0">
                <a:latin typeface="Times New Roman"/>
                <a:cs typeface="Times New Roman"/>
              </a:rPr>
              <a:t>of</a:t>
            </a:r>
            <a:endParaRPr sz="1400" dirty="0">
              <a:latin typeface="Times New Roman"/>
              <a:cs typeface="Times New Roman"/>
            </a:endParaRPr>
          </a:p>
          <a:p>
            <a:pPr marL="12065" marR="5080" algn="ctr">
              <a:lnSpc>
                <a:spcPts val="2790"/>
              </a:lnSpc>
              <a:spcBef>
                <a:spcPts val="114"/>
              </a:spcBef>
            </a:pPr>
            <a:r>
              <a:rPr lang="en-US" sz="2400" dirty="0">
                <a:latin typeface="Times New Roman"/>
                <a:cs typeface="Times New Roman"/>
              </a:rPr>
              <a:t>Mr. P. SHAJAHAN</a:t>
            </a:r>
            <a:r>
              <a:rPr sz="2400" spc="-10" dirty="0">
                <a:latin typeface="Times New Roman"/>
                <a:cs typeface="Times New Roman"/>
              </a:rPr>
              <a:t>,</a:t>
            </a:r>
            <a:r>
              <a:rPr lang="en-US" sz="2400" spc="-10" dirty="0">
                <a:latin typeface="Times New Roman"/>
                <a:cs typeface="Times New Roman"/>
              </a:rPr>
              <a:t> </a:t>
            </a:r>
            <a:r>
              <a:rPr kumimoji="0" lang="en-IN" sz="1400" b="0" i="0" u="none" strike="noStrike" kern="0" cap="none" spc="-10" normalizeH="0" baseline="0" noProof="0" dirty="0" err="1">
                <a:ln>
                  <a:noFill/>
                </a:ln>
                <a:solidFill>
                  <a:sysClr val="windowText" lastClr="000000"/>
                </a:solidFill>
                <a:effectLst/>
                <a:uLnTx/>
                <a:uFillTx/>
                <a:latin typeface="Times New Roman"/>
                <a:cs typeface="Times New Roman"/>
              </a:rPr>
              <a:t>M.Tech</a:t>
            </a:r>
            <a:r>
              <a:rPr kumimoji="0" lang="en-IN" sz="1400" b="0" i="0" u="none" strike="noStrike" kern="0" cap="none" spc="-10" normalizeH="0" baseline="0" noProof="0" dirty="0">
                <a:ln>
                  <a:noFill/>
                </a:ln>
                <a:solidFill>
                  <a:sysClr val="windowText" lastClr="000000"/>
                </a:solidFill>
                <a:effectLst/>
                <a:uLnTx/>
                <a:uFillTx/>
                <a:latin typeface="Times New Roman"/>
                <a:cs typeface="Times New Roman"/>
              </a:rPr>
              <a:t>.</a:t>
            </a:r>
            <a:r>
              <a:rPr lang="en-US" sz="2400" spc="-10" dirty="0">
                <a:latin typeface="Times New Roman"/>
                <a:cs typeface="Times New Roman"/>
              </a:rPr>
              <a:t> </a:t>
            </a:r>
            <a:r>
              <a:rPr sz="2400" spc="-10" dirty="0">
                <a:latin typeface="Times New Roman"/>
                <a:cs typeface="Times New Roman"/>
              </a:rPr>
              <a:t> </a:t>
            </a:r>
            <a:r>
              <a:rPr lang="en-IN" sz="1400" spc="-10" dirty="0">
                <a:latin typeface="Times New Roman"/>
                <a:cs typeface="Times New Roman"/>
              </a:rPr>
              <a:t>Assistant Professor</a:t>
            </a:r>
            <a:endParaRPr sz="1400" dirty="0">
              <a:latin typeface="Times New Roman"/>
              <a:cs typeface="Times New Roman"/>
            </a:endParaRPr>
          </a:p>
        </p:txBody>
      </p:sp>
      <p:sp>
        <p:nvSpPr>
          <p:cNvPr id="10" name="object 10"/>
          <p:cNvSpPr txBox="1"/>
          <p:nvPr/>
        </p:nvSpPr>
        <p:spPr>
          <a:xfrm>
            <a:off x="2147578" y="5096081"/>
            <a:ext cx="7890509" cy="1448435"/>
          </a:xfrm>
          <a:prstGeom prst="rect">
            <a:avLst/>
          </a:prstGeom>
        </p:spPr>
        <p:txBody>
          <a:bodyPr vert="horz" wrap="square" lIns="0" tIns="13335" rIns="0" bIns="0" rtlCol="0">
            <a:spAutoFit/>
          </a:bodyPr>
          <a:lstStyle/>
          <a:p>
            <a:pPr marL="4445" algn="ctr">
              <a:lnSpc>
                <a:spcPts val="2300"/>
              </a:lnSpc>
              <a:spcBef>
                <a:spcPts val="105"/>
              </a:spcBef>
            </a:pPr>
            <a:r>
              <a:rPr sz="2200" dirty="0">
                <a:latin typeface="Times New Roman"/>
                <a:cs typeface="Times New Roman"/>
              </a:rPr>
              <a:t>Department</a:t>
            </a:r>
            <a:r>
              <a:rPr sz="2200" spc="-25" dirty="0">
                <a:latin typeface="Times New Roman"/>
                <a:cs typeface="Times New Roman"/>
              </a:rPr>
              <a:t> </a:t>
            </a:r>
            <a:r>
              <a:rPr sz="2200" dirty="0">
                <a:latin typeface="Times New Roman"/>
                <a:cs typeface="Times New Roman"/>
              </a:rPr>
              <a:t>of</a:t>
            </a:r>
            <a:r>
              <a:rPr sz="2200" spc="-15" dirty="0">
                <a:latin typeface="Times New Roman"/>
                <a:cs typeface="Times New Roman"/>
              </a:rPr>
              <a:t> </a:t>
            </a:r>
            <a:r>
              <a:rPr sz="2200" dirty="0">
                <a:latin typeface="Times New Roman"/>
                <a:cs typeface="Times New Roman"/>
              </a:rPr>
              <a:t>Computer</a:t>
            </a:r>
            <a:r>
              <a:rPr sz="2200" spc="-15" dirty="0">
                <a:latin typeface="Times New Roman"/>
                <a:cs typeface="Times New Roman"/>
              </a:rPr>
              <a:t> </a:t>
            </a:r>
            <a:r>
              <a:rPr sz="2200" dirty="0">
                <a:latin typeface="Times New Roman"/>
                <a:cs typeface="Times New Roman"/>
              </a:rPr>
              <a:t>Science</a:t>
            </a:r>
            <a:r>
              <a:rPr sz="2200" spc="-20" dirty="0">
                <a:latin typeface="Times New Roman"/>
                <a:cs typeface="Times New Roman"/>
              </a:rPr>
              <a:t> </a:t>
            </a:r>
            <a:r>
              <a:rPr sz="2200" dirty="0">
                <a:latin typeface="Times New Roman"/>
                <a:cs typeface="Times New Roman"/>
              </a:rPr>
              <a:t>and</a:t>
            </a:r>
            <a:r>
              <a:rPr sz="2200" spc="-15" dirty="0">
                <a:latin typeface="Times New Roman"/>
                <a:cs typeface="Times New Roman"/>
              </a:rPr>
              <a:t> </a:t>
            </a:r>
            <a:r>
              <a:rPr sz="2200" dirty="0">
                <a:latin typeface="Times New Roman"/>
                <a:cs typeface="Times New Roman"/>
              </a:rPr>
              <a:t>Engineering</a:t>
            </a:r>
          </a:p>
          <a:p>
            <a:pPr algn="ctr">
              <a:lnSpc>
                <a:spcPts val="3565"/>
              </a:lnSpc>
            </a:pPr>
            <a:r>
              <a:rPr sz="3400" dirty="0">
                <a:solidFill>
                  <a:srgbClr val="FF0000"/>
                </a:solidFill>
                <a:latin typeface="Times New Roman"/>
                <a:cs typeface="Times New Roman"/>
              </a:rPr>
              <a:t>Srinivasa</a:t>
            </a:r>
            <a:r>
              <a:rPr sz="3400" spc="-20" dirty="0">
                <a:solidFill>
                  <a:srgbClr val="FF0000"/>
                </a:solidFill>
                <a:latin typeface="Times New Roman"/>
                <a:cs typeface="Times New Roman"/>
              </a:rPr>
              <a:t> </a:t>
            </a:r>
            <a:r>
              <a:rPr sz="3400" dirty="0">
                <a:solidFill>
                  <a:srgbClr val="FF0000"/>
                </a:solidFill>
                <a:latin typeface="Times New Roman"/>
                <a:cs typeface="Times New Roman"/>
              </a:rPr>
              <a:t>Ramanujan</a:t>
            </a:r>
            <a:r>
              <a:rPr sz="3400" spc="-20" dirty="0">
                <a:solidFill>
                  <a:srgbClr val="FF0000"/>
                </a:solidFill>
                <a:latin typeface="Times New Roman"/>
                <a:cs typeface="Times New Roman"/>
              </a:rPr>
              <a:t> </a:t>
            </a:r>
            <a:r>
              <a:rPr sz="3400" dirty="0">
                <a:solidFill>
                  <a:srgbClr val="FF0000"/>
                </a:solidFill>
                <a:latin typeface="Times New Roman"/>
                <a:cs typeface="Times New Roman"/>
              </a:rPr>
              <a:t>Institute</a:t>
            </a:r>
            <a:r>
              <a:rPr sz="3400" spc="-20" dirty="0">
                <a:solidFill>
                  <a:srgbClr val="FF0000"/>
                </a:solidFill>
                <a:latin typeface="Times New Roman"/>
                <a:cs typeface="Times New Roman"/>
              </a:rPr>
              <a:t> </a:t>
            </a:r>
            <a:r>
              <a:rPr sz="3400" dirty="0">
                <a:solidFill>
                  <a:srgbClr val="FF0000"/>
                </a:solidFill>
                <a:latin typeface="Times New Roman"/>
                <a:cs typeface="Times New Roman"/>
              </a:rPr>
              <a:t>of</a:t>
            </a:r>
            <a:r>
              <a:rPr sz="3400" spc="-20" dirty="0">
                <a:solidFill>
                  <a:srgbClr val="FF0000"/>
                </a:solidFill>
                <a:latin typeface="Times New Roman"/>
                <a:cs typeface="Times New Roman"/>
              </a:rPr>
              <a:t> </a:t>
            </a:r>
            <a:r>
              <a:rPr sz="3400" spc="-10" dirty="0">
                <a:solidFill>
                  <a:srgbClr val="FF0000"/>
                </a:solidFill>
                <a:latin typeface="Times New Roman"/>
                <a:cs typeface="Times New Roman"/>
              </a:rPr>
              <a:t>Technology</a:t>
            </a:r>
            <a:endParaRPr sz="3400" dirty="0">
              <a:latin typeface="Times New Roman"/>
              <a:cs typeface="Times New Roman"/>
            </a:endParaRPr>
          </a:p>
          <a:p>
            <a:pPr marL="6350" algn="ctr">
              <a:lnSpc>
                <a:spcPts val="1850"/>
              </a:lnSpc>
            </a:pPr>
            <a:r>
              <a:rPr sz="1750" b="1" spc="-10" dirty="0">
                <a:latin typeface="Times New Roman"/>
                <a:cs typeface="Times New Roman"/>
              </a:rPr>
              <a:t>Autonomous</a:t>
            </a:r>
            <a:endParaRPr sz="1750" dirty="0">
              <a:latin typeface="Times New Roman"/>
              <a:cs typeface="Times New Roman"/>
            </a:endParaRPr>
          </a:p>
          <a:p>
            <a:pPr marL="7620" algn="ctr">
              <a:lnSpc>
                <a:spcPts val="1370"/>
              </a:lnSpc>
            </a:pPr>
            <a:r>
              <a:rPr sz="1200" b="1" dirty="0">
                <a:latin typeface="Times New Roman"/>
                <a:cs typeface="Times New Roman"/>
              </a:rPr>
              <a:t>Rotarypuram</a:t>
            </a:r>
            <a:r>
              <a:rPr sz="1200" b="1" spc="-10" dirty="0">
                <a:latin typeface="Times New Roman"/>
                <a:cs typeface="Times New Roman"/>
              </a:rPr>
              <a:t> </a:t>
            </a:r>
            <a:r>
              <a:rPr sz="1200" b="1" dirty="0">
                <a:latin typeface="Times New Roman"/>
                <a:cs typeface="Times New Roman"/>
              </a:rPr>
              <a:t>Village,</a:t>
            </a:r>
            <a:r>
              <a:rPr sz="1200" b="1" spc="-5" dirty="0">
                <a:latin typeface="Times New Roman"/>
                <a:cs typeface="Times New Roman"/>
              </a:rPr>
              <a:t> </a:t>
            </a:r>
            <a:r>
              <a:rPr sz="1200" b="1" dirty="0">
                <a:latin typeface="Times New Roman"/>
                <a:cs typeface="Times New Roman"/>
              </a:rPr>
              <a:t>B</a:t>
            </a:r>
            <a:r>
              <a:rPr sz="1200" b="1" spc="-10" dirty="0">
                <a:latin typeface="Times New Roman"/>
                <a:cs typeface="Times New Roman"/>
              </a:rPr>
              <a:t> </a:t>
            </a:r>
            <a:r>
              <a:rPr sz="1200" b="1" dirty="0">
                <a:latin typeface="Times New Roman"/>
                <a:cs typeface="Times New Roman"/>
              </a:rPr>
              <a:t>K</a:t>
            </a:r>
            <a:r>
              <a:rPr sz="1200" b="1" spc="-5" dirty="0">
                <a:latin typeface="Times New Roman"/>
                <a:cs typeface="Times New Roman"/>
              </a:rPr>
              <a:t> </a:t>
            </a:r>
            <a:r>
              <a:rPr sz="1200" b="1" dirty="0">
                <a:latin typeface="Times New Roman"/>
                <a:cs typeface="Times New Roman"/>
              </a:rPr>
              <a:t>Samudram</a:t>
            </a:r>
            <a:r>
              <a:rPr sz="1200" b="1" spc="-10" dirty="0">
                <a:latin typeface="Times New Roman"/>
                <a:cs typeface="Times New Roman"/>
              </a:rPr>
              <a:t> </a:t>
            </a:r>
            <a:r>
              <a:rPr sz="1200" b="1" dirty="0">
                <a:latin typeface="Times New Roman"/>
                <a:cs typeface="Times New Roman"/>
              </a:rPr>
              <a:t>Mandal,</a:t>
            </a:r>
            <a:r>
              <a:rPr sz="1200" b="1" spc="-5" dirty="0">
                <a:latin typeface="Times New Roman"/>
                <a:cs typeface="Times New Roman"/>
              </a:rPr>
              <a:t> </a:t>
            </a:r>
            <a:r>
              <a:rPr sz="1200" b="1" dirty="0">
                <a:latin typeface="Times New Roman"/>
                <a:cs typeface="Times New Roman"/>
              </a:rPr>
              <a:t>Ananthapuramu</a:t>
            </a:r>
            <a:r>
              <a:rPr sz="1200" b="1" spc="-10" dirty="0">
                <a:latin typeface="Times New Roman"/>
                <a:cs typeface="Times New Roman"/>
              </a:rPr>
              <a:t> </a:t>
            </a:r>
            <a:r>
              <a:rPr sz="1200" b="1" dirty="0">
                <a:latin typeface="Times New Roman"/>
                <a:cs typeface="Times New Roman"/>
              </a:rPr>
              <a:t>–</a:t>
            </a:r>
            <a:r>
              <a:rPr sz="1200" b="1" spc="-5" dirty="0">
                <a:latin typeface="Times New Roman"/>
                <a:cs typeface="Times New Roman"/>
              </a:rPr>
              <a:t> </a:t>
            </a:r>
            <a:r>
              <a:rPr sz="1200" b="1" spc="-10" dirty="0">
                <a:latin typeface="Times New Roman"/>
                <a:cs typeface="Times New Roman"/>
              </a:rPr>
              <a:t>515701.</a:t>
            </a:r>
            <a:endParaRPr sz="1200" dirty="0">
              <a:latin typeface="Times New Roman"/>
              <a:cs typeface="Times New Roman"/>
            </a:endParaRPr>
          </a:p>
          <a:p>
            <a:pPr marL="6985" algn="ctr">
              <a:lnSpc>
                <a:spcPct val="100000"/>
              </a:lnSpc>
              <a:spcBef>
                <a:spcPts val="545"/>
              </a:spcBef>
            </a:pPr>
            <a:r>
              <a:rPr sz="1300" b="1" dirty="0">
                <a:solidFill>
                  <a:srgbClr val="1E4E78"/>
                </a:solidFill>
                <a:latin typeface="Times New Roman"/>
                <a:cs typeface="Times New Roman"/>
              </a:rPr>
              <a:t>202</a:t>
            </a:r>
            <a:r>
              <a:rPr lang="en-US" sz="1300" b="1" dirty="0">
                <a:solidFill>
                  <a:srgbClr val="1E4E78"/>
                </a:solidFill>
                <a:latin typeface="Times New Roman"/>
                <a:cs typeface="Times New Roman"/>
              </a:rPr>
              <a:t>5</a:t>
            </a:r>
            <a:r>
              <a:rPr sz="1300" b="1" dirty="0">
                <a:solidFill>
                  <a:srgbClr val="1E4E78"/>
                </a:solidFill>
                <a:latin typeface="Times New Roman"/>
                <a:cs typeface="Times New Roman"/>
              </a:rPr>
              <a:t>-</a:t>
            </a:r>
            <a:r>
              <a:rPr sz="1300" b="1" spc="-20" dirty="0">
                <a:solidFill>
                  <a:srgbClr val="1E4E78"/>
                </a:solidFill>
                <a:latin typeface="Times New Roman"/>
                <a:cs typeface="Times New Roman"/>
              </a:rPr>
              <a:t>20</a:t>
            </a:r>
            <a:r>
              <a:rPr lang="en-IN" sz="1300" b="1" spc="-20" dirty="0">
                <a:solidFill>
                  <a:srgbClr val="1E4E78"/>
                </a:solidFill>
                <a:latin typeface="Times New Roman"/>
                <a:cs typeface="Times New Roman"/>
              </a:rPr>
              <a:t>26</a:t>
            </a:r>
            <a:endParaRPr sz="1300" dirty="0">
              <a:latin typeface="Times New Roman"/>
              <a:cs typeface="Times New Roman"/>
            </a:endParaRPr>
          </a:p>
        </p:txBody>
      </p:sp>
      <p:sp>
        <p:nvSpPr>
          <p:cNvPr id="11" name="object 11"/>
          <p:cNvSpPr txBox="1"/>
          <p:nvPr/>
        </p:nvSpPr>
        <p:spPr>
          <a:xfrm>
            <a:off x="784032" y="1650399"/>
            <a:ext cx="3358472" cy="463588"/>
          </a:xfrm>
          <a:prstGeom prst="rect">
            <a:avLst/>
          </a:prstGeom>
        </p:spPr>
        <p:txBody>
          <a:bodyPr vert="horz" wrap="square" lIns="0" tIns="14605" rIns="0" bIns="0" rtlCol="0">
            <a:spAutoFit/>
          </a:bodyPr>
          <a:lstStyle/>
          <a:p>
            <a:pPr algn="ctr">
              <a:lnSpc>
                <a:spcPts val="2380"/>
              </a:lnSpc>
              <a:spcBef>
                <a:spcPts val="115"/>
              </a:spcBef>
            </a:pPr>
            <a:r>
              <a:rPr lang="en-IN" sz="2600" dirty="0">
                <a:latin typeface="Times New Roman"/>
                <a:cs typeface="Times New Roman"/>
              </a:rPr>
              <a:t>S. HEMANTH KUMAR</a:t>
            </a:r>
            <a:endParaRPr sz="2600" dirty="0">
              <a:latin typeface="Times New Roman"/>
              <a:cs typeface="Times New Roman"/>
            </a:endParaRPr>
          </a:p>
          <a:p>
            <a:pPr marL="1270" algn="ctr">
              <a:lnSpc>
                <a:spcPts val="1060"/>
              </a:lnSpc>
            </a:pPr>
            <a:r>
              <a:rPr sz="1300" dirty="0">
                <a:latin typeface="Times New Roman"/>
                <a:cs typeface="Times New Roman"/>
              </a:rPr>
              <a:t>Roll</a:t>
            </a:r>
            <a:r>
              <a:rPr sz="1300" spc="40" dirty="0">
                <a:latin typeface="Times New Roman"/>
                <a:cs typeface="Times New Roman"/>
              </a:rPr>
              <a:t> </a:t>
            </a:r>
            <a:r>
              <a:rPr sz="1300" dirty="0">
                <a:latin typeface="Times New Roman"/>
                <a:cs typeface="Times New Roman"/>
              </a:rPr>
              <a:t>No.</a:t>
            </a:r>
            <a:r>
              <a:rPr sz="1300" spc="40" dirty="0">
                <a:latin typeface="Times New Roman"/>
                <a:cs typeface="Times New Roman"/>
              </a:rPr>
              <a:t> </a:t>
            </a:r>
            <a:r>
              <a:rPr lang="en-US" sz="1300" spc="-10" dirty="0">
                <a:latin typeface="Times New Roman"/>
                <a:cs typeface="Times New Roman"/>
              </a:rPr>
              <a:t>2</a:t>
            </a:r>
            <a:r>
              <a:rPr sz="1300" spc="-10" dirty="0">
                <a:latin typeface="Times New Roman"/>
                <a:cs typeface="Times New Roman"/>
              </a:rPr>
              <a:t>24G1A05</a:t>
            </a:r>
            <a:r>
              <a:rPr lang="en-US" sz="1300" spc="-10" dirty="0">
                <a:latin typeface="Times New Roman"/>
                <a:cs typeface="Times New Roman"/>
              </a:rPr>
              <a:t>28</a:t>
            </a:r>
            <a:endParaRPr sz="1300" dirty="0">
              <a:latin typeface="Times New Roman"/>
              <a:cs typeface="Times New Roman"/>
            </a:endParaRPr>
          </a:p>
        </p:txBody>
      </p:sp>
      <p:sp>
        <p:nvSpPr>
          <p:cNvPr id="12" name="object 12"/>
          <p:cNvSpPr txBox="1"/>
          <p:nvPr/>
        </p:nvSpPr>
        <p:spPr>
          <a:xfrm>
            <a:off x="8635585" y="1648911"/>
            <a:ext cx="1844675" cy="424815"/>
          </a:xfrm>
          <a:prstGeom prst="rect">
            <a:avLst/>
          </a:prstGeom>
        </p:spPr>
        <p:txBody>
          <a:bodyPr vert="horz" wrap="square" lIns="0" tIns="13335" rIns="0" bIns="0" rtlCol="0">
            <a:spAutoFit/>
          </a:bodyPr>
          <a:lstStyle/>
          <a:p>
            <a:pPr algn="ctr">
              <a:lnSpc>
                <a:spcPts val="2080"/>
              </a:lnSpc>
              <a:spcBef>
                <a:spcPts val="105"/>
              </a:spcBef>
            </a:pPr>
            <a:r>
              <a:rPr sz="2400" dirty="0">
                <a:latin typeface="Times New Roman"/>
                <a:cs typeface="Times New Roman"/>
              </a:rPr>
              <a:t>T</a:t>
            </a:r>
            <a:r>
              <a:rPr lang="en-US" sz="2400" dirty="0">
                <a:latin typeface="Times New Roman"/>
                <a:cs typeface="Times New Roman"/>
              </a:rPr>
              <a:t>. PAVAN</a:t>
            </a:r>
            <a:endParaRPr sz="2400" dirty="0">
              <a:latin typeface="Times New Roman"/>
              <a:cs typeface="Times New Roman"/>
            </a:endParaRPr>
          </a:p>
          <a:p>
            <a:pPr marL="635" algn="ctr">
              <a:lnSpc>
                <a:spcPts val="1060"/>
              </a:lnSpc>
            </a:pPr>
            <a:r>
              <a:rPr sz="1100" dirty="0">
                <a:latin typeface="Times New Roman"/>
                <a:cs typeface="Times New Roman"/>
              </a:rPr>
              <a:t>Roll</a:t>
            </a:r>
            <a:r>
              <a:rPr sz="1100" spc="5" dirty="0">
                <a:latin typeface="Times New Roman"/>
                <a:cs typeface="Times New Roman"/>
              </a:rPr>
              <a:t> </a:t>
            </a:r>
            <a:r>
              <a:rPr sz="1100" dirty="0">
                <a:latin typeface="Times New Roman"/>
                <a:cs typeface="Times New Roman"/>
              </a:rPr>
              <a:t>No.</a:t>
            </a:r>
            <a:r>
              <a:rPr sz="1100" spc="5" dirty="0">
                <a:latin typeface="Times New Roman"/>
                <a:cs typeface="Times New Roman"/>
              </a:rPr>
              <a:t> </a:t>
            </a:r>
            <a:r>
              <a:rPr lang="en-US" sz="1100" spc="-10" dirty="0">
                <a:latin typeface="Times New Roman"/>
                <a:cs typeface="Times New Roman"/>
              </a:rPr>
              <a:t>22</a:t>
            </a:r>
            <a:r>
              <a:rPr sz="1100" spc="-10" dirty="0">
                <a:latin typeface="Times New Roman"/>
                <a:cs typeface="Times New Roman"/>
              </a:rPr>
              <a:t>4G1A05</a:t>
            </a:r>
            <a:r>
              <a:rPr lang="en-US" sz="1100" spc="-10" dirty="0">
                <a:latin typeface="Times New Roman"/>
                <a:cs typeface="Times New Roman"/>
              </a:rPr>
              <a:t>67</a:t>
            </a:r>
            <a:endParaRPr sz="1100" dirty="0">
              <a:latin typeface="Times New Roman"/>
              <a:cs typeface="Times New Roman"/>
            </a:endParaRPr>
          </a:p>
        </p:txBody>
      </p:sp>
      <p:grpSp>
        <p:nvGrpSpPr>
          <p:cNvPr id="14" name="object 14"/>
          <p:cNvGrpSpPr/>
          <p:nvPr/>
        </p:nvGrpSpPr>
        <p:grpSpPr>
          <a:xfrm>
            <a:off x="715009" y="318271"/>
            <a:ext cx="10608310" cy="937894"/>
            <a:chOff x="715009" y="318271"/>
            <a:chExt cx="10608310" cy="937894"/>
          </a:xfrm>
        </p:grpSpPr>
        <p:pic>
          <p:nvPicPr>
            <p:cNvPr id="15" name="object 15"/>
            <p:cNvPicPr/>
            <p:nvPr/>
          </p:nvPicPr>
          <p:blipFill>
            <a:blip r:embed="rId2" cstate="print"/>
            <a:stretch>
              <a:fillRect/>
            </a:stretch>
          </p:blipFill>
          <p:spPr>
            <a:xfrm>
              <a:off x="715009" y="318271"/>
              <a:ext cx="10608182" cy="937864"/>
            </a:xfrm>
            <a:prstGeom prst="rect">
              <a:avLst/>
            </a:prstGeom>
          </p:spPr>
        </p:pic>
        <p:sp>
          <p:nvSpPr>
            <p:cNvPr id="16" name="object 16"/>
            <p:cNvSpPr/>
            <p:nvPr/>
          </p:nvSpPr>
          <p:spPr>
            <a:xfrm>
              <a:off x="755008" y="335270"/>
              <a:ext cx="10528300" cy="857885"/>
            </a:xfrm>
            <a:custGeom>
              <a:avLst/>
              <a:gdLst/>
              <a:ahLst/>
              <a:cxnLst/>
              <a:rect l="l" t="t" r="r" b="b"/>
              <a:pathLst>
                <a:path w="10528300" h="857885">
                  <a:moveTo>
                    <a:pt x="10385202" y="857863"/>
                  </a:moveTo>
                  <a:lnTo>
                    <a:pt x="142980" y="857863"/>
                  </a:lnTo>
                  <a:lnTo>
                    <a:pt x="97787" y="850574"/>
                  </a:lnTo>
                  <a:lnTo>
                    <a:pt x="58537" y="830277"/>
                  </a:lnTo>
                  <a:lnTo>
                    <a:pt x="27586" y="799326"/>
                  </a:lnTo>
                  <a:lnTo>
                    <a:pt x="7289" y="760076"/>
                  </a:lnTo>
                  <a:lnTo>
                    <a:pt x="0" y="714883"/>
                  </a:lnTo>
                  <a:lnTo>
                    <a:pt x="0" y="142980"/>
                  </a:lnTo>
                  <a:lnTo>
                    <a:pt x="7289" y="97787"/>
                  </a:lnTo>
                  <a:lnTo>
                    <a:pt x="27586" y="58537"/>
                  </a:lnTo>
                  <a:lnTo>
                    <a:pt x="58537" y="27586"/>
                  </a:lnTo>
                  <a:lnTo>
                    <a:pt x="97787" y="7289"/>
                  </a:lnTo>
                  <a:lnTo>
                    <a:pt x="142980" y="0"/>
                  </a:lnTo>
                  <a:lnTo>
                    <a:pt x="10385202" y="0"/>
                  </a:lnTo>
                  <a:lnTo>
                    <a:pt x="10439918" y="10883"/>
                  </a:lnTo>
                  <a:lnTo>
                    <a:pt x="10486304" y="41877"/>
                  </a:lnTo>
                  <a:lnTo>
                    <a:pt x="10517299" y="88264"/>
                  </a:lnTo>
                  <a:lnTo>
                    <a:pt x="10528183" y="142980"/>
                  </a:lnTo>
                  <a:lnTo>
                    <a:pt x="10528183" y="714883"/>
                  </a:lnTo>
                  <a:lnTo>
                    <a:pt x="10520894" y="760076"/>
                  </a:lnTo>
                  <a:lnTo>
                    <a:pt x="10500596" y="799326"/>
                  </a:lnTo>
                  <a:lnTo>
                    <a:pt x="10469645" y="830277"/>
                  </a:lnTo>
                  <a:lnTo>
                    <a:pt x="10430395" y="850574"/>
                  </a:lnTo>
                  <a:lnTo>
                    <a:pt x="10385202" y="857863"/>
                  </a:lnTo>
                  <a:close/>
                </a:path>
              </a:pathLst>
            </a:custGeom>
            <a:solidFill>
              <a:srgbClr val="FF6600"/>
            </a:solidFill>
          </p:spPr>
          <p:txBody>
            <a:bodyPr wrap="square" lIns="0" tIns="0" rIns="0" bIns="0" rtlCol="0"/>
            <a:lstStyle/>
            <a:p>
              <a:endParaRPr/>
            </a:p>
          </p:txBody>
        </p:sp>
      </p:grpSp>
      <p:sp>
        <p:nvSpPr>
          <p:cNvPr id="17" name="object 17"/>
          <p:cNvSpPr txBox="1">
            <a:spLocks noGrp="1"/>
          </p:cNvSpPr>
          <p:nvPr>
            <p:ph type="title"/>
          </p:nvPr>
        </p:nvSpPr>
        <p:spPr>
          <a:xfrm>
            <a:off x="908692" y="561533"/>
            <a:ext cx="11664308" cy="412934"/>
          </a:xfrm>
          <a:prstGeom prst="rect">
            <a:avLst/>
          </a:prstGeom>
        </p:spPr>
        <p:txBody>
          <a:bodyPr vert="horz" wrap="square" lIns="0" tIns="12700" rIns="0" bIns="0" rtlCol="0">
            <a:spAutoFit/>
          </a:bodyPr>
          <a:lstStyle/>
          <a:p>
            <a:pPr marL="12700">
              <a:lnSpc>
                <a:spcPct val="100000"/>
              </a:lnSpc>
              <a:spcBef>
                <a:spcPts val="100"/>
              </a:spcBef>
            </a:pPr>
            <a:r>
              <a:rPr lang="en-US" sz="2600" dirty="0"/>
              <a:t>AI-Based Personal Finance Manager with Smart Expense Prediction System</a:t>
            </a:r>
          </a:p>
        </p:txBody>
      </p:sp>
      <p:sp>
        <p:nvSpPr>
          <p:cNvPr id="18" name="object 18"/>
          <p:cNvSpPr txBox="1"/>
          <p:nvPr/>
        </p:nvSpPr>
        <p:spPr>
          <a:xfrm>
            <a:off x="5987420" y="1278968"/>
            <a:ext cx="217170" cy="269240"/>
          </a:xfrm>
          <a:prstGeom prst="rect">
            <a:avLst/>
          </a:prstGeom>
        </p:spPr>
        <p:txBody>
          <a:bodyPr vert="horz" wrap="square" lIns="0" tIns="12700" rIns="0" bIns="0" rtlCol="0">
            <a:spAutoFit/>
          </a:bodyPr>
          <a:lstStyle/>
          <a:p>
            <a:pPr marL="12700">
              <a:lnSpc>
                <a:spcPct val="100000"/>
              </a:lnSpc>
              <a:spcBef>
                <a:spcPts val="100"/>
              </a:spcBef>
            </a:pPr>
            <a:r>
              <a:rPr sz="1600" i="1" spc="-25" dirty="0">
                <a:latin typeface="Times New Roman"/>
                <a:cs typeface="Times New Roman"/>
              </a:rPr>
              <a:t>by</a:t>
            </a:r>
            <a:endParaRPr sz="1600">
              <a:latin typeface="Times New Roman"/>
              <a:cs typeface="Times New Roman"/>
            </a:endParaRPr>
          </a:p>
        </p:txBody>
      </p:sp>
      <p:pic>
        <p:nvPicPr>
          <p:cNvPr id="19" name="object 19"/>
          <p:cNvPicPr/>
          <p:nvPr/>
        </p:nvPicPr>
        <p:blipFill>
          <a:blip r:embed="rId3" cstate="print"/>
          <a:stretch>
            <a:fillRect/>
          </a:stretch>
        </p:blipFill>
        <p:spPr>
          <a:xfrm>
            <a:off x="5329143" y="3371313"/>
            <a:ext cx="1527378" cy="1685486"/>
          </a:xfrm>
          <a:prstGeom prst="rect">
            <a:avLst/>
          </a:prstGeom>
        </p:spPr>
      </p:pic>
      <p:sp>
        <p:nvSpPr>
          <p:cNvPr id="22" name="object 8">
            <a:extLst>
              <a:ext uri="{FF2B5EF4-FFF2-40B4-BE49-F238E27FC236}">
                <a16:creationId xmlns:a16="http://schemas.microsoft.com/office/drawing/2014/main" id="{FEE95ADA-7FE8-42A2-741D-DF6198D01670}"/>
              </a:ext>
            </a:extLst>
          </p:cNvPr>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06</a:t>
            </a:r>
            <a:endParaRPr spc="-25" dirty="0"/>
          </a:p>
        </p:txBody>
      </p:sp>
      <p:sp>
        <p:nvSpPr>
          <p:cNvPr id="23" name="object 9">
            <a:extLst>
              <a:ext uri="{FF2B5EF4-FFF2-40B4-BE49-F238E27FC236}">
                <a16:creationId xmlns:a16="http://schemas.microsoft.com/office/drawing/2014/main" id="{92DC7436-16E1-998A-2673-3CD60CBA08DA}"/>
              </a:ext>
            </a:extLst>
          </p:cNvPr>
          <p:cNvSpPr txBox="1">
            <a:spLocks noGrp="1"/>
          </p:cNvSpPr>
          <p:nvPr>
            <p:ph type="dt" sz="half" idx="6"/>
          </p:nvPr>
        </p:nvSpPr>
        <p:spPr>
          <a:xfrm>
            <a:off x="1773948" y="6629559"/>
            <a:ext cx="4017251" cy="230832"/>
          </a:xfrm>
          <a:prstGeom prst="rect">
            <a:avLst/>
          </a:prstGeom>
        </p:spPr>
        <p:txBody>
          <a:bodyPr vert="horz" wrap="square" lIns="0" tIns="0" rIns="0" bIns="0" rtlCol="0">
            <a:spAutoFit/>
          </a:bodyPr>
          <a:lstStyle/>
          <a:p>
            <a:pPr marL="12700">
              <a:lnSpc>
                <a:spcPts val="1845"/>
              </a:lnSpc>
            </a:pPr>
            <a:r>
              <a:rPr lang="en-US" cap="small" spc="-75" dirty="0"/>
              <a:t>Dept.</a:t>
            </a:r>
            <a:r>
              <a:rPr lang="en-US" cap="small" spc="-10" dirty="0"/>
              <a:t> </a:t>
            </a:r>
            <a:r>
              <a:rPr lang="en-US" cap="small" spc="-100" dirty="0"/>
              <a:t>of</a:t>
            </a:r>
            <a:r>
              <a:rPr lang="en-US" cap="small" spc="50" dirty="0"/>
              <a:t> </a:t>
            </a:r>
            <a:r>
              <a:rPr lang="en-US" cap="small" spc="-114" dirty="0"/>
              <a:t>Computer</a:t>
            </a:r>
            <a:r>
              <a:rPr lang="en-US" cap="small" spc="60" dirty="0"/>
              <a:t> </a:t>
            </a:r>
            <a:r>
              <a:rPr lang="en-US" cap="small" spc="-95" dirty="0"/>
              <a:t>Science</a:t>
            </a:r>
            <a:r>
              <a:rPr lang="en-US" cap="small" spc="55" dirty="0"/>
              <a:t> </a:t>
            </a:r>
            <a:r>
              <a:rPr lang="en-US" cap="small" spc="-130" dirty="0"/>
              <a:t>and</a:t>
            </a:r>
            <a:r>
              <a:rPr lang="en-US" cap="small" spc="55" dirty="0"/>
              <a:t> </a:t>
            </a:r>
            <a:r>
              <a:rPr lang="en-US" cap="small" spc="-130" dirty="0"/>
              <a:t>Engineering</a:t>
            </a:r>
          </a:p>
        </p:txBody>
      </p:sp>
      <p:sp>
        <p:nvSpPr>
          <p:cNvPr id="24" name="object 10">
            <a:extLst>
              <a:ext uri="{FF2B5EF4-FFF2-40B4-BE49-F238E27FC236}">
                <a16:creationId xmlns:a16="http://schemas.microsoft.com/office/drawing/2014/main" id="{FE8984DC-A1BF-E526-76FD-E9A0AAB77F19}"/>
              </a:ext>
            </a:extLst>
          </p:cNvPr>
          <p:cNvSpPr txBox="1"/>
          <p:nvPr/>
        </p:nvSpPr>
        <p:spPr>
          <a:xfrm>
            <a:off x="7147541" y="6629197"/>
            <a:ext cx="42062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25" name="object 11">
            <a:extLst>
              <a:ext uri="{FF2B5EF4-FFF2-40B4-BE49-F238E27FC236}">
                <a16:creationId xmlns:a16="http://schemas.microsoft.com/office/drawing/2014/main" id="{D8B793AA-916F-2AFA-5718-0EEB95EE9ECA}"/>
              </a:ext>
            </a:extLst>
          </p:cNvPr>
          <p:cNvSpPr txBox="1">
            <a:spLocks noGrp="1"/>
          </p:cNvSpPr>
          <p:nvPr>
            <p:ph type="sldNum" sz="quarter" idx="7"/>
          </p:nvPr>
        </p:nvSpPr>
        <p:spPr>
          <a:xfrm>
            <a:off x="11793245" y="6629427"/>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1</a:t>
            </a:fld>
            <a:endParaRPr spc="-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628899" y="-38247"/>
            <a:ext cx="63246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AI-Based Personal Finance Manager with Smart Expense Prediction System</a:t>
            </a:r>
            <a:endParaRPr sz="1500" dirty="0">
              <a:latin typeface="Times New Roman"/>
              <a:cs typeface="Times New Roman"/>
            </a:endParaRPr>
          </a:p>
        </p:txBody>
      </p:sp>
      <p:grpSp>
        <p:nvGrpSpPr>
          <p:cNvPr id="3" name="object 3"/>
          <p:cNvGrpSpPr/>
          <p:nvPr/>
        </p:nvGrpSpPr>
        <p:grpSpPr>
          <a:xfrm>
            <a:off x="0" y="212399"/>
            <a:ext cx="12192000" cy="803275"/>
            <a:chOff x="0" y="212399"/>
            <a:chExt cx="12192000" cy="803275"/>
          </a:xfrm>
        </p:grpSpPr>
        <p:pic>
          <p:nvPicPr>
            <p:cNvPr id="4" name="object 4"/>
            <p:cNvPicPr/>
            <p:nvPr/>
          </p:nvPicPr>
          <p:blipFill>
            <a:blip r:embed="rId3" cstate="print"/>
            <a:stretch>
              <a:fillRect/>
            </a:stretch>
          </p:blipFill>
          <p:spPr>
            <a:xfrm>
              <a:off x="0" y="212399"/>
              <a:ext cx="12192000" cy="803160"/>
            </a:xfrm>
            <a:prstGeom prst="rect">
              <a:avLst/>
            </a:prstGeom>
          </p:spPr>
        </p:pic>
        <p:sp>
          <p:nvSpPr>
            <p:cNvPr id="5" name="object 5"/>
            <p:cNvSpPr/>
            <p:nvPr/>
          </p:nvSpPr>
          <p:spPr>
            <a:xfrm>
              <a:off x="239" y="228599"/>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Contents</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06</a:t>
            </a:r>
            <a:endParaRPr spc="-25" dirty="0"/>
          </a:p>
        </p:txBody>
      </p:sp>
      <p:sp>
        <p:nvSpPr>
          <p:cNvPr id="9" name="object 9"/>
          <p:cNvSpPr txBox="1">
            <a:spLocks noGrp="1"/>
          </p:cNvSpPr>
          <p:nvPr>
            <p:ph type="dt" sz="half" idx="6"/>
          </p:nvPr>
        </p:nvSpPr>
        <p:spPr>
          <a:xfrm>
            <a:off x="1773948" y="6629559"/>
            <a:ext cx="40172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9197"/>
            <a:ext cx="42062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2</a:t>
            </a:fld>
            <a:endParaRPr spc="-25" dirty="0"/>
          </a:p>
        </p:txBody>
      </p:sp>
      <p:sp>
        <p:nvSpPr>
          <p:cNvPr id="7" name="object 7"/>
          <p:cNvSpPr txBox="1"/>
          <p:nvPr/>
        </p:nvSpPr>
        <p:spPr>
          <a:xfrm>
            <a:off x="325786" y="989990"/>
            <a:ext cx="10037414" cy="4693593"/>
          </a:xfrm>
          <a:prstGeom prst="rect">
            <a:avLst/>
          </a:prstGeom>
        </p:spPr>
        <p:txBody>
          <a:bodyPr vert="horz" wrap="square" lIns="0" tIns="96520" rIns="0" bIns="0" rtlCol="0">
            <a:spAutoFit/>
          </a:bodyPr>
          <a:lstStyle/>
          <a:p>
            <a:pPr marL="421005" indent="-408305">
              <a:lnSpc>
                <a:spcPct val="100000"/>
              </a:lnSpc>
              <a:spcBef>
                <a:spcPts val="760"/>
              </a:spcBef>
              <a:buChar char="•"/>
              <a:tabLst>
                <a:tab pos="421005" algn="l"/>
              </a:tabLst>
            </a:pPr>
            <a:r>
              <a:rPr sz="2800" dirty="0">
                <a:latin typeface="Times New Roman"/>
                <a:cs typeface="Times New Roman"/>
              </a:rPr>
              <a:t>Title</a:t>
            </a:r>
            <a:r>
              <a:rPr sz="2800" spc="-25" dirty="0">
                <a:latin typeface="Times New Roman"/>
                <a:cs typeface="Times New Roman"/>
              </a:rPr>
              <a:t> </a:t>
            </a:r>
            <a:r>
              <a:rPr sz="2800" spc="-10" dirty="0">
                <a:latin typeface="Times New Roman"/>
                <a:cs typeface="Times New Roman"/>
              </a:rPr>
              <a:t>Justification</a:t>
            </a:r>
            <a:endParaRPr sz="2800" dirty="0">
              <a:latin typeface="Times New Roman"/>
              <a:cs typeface="Times New Roman"/>
            </a:endParaRPr>
          </a:p>
          <a:p>
            <a:pPr marL="421005" indent="-408305">
              <a:lnSpc>
                <a:spcPct val="100000"/>
              </a:lnSpc>
              <a:spcBef>
                <a:spcPts val="665"/>
              </a:spcBef>
              <a:buChar char="•"/>
              <a:tabLst>
                <a:tab pos="421005" algn="l"/>
              </a:tabLst>
            </a:pPr>
            <a:r>
              <a:rPr sz="2800" spc="-10" dirty="0">
                <a:latin typeface="Times New Roman"/>
                <a:cs typeface="Times New Roman"/>
              </a:rPr>
              <a:t>Abstract</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Problem</a:t>
            </a:r>
            <a:r>
              <a:rPr sz="2800" spc="-35" dirty="0">
                <a:latin typeface="Times New Roman"/>
                <a:cs typeface="Times New Roman"/>
              </a:rPr>
              <a:t> </a:t>
            </a:r>
            <a:r>
              <a:rPr sz="2800" spc="-10" dirty="0">
                <a:latin typeface="Times New Roman"/>
                <a:cs typeface="Times New Roman"/>
              </a:rPr>
              <a:t>statement</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Objectives</a:t>
            </a:r>
            <a:r>
              <a:rPr sz="2800" spc="-40" dirty="0">
                <a:latin typeface="Times New Roman"/>
                <a:cs typeface="Times New Roman"/>
              </a:rPr>
              <a:t> </a:t>
            </a:r>
            <a:r>
              <a:rPr sz="2800" dirty="0">
                <a:latin typeface="Times New Roman"/>
                <a:cs typeface="Times New Roman"/>
              </a:rPr>
              <a:t>of</a:t>
            </a:r>
            <a:r>
              <a:rPr sz="2800" spc="-35" dirty="0">
                <a:latin typeface="Times New Roman"/>
                <a:cs typeface="Times New Roman"/>
              </a:rPr>
              <a:t> </a:t>
            </a:r>
            <a:r>
              <a:rPr sz="2800" spc="-10" dirty="0">
                <a:latin typeface="Times New Roman"/>
                <a:cs typeface="Times New Roman"/>
              </a:rPr>
              <a:t>Project</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Literature</a:t>
            </a:r>
            <a:r>
              <a:rPr sz="2800" spc="-35" dirty="0">
                <a:latin typeface="Times New Roman"/>
                <a:cs typeface="Times New Roman"/>
              </a:rPr>
              <a:t> </a:t>
            </a:r>
            <a:r>
              <a:rPr sz="2800" dirty="0">
                <a:latin typeface="Times New Roman"/>
                <a:cs typeface="Times New Roman"/>
              </a:rPr>
              <a:t>survey</a:t>
            </a:r>
            <a:r>
              <a:rPr sz="2800" spc="-25" dirty="0">
                <a:latin typeface="Times New Roman"/>
                <a:cs typeface="Times New Roman"/>
              </a:rPr>
              <a:t> </a:t>
            </a:r>
            <a:r>
              <a:rPr sz="2800" dirty="0">
                <a:latin typeface="Times New Roman"/>
                <a:cs typeface="Times New Roman"/>
              </a:rPr>
              <a:t>for</a:t>
            </a:r>
            <a:r>
              <a:rPr sz="2800" spc="-25" dirty="0">
                <a:latin typeface="Times New Roman"/>
                <a:cs typeface="Times New Roman"/>
              </a:rPr>
              <a:t> </a:t>
            </a:r>
            <a:r>
              <a:rPr sz="2800" spc="-10" dirty="0">
                <a:latin typeface="Times New Roman"/>
                <a:cs typeface="Times New Roman"/>
              </a:rPr>
              <a:t>objectives</a:t>
            </a:r>
            <a:endParaRPr sz="2800" dirty="0">
              <a:latin typeface="Times New Roman"/>
              <a:cs typeface="Times New Roman"/>
            </a:endParaRPr>
          </a:p>
          <a:p>
            <a:pPr marL="421005" indent="-408305">
              <a:lnSpc>
                <a:spcPct val="100000"/>
              </a:lnSpc>
              <a:spcBef>
                <a:spcPts val="660"/>
              </a:spcBef>
              <a:buChar char="•"/>
              <a:tabLst>
                <a:tab pos="421005" algn="l"/>
              </a:tabLst>
            </a:pPr>
            <a:r>
              <a:rPr sz="2800" dirty="0">
                <a:latin typeface="Times New Roman"/>
                <a:cs typeface="Times New Roman"/>
              </a:rPr>
              <a:t>Proposed</a:t>
            </a:r>
            <a:r>
              <a:rPr sz="2800" spc="-25" dirty="0">
                <a:latin typeface="Times New Roman"/>
                <a:cs typeface="Times New Roman"/>
              </a:rPr>
              <a:t> </a:t>
            </a:r>
            <a:r>
              <a:rPr sz="2800" dirty="0">
                <a:latin typeface="Times New Roman"/>
                <a:cs typeface="Times New Roman"/>
              </a:rPr>
              <a:t>Work</a:t>
            </a:r>
            <a:r>
              <a:rPr sz="2800" spc="-20" dirty="0">
                <a:latin typeface="Times New Roman"/>
                <a:cs typeface="Times New Roman"/>
              </a:rPr>
              <a:t> </a:t>
            </a:r>
            <a:r>
              <a:rPr sz="2800" spc="-10" dirty="0">
                <a:latin typeface="Times New Roman"/>
                <a:cs typeface="Times New Roman"/>
              </a:rPr>
              <a:t>-</a:t>
            </a:r>
            <a:r>
              <a:rPr lang="en-IN" sz="2800" spc="-10" dirty="0">
                <a:latin typeface="Times New Roman"/>
                <a:cs typeface="Times New Roman"/>
              </a:rPr>
              <a:t> </a:t>
            </a:r>
            <a:r>
              <a:rPr sz="2800" dirty="0">
                <a:latin typeface="Times New Roman"/>
                <a:cs typeface="Times New Roman"/>
              </a:rPr>
              <a:t>(Methods</a:t>
            </a:r>
            <a:r>
              <a:rPr sz="2800" spc="-25" dirty="0">
                <a:latin typeface="Times New Roman"/>
                <a:cs typeface="Times New Roman"/>
              </a:rPr>
              <a:t> </a:t>
            </a:r>
            <a:r>
              <a:rPr sz="2800" dirty="0">
                <a:latin typeface="Times New Roman"/>
                <a:cs typeface="Times New Roman"/>
              </a:rPr>
              <a:t>to</a:t>
            </a:r>
            <a:r>
              <a:rPr sz="2800" spc="-25" dirty="0">
                <a:latin typeface="Times New Roman"/>
                <a:cs typeface="Times New Roman"/>
              </a:rPr>
              <a:t> </a:t>
            </a:r>
            <a:r>
              <a:rPr sz="2800" dirty="0">
                <a:latin typeface="Times New Roman"/>
                <a:cs typeface="Times New Roman"/>
              </a:rPr>
              <a:t>be</a:t>
            </a:r>
            <a:r>
              <a:rPr sz="2800" spc="-25" dirty="0">
                <a:latin typeface="Times New Roman"/>
                <a:cs typeface="Times New Roman"/>
              </a:rPr>
              <a:t> </a:t>
            </a:r>
            <a:r>
              <a:rPr sz="2800" dirty="0">
                <a:latin typeface="Times New Roman"/>
                <a:cs typeface="Times New Roman"/>
              </a:rPr>
              <a:t>followed</a:t>
            </a:r>
            <a:r>
              <a:rPr sz="2800" spc="-20" dirty="0">
                <a:latin typeface="Times New Roman"/>
                <a:cs typeface="Times New Roman"/>
              </a:rPr>
              <a:t> </a:t>
            </a:r>
            <a:r>
              <a:rPr sz="2800" dirty="0">
                <a:latin typeface="Times New Roman"/>
                <a:cs typeface="Times New Roman"/>
              </a:rPr>
              <a:t>for</a:t>
            </a:r>
            <a:r>
              <a:rPr sz="2800" spc="-25" dirty="0">
                <a:latin typeface="Times New Roman"/>
                <a:cs typeface="Times New Roman"/>
              </a:rPr>
              <a:t> </a:t>
            </a:r>
            <a:r>
              <a:rPr sz="2800" dirty="0">
                <a:latin typeface="Times New Roman"/>
                <a:cs typeface="Times New Roman"/>
              </a:rPr>
              <a:t>proposed</a:t>
            </a:r>
            <a:r>
              <a:rPr sz="2800" spc="-20" dirty="0">
                <a:latin typeface="Times New Roman"/>
                <a:cs typeface="Times New Roman"/>
              </a:rPr>
              <a:t> </a:t>
            </a:r>
            <a:r>
              <a:rPr sz="2800" spc="-10" dirty="0">
                <a:latin typeface="Times New Roman"/>
                <a:cs typeface="Times New Roman"/>
              </a:rPr>
              <a:t>system)</a:t>
            </a:r>
            <a:endParaRPr sz="2800" dirty="0">
              <a:latin typeface="Times New Roman"/>
              <a:cs typeface="Times New Roman"/>
            </a:endParaRPr>
          </a:p>
          <a:p>
            <a:pPr marL="421005" indent="-408305">
              <a:lnSpc>
                <a:spcPct val="100000"/>
              </a:lnSpc>
              <a:spcBef>
                <a:spcPts val="665"/>
              </a:spcBef>
              <a:buChar char="•"/>
              <a:tabLst>
                <a:tab pos="421005" algn="l"/>
              </a:tabLst>
            </a:pPr>
            <a:r>
              <a:rPr sz="2800" spc="-10" dirty="0">
                <a:latin typeface="Times New Roman"/>
                <a:cs typeface="Times New Roman"/>
              </a:rPr>
              <a:t>References</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GitHub </a:t>
            </a:r>
            <a:r>
              <a:rPr sz="2800" spc="-20" dirty="0">
                <a:latin typeface="Times New Roman"/>
                <a:cs typeface="Times New Roman"/>
              </a:rPr>
              <a:t>Link</a:t>
            </a:r>
            <a:endParaRPr sz="2800" dirty="0">
              <a:latin typeface="Times New Roman"/>
              <a:cs typeface="Times New Roman"/>
            </a:endParaRPr>
          </a:p>
          <a:p>
            <a:pPr marL="421005" indent="-408305">
              <a:lnSpc>
                <a:spcPct val="100000"/>
              </a:lnSpc>
              <a:spcBef>
                <a:spcPts val="665"/>
              </a:spcBef>
              <a:buChar char="•"/>
              <a:tabLst>
                <a:tab pos="421005" algn="l"/>
              </a:tabLst>
            </a:pPr>
            <a:r>
              <a:rPr sz="2800" spc="-10" dirty="0">
                <a:latin typeface="Times New Roman"/>
                <a:cs typeface="Times New Roman"/>
              </a:rPr>
              <a:t>Queries</a:t>
            </a:r>
            <a:endParaRPr sz="28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grpSp>
        <p:nvGrpSpPr>
          <p:cNvPr id="4" name="object 4"/>
          <p:cNvGrpSpPr/>
          <p:nvPr/>
        </p:nvGrpSpPr>
        <p:grpSpPr>
          <a:xfrm>
            <a:off x="0" y="212399"/>
            <a:ext cx="12192000" cy="803275"/>
            <a:chOff x="0" y="212399"/>
            <a:chExt cx="12192000" cy="803275"/>
          </a:xfrm>
        </p:grpSpPr>
        <p:pic>
          <p:nvPicPr>
            <p:cNvPr id="5" name="object 5"/>
            <p:cNvPicPr/>
            <p:nvPr/>
          </p:nvPicPr>
          <p:blipFill>
            <a:blip r:embed="rId2" cstate="print"/>
            <a:stretch>
              <a:fillRect/>
            </a:stretch>
          </p:blipFill>
          <p:spPr>
            <a:xfrm>
              <a:off x="0" y="212399"/>
              <a:ext cx="12192000" cy="803160"/>
            </a:xfrm>
            <a:prstGeom prst="rect">
              <a:avLst/>
            </a:prstGeom>
          </p:spPr>
        </p:pic>
        <p:sp>
          <p:nvSpPr>
            <p:cNvPr id="6" name="object 6"/>
            <p:cNvSpPr/>
            <p:nvPr/>
          </p:nvSpPr>
          <p:spPr>
            <a:xfrm>
              <a:off x="239" y="228599"/>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7" name="object 7"/>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Title</a:t>
            </a:r>
            <a:r>
              <a:rPr spc="-110" dirty="0"/>
              <a:t> </a:t>
            </a:r>
            <a:r>
              <a:rPr spc="-10" dirty="0"/>
              <a:t>Justification</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06</a:t>
            </a:r>
            <a:endParaRPr spc="-25" dirty="0"/>
          </a:p>
        </p:txBody>
      </p:sp>
      <p:sp>
        <p:nvSpPr>
          <p:cNvPr id="9" name="object 9"/>
          <p:cNvSpPr txBox="1">
            <a:spLocks noGrp="1"/>
          </p:cNvSpPr>
          <p:nvPr>
            <p:ph type="dt" sz="half" idx="6"/>
          </p:nvPr>
        </p:nvSpPr>
        <p:spPr>
          <a:xfrm>
            <a:off x="1773948" y="6629559"/>
            <a:ext cx="40172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9197"/>
            <a:ext cx="42062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3</a:t>
            </a:fld>
            <a:endParaRPr spc="-25" dirty="0"/>
          </a:p>
        </p:txBody>
      </p:sp>
      <p:sp>
        <p:nvSpPr>
          <p:cNvPr id="12" name="object 2">
            <a:extLst>
              <a:ext uri="{FF2B5EF4-FFF2-40B4-BE49-F238E27FC236}">
                <a16:creationId xmlns:a16="http://schemas.microsoft.com/office/drawing/2014/main" id="{9D73C84D-790A-49A3-E600-A9B7BAEEEF88}"/>
              </a:ext>
            </a:extLst>
          </p:cNvPr>
          <p:cNvSpPr txBox="1"/>
          <p:nvPr/>
        </p:nvSpPr>
        <p:spPr>
          <a:xfrm>
            <a:off x="2628899" y="-38247"/>
            <a:ext cx="63246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AI-Based Personal Finance Manager with Smart Expense Prediction System</a:t>
            </a:r>
            <a:endParaRPr sz="1500" dirty="0">
              <a:latin typeface="Times New Roman"/>
              <a:cs typeface="Times New Roman"/>
            </a:endParaRPr>
          </a:p>
        </p:txBody>
      </p:sp>
      <p:sp>
        <p:nvSpPr>
          <p:cNvPr id="3" name="object 7">
            <a:extLst>
              <a:ext uri="{FF2B5EF4-FFF2-40B4-BE49-F238E27FC236}">
                <a16:creationId xmlns:a16="http://schemas.microsoft.com/office/drawing/2014/main" id="{F41C48BF-76C7-A755-0DE3-243F6975E2DC}"/>
              </a:ext>
            </a:extLst>
          </p:cNvPr>
          <p:cNvSpPr txBox="1"/>
          <p:nvPr/>
        </p:nvSpPr>
        <p:spPr>
          <a:xfrm>
            <a:off x="325786" y="989990"/>
            <a:ext cx="9732614" cy="5955476"/>
          </a:xfrm>
          <a:prstGeom prst="rect">
            <a:avLst/>
          </a:prstGeom>
        </p:spPr>
        <p:txBody>
          <a:bodyPr vert="horz" wrap="square" lIns="0" tIns="96520" rIns="0" bIns="0" rtlCol="0">
            <a:spAutoFit/>
          </a:bodyPr>
          <a:lstStyle/>
          <a:p>
            <a:r>
              <a:rPr lang="en-US" sz="2200" dirty="0">
                <a:latin typeface="Times New Roman" panose="02020603050405020304" pitchFamily="18" charset="0"/>
                <a:cs typeface="Times New Roman" panose="02020603050405020304" pitchFamily="18" charset="0"/>
              </a:rPr>
              <a:t>The title </a:t>
            </a:r>
            <a:r>
              <a:rPr lang="en-US" sz="2200" b="1" dirty="0">
                <a:latin typeface="Times New Roman" panose="02020603050405020304" pitchFamily="18" charset="0"/>
                <a:cs typeface="Times New Roman" panose="02020603050405020304" pitchFamily="18" charset="0"/>
              </a:rPr>
              <a:t>“AI-Based Personal Finance Manager with Smart Expense Prediction System”</a:t>
            </a:r>
            <a:r>
              <a:rPr lang="en-US" sz="2200" dirty="0">
                <a:latin typeface="Times New Roman" panose="02020603050405020304" pitchFamily="18" charset="0"/>
                <a:cs typeface="Times New Roman" panose="02020603050405020304" pitchFamily="18" charset="0"/>
              </a:rPr>
              <a:t> clearly describes the purpose, functionality, and uniqueness of the project.</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term </a:t>
            </a:r>
            <a:r>
              <a:rPr lang="en-US" sz="2200" b="1" dirty="0">
                <a:latin typeface="Times New Roman" panose="02020603050405020304" pitchFamily="18" charset="0"/>
                <a:cs typeface="Times New Roman" panose="02020603050405020304" pitchFamily="18" charset="0"/>
              </a:rPr>
              <a:t>“Personal Finance Manager”</a:t>
            </a:r>
            <a:r>
              <a:rPr lang="en-US" sz="2200" dirty="0">
                <a:latin typeface="Times New Roman" panose="02020603050405020304" pitchFamily="18" charset="0"/>
                <a:cs typeface="Times New Roman" panose="02020603050405020304" pitchFamily="18" charset="0"/>
              </a:rPr>
              <a:t> indicates that the system is designed to help users manage their financial activities such as income tracking, expense monitoring, budgeting, and savings in an organized manner. </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phrase </a:t>
            </a:r>
            <a:r>
              <a:rPr lang="en-US" sz="2200" b="1" dirty="0">
                <a:latin typeface="Times New Roman" panose="02020603050405020304" pitchFamily="18" charset="0"/>
                <a:cs typeface="Times New Roman" panose="02020603050405020304" pitchFamily="18" charset="0"/>
              </a:rPr>
              <a:t>“AI-Based”</a:t>
            </a:r>
            <a:r>
              <a:rPr lang="en-US" sz="2200" dirty="0">
                <a:latin typeface="Times New Roman" panose="02020603050405020304" pitchFamily="18" charset="0"/>
                <a:cs typeface="Times New Roman" panose="02020603050405020304" pitchFamily="18" charset="0"/>
              </a:rPr>
              <a:t> highlights the integration of Artificial Intelligence in the system. It emphasizes that the application goes beyond traditional finance management by incorporating machine learning techniques to provide intelligent insights. </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component </a:t>
            </a:r>
            <a:r>
              <a:rPr lang="en-US" sz="2200" b="1" dirty="0">
                <a:latin typeface="Times New Roman" panose="02020603050405020304" pitchFamily="18" charset="0"/>
                <a:cs typeface="Times New Roman" panose="02020603050405020304" pitchFamily="18" charset="0"/>
              </a:rPr>
              <a:t>“Smart Expense Prediction System”</a:t>
            </a:r>
            <a:r>
              <a:rPr lang="en-US" sz="2200" dirty="0">
                <a:latin typeface="Times New Roman" panose="02020603050405020304" pitchFamily="18" charset="0"/>
                <a:cs typeface="Times New Roman" panose="02020603050405020304" pitchFamily="18" charset="0"/>
              </a:rPr>
              <a:t> represents the key innovation of the project. It signifies that the system can analyze past financial data and predict future expenses using algorithms like Random Forest, enabling users to make informed financial decisions. </a:t>
            </a:r>
          </a:p>
          <a:p>
            <a:r>
              <a:rPr lang="en-US" sz="2200" dirty="0">
                <a:latin typeface="Times New Roman" panose="02020603050405020304" pitchFamily="18" charset="0"/>
                <a:cs typeface="Times New Roman" panose="02020603050405020304" pitchFamily="18" charset="0"/>
              </a:rPr>
              <a:t>Therefore, the title effectively reflects that the project is not just a basic finance tracker, but an </a:t>
            </a:r>
            <a:r>
              <a:rPr lang="en-US" sz="2200" b="1" dirty="0">
                <a:latin typeface="Times New Roman" panose="02020603050405020304" pitchFamily="18" charset="0"/>
                <a:cs typeface="Times New Roman" panose="02020603050405020304" pitchFamily="18" charset="0"/>
              </a:rPr>
              <a:t>intelligent, data-driven system</a:t>
            </a:r>
            <a:r>
              <a:rPr lang="en-US" sz="2200" dirty="0">
                <a:latin typeface="Times New Roman" panose="02020603050405020304" pitchFamily="18" charset="0"/>
                <a:cs typeface="Times New Roman" panose="02020603050405020304" pitchFamily="18" charset="0"/>
              </a:rPr>
              <a:t> that enhances financial planning through prediction and automation.</a:t>
            </a:r>
          </a:p>
          <a:p>
            <a:pPr marL="12700">
              <a:spcBef>
                <a:spcPts val="760"/>
              </a:spcBef>
              <a:tabLst>
                <a:tab pos="421005" algn="l"/>
              </a:tabLst>
            </a:pPr>
            <a:endParaRPr lang="en-US"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9031" y="245459"/>
            <a:ext cx="2070100" cy="689932"/>
          </a:xfrm>
          <a:prstGeom prst="rect">
            <a:avLst/>
          </a:prstGeom>
        </p:spPr>
        <p:txBody>
          <a:bodyPr vert="horz" wrap="square" lIns="0" tIns="12700" rIns="0" bIns="0" rtlCol="0">
            <a:spAutoFit/>
          </a:bodyPr>
          <a:lstStyle/>
          <a:p>
            <a:pPr marL="12700">
              <a:lnSpc>
                <a:spcPct val="100000"/>
              </a:lnSpc>
              <a:spcBef>
                <a:spcPts val="100"/>
              </a:spcBef>
            </a:pPr>
            <a:r>
              <a:rPr spc="-10" dirty="0"/>
              <a:t>Abstract</a:t>
            </a:r>
            <a:endParaRPr dirty="0"/>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06</a:t>
            </a:r>
            <a:endParaRPr spc="-25" dirty="0"/>
          </a:p>
        </p:txBody>
      </p:sp>
      <p:sp>
        <p:nvSpPr>
          <p:cNvPr id="9" name="object 9"/>
          <p:cNvSpPr txBox="1">
            <a:spLocks noGrp="1"/>
          </p:cNvSpPr>
          <p:nvPr>
            <p:ph type="dt" sz="half" idx="6"/>
          </p:nvPr>
        </p:nvSpPr>
        <p:spPr>
          <a:xfrm>
            <a:off x="1773949" y="6629559"/>
            <a:ext cx="3891278"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9197"/>
            <a:ext cx="40538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4</a:t>
            </a:fld>
            <a:endParaRPr spc="-25" dirty="0"/>
          </a:p>
        </p:txBody>
      </p:sp>
      <p:sp>
        <p:nvSpPr>
          <p:cNvPr id="7" name="object 2">
            <a:extLst>
              <a:ext uri="{FF2B5EF4-FFF2-40B4-BE49-F238E27FC236}">
                <a16:creationId xmlns:a16="http://schemas.microsoft.com/office/drawing/2014/main" id="{85B157D4-B5AD-AEDD-C57B-B9212F9250C1}"/>
              </a:ext>
            </a:extLst>
          </p:cNvPr>
          <p:cNvSpPr txBox="1"/>
          <p:nvPr/>
        </p:nvSpPr>
        <p:spPr>
          <a:xfrm>
            <a:off x="2628899" y="-38247"/>
            <a:ext cx="63246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AI-Based Personal Finance Manager with Smart Expense Prediction System</a:t>
            </a:r>
            <a:endParaRPr sz="1500" dirty="0">
              <a:latin typeface="Times New Roman"/>
              <a:cs typeface="Times New Roman"/>
            </a:endParaRPr>
          </a:p>
        </p:txBody>
      </p:sp>
      <p:sp>
        <p:nvSpPr>
          <p:cNvPr id="2" name="TextBox 6">
            <a:extLst>
              <a:ext uri="{FF2B5EF4-FFF2-40B4-BE49-F238E27FC236}">
                <a16:creationId xmlns:a16="http://schemas.microsoft.com/office/drawing/2014/main" id="{0084E666-DD83-182A-0080-060DC71E4205}"/>
              </a:ext>
            </a:extLst>
          </p:cNvPr>
          <p:cNvSpPr txBox="1"/>
          <p:nvPr/>
        </p:nvSpPr>
        <p:spPr>
          <a:xfrm>
            <a:off x="292611" y="1417258"/>
            <a:ext cx="11606777" cy="428322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just">
              <a:spcBef>
                <a:spcPts val="1000"/>
              </a:spcBef>
              <a:buClr>
                <a:prstClr val="black"/>
              </a:buClr>
              <a:buSzPts val="2800"/>
              <a:buFont typeface="Arial" panose="020B0604020202020204" pitchFamily="34" charset="0"/>
              <a:buChar char="•"/>
              <a:defRPr/>
            </a:pPr>
            <a:r>
              <a:rPr lang="en-US" sz="2400" kern="0" dirty="0">
                <a:solidFill>
                  <a:prstClr val="black"/>
                </a:solidFill>
                <a:latin typeface="Times New Roman" panose="02020603050405020304" pitchFamily="18" charset="0"/>
                <a:cs typeface="Times New Roman" panose="02020603050405020304" pitchFamily="18" charset="0"/>
                <a:sym typeface="Times New Roman" panose="02020603050405020304"/>
              </a:rPr>
              <a:t>The AI-Based Personal Finance Manager with Smart Expense Prediction System is designed to help users manage their personal finances more effectively. Traditional expense tracking methods mainly record past transactions and provide limited support for financial planning. To overcome this limitation, the proposed system provides a web-based platform where users can track daily expenses, manage budgets, and monitor savings goals.</a:t>
            </a:r>
          </a:p>
          <a:p>
            <a:pPr marL="342900" indent="-342900" algn="just">
              <a:spcBef>
                <a:spcPts val="1000"/>
              </a:spcBef>
              <a:buClr>
                <a:prstClr val="black"/>
              </a:buClr>
              <a:buSzPts val="2800"/>
              <a:buFont typeface="Arial" panose="020B0604020202020204" pitchFamily="34" charset="0"/>
              <a:buChar char="•"/>
              <a:defRPr/>
            </a:pPr>
            <a:r>
              <a:rPr lang="en-US" sz="2400" kern="0" dirty="0">
                <a:solidFill>
                  <a:prstClr val="black"/>
                </a:solidFill>
                <a:latin typeface="Times New Roman" panose="02020603050405020304" pitchFamily="18" charset="0"/>
                <a:cs typeface="Times New Roman" panose="02020603050405020304" pitchFamily="18" charset="0"/>
                <a:sym typeface="Times New Roman" panose="02020603050405020304"/>
              </a:rPr>
              <a:t>The system analyzes historical spending data and predicts future expenses using the </a:t>
            </a:r>
            <a:r>
              <a:rPr lang="en-US" sz="2400" kern="0" dirty="0" err="1">
                <a:solidFill>
                  <a:prstClr val="black"/>
                </a:solidFill>
                <a:latin typeface="Times New Roman" panose="02020603050405020304" pitchFamily="18" charset="0"/>
                <a:cs typeface="Times New Roman" panose="02020603050405020304" pitchFamily="18" charset="0"/>
                <a:sym typeface="Times New Roman" panose="02020603050405020304"/>
              </a:rPr>
              <a:t>XGBoost</a:t>
            </a:r>
            <a:r>
              <a:rPr lang="en-US" sz="2400" kern="0" dirty="0">
                <a:solidFill>
                  <a:prstClr val="black"/>
                </a:solidFill>
                <a:latin typeface="Times New Roman" panose="02020603050405020304" pitchFamily="18" charset="0"/>
                <a:cs typeface="Times New Roman" panose="02020603050405020304" pitchFamily="18" charset="0"/>
                <a:sym typeface="Times New Roman" panose="02020603050405020304"/>
              </a:rPr>
              <a:t> Regression algorithm. It also provides expense analysis, spending insights, and budget alerts to help users understand their financial behavior and avoid overspending. The proposed system improves financial planning, supports better budgeting decisions, and promotes smarter money management through intelligent expense prediction.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Problem</a:t>
            </a:r>
            <a:r>
              <a:rPr spc="-185" dirty="0"/>
              <a:t> </a:t>
            </a:r>
            <a:r>
              <a:rPr spc="-10" dirty="0"/>
              <a:t>Statement</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06</a:t>
            </a:r>
            <a:endParaRPr spc="-25" dirty="0"/>
          </a:p>
        </p:txBody>
      </p:sp>
      <p:sp>
        <p:nvSpPr>
          <p:cNvPr id="9" name="object 9"/>
          <p:cNvSpPr txBox="1">
            <a:spLocks noGrp="1"/>
          </p:cNvSpPr>
          <p:nvPr>
            <p:ph type="dt" sz="half" idx="6"/>
          </p:nvPr>
        </p:nvSpPr>
        <p:spPr>
          <a:xfrm>
            <a:off x="1773948" y="6629559"/>
            <a:ext cx="3891279"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9197"/>
            <a:ext cx="41300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5</a:t>
            </a:fld>
            <a:endParaRPr spc="-25" dirty="0"/>
          </a:p>
        </p:txBody>
      </p:sp>
      <p:sp>
        <p:nvSpPr>
          <p:cNvPr id="12" name="TextBox 11">
            <a:extLst>
              <a:ext uri="{FF2B5EF4-FFF2-40B4-BE49-F238E27FC236}">
                <a16:creationId xmlns:a16="http://schemas.microsoft.com/office/drawing/2014/main" id="{F64B098F-2EEB-E3B6-D749-B5552382089A}"/>
              </a:ext>
            </a:extLst>
          </p:cNvPr>
          <p:cNvSpPr txBox="1"/>
          <p:nvPr/>
        </p:nvSpPr>
        <p:spPr>
          <a:xfrm>
            <a:off x="784031" y="1524000"/>
            <a:ext cx="10798369" cy="4457952"/>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Traditional personal finance management methods mainly focus on recording past expenses and require users to manually track their financial activities. Existing expense tracking systems provide limited support for analyzing spending behavior and do not offer intelligent prediction of future expenses. Without proactive financial insights and automated budget monitoring, users often experience overspending, poor savings management, and difficulty in long-term financial planning. In addition, the absence of smart alerts and spending analysis makes it challenging for users to identify unusual financial patterns and maintain effective control over their personal finances.</a:t>
            </a:r>
          </a:p>
        </p:txBody>
      </p:sp>
      <p:sp>
        <p:nvSpPr>
          <p:cNvPr id="7" name="object 2">
            <a:extLst>
              <a:ext uri="{FF2B5EF4-FFF2-40B4-BE49-F238E27FC236}">
                <a16:creationId xmlns:a16="http://schemas.microsoft.com/office/drawing/2014/main" id="{A56B9614-B502-B532-A454-AD5004FB3034}"/>
              </a:ext>
            </a:extLst>
          </p:cNvPr>
          <p:cNvSpPr txBox="1"/>
          <p:nvPr/>
        </p:nvSpPr>
        <p:spPr>
          <a:xfrm>
            <a:off x="2628899" y="-38247"/>
            <a:ext cx="63246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AI-Based Personal Finance Manager with Smart Expense Prediction System</a:t>
            </a:r>
            <a:endParaRPr sz="1500" dirty="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tabLst>
                <a:tab pos="3145790" algn="l"/>
              </a:tabLst>
            </a:pPr>
            <a:r>
              <a:rPr dirty="0"/>
              <a:t>Objectives</a:t>
            </a:r>
            <a:r>
              <a:rPr spc="-60" dirty="0"/>
              <a:t> </a:t>
            </a:r>
            <a:r>
              <a:rPr spc="-25" dirty="0"/>
              <a:t>of</a:t>
            </a:r>
            <a:r>
              <a:rPr dirty="0"/>
              <a:t>	</a:t>
            </a:r>
            <a:r>
              <a:rPr spc="-10" dirty="0"/>
              <a:t>Project</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06</a:t>
            </a:r>
            <a:endParaRPr spc="-25" dirty="0"/>
          </a:p>
        </p:txBody>
      </p:sp>
      <p:sp>
        <p:nvSpPr>
          <p:cNvPr id="9" name="object 9"/>
          <p:cNvSpPr txBox="1">
            <a:spLocks noGrp="1"/>
          </p:cNvSpPr>
          <p:nvPr>
            <p:ph type="dt" sz="half" idx="6"/>
          </p:nvPr>
        </p:nvSpPr>
        <p:spPr>
          <a:xfrm>
            <a:off x="1773949" y="6629559"/>
            <a:ext cx="3891278"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9197"/>
            <a:ext cx="42824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6</a:t>
            </a:fld>
            <a:endParaRPr spc="-25" dirty="0"/>
          </a:p>
        </p:txBody>
      </p:sp>
      <p:sp>
        <p:nvSpPr>
          <p:cNvPr id="12" name="TextBox 11">
            <a:extLst>
              <a:ext uri="{FF2B5EF4-FFF2-40B4-BE49-F238E27FC236}">
                <a16:creationId xmlns:a16="http://schemas.microsoft.com/office/drawing/2014/main" id="{0E910147-AAFE-44E0-90DF-57091E7D7810}"/>
              </a:ext>
            </a:extLst>
          </p:cNvPr>
          <p:cNvSpPr txBox="1"/>
          <p:nvPr/>
        </p:nvSpPr>
        <p:spPr>
          <a:xfrm>
            <a:off x="784031" y="1524000"/>
            <a:ext cx="10798369" cy="4094198"/>
          </a:xfrm>
          <a:prstGeom prst="rect">
            <a:avLst/>
          </a:prstGeom>
          <a:noFill/>
        </p:spPr>
        <p:txBody>
          <a:bodyPr wrap="square">
            <a:spAutoFit/>
          </a:bodyPr>
          <a:lstStyle/>
          <a:p>
            <a:pPr algn="just">
              <a:lnSpc>
                <a:spcPct val="150000"/>
              </a:lnSpc>
            </a:pPr>
            <a:r>
              <a:rPr lang="en-US" sz="2200" b="1" dirty="0">
                <a:latin typeface="Times New Roman" panose="02020603050405020304" pitchFamily="18" charset="0"/>
                <a:cs typeface="Times New Roman" panose="02020603050405020304" pitchFamily="18" charset="0"/>
              </a:rPr>
              <a:t>OBJECTIVE 1</a:t>
            </a:r>
            <a:endParaRPr lang="en-US" sz="2200"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To develop an AI-Based Personal Finance Manager that enables users to record, organize, and manage daily expenses, monitor category-wise budgets, and track savings goals through a centralized web-based platform for efficient financial management.</a:t>
            </a:r>
          </a:p>
          <a:p>
            <a:pPr algn="just">
              <a:lnSpc>
                <a:spcPct val="150000"/>
              </a:lnSpc>
            </a:pPr>
            <a:r>
              <a:rPr lang="en-US" sz="2200" b="1" dirty="0">
                <a:latin typeface="Times New Roman" panose="02020603050405020304" pitchFamily="18" charset="0"/>
                <a:cs typeface="Times New Roman" panose="02020603050405020304" pitchFamily="18" charset="0"/>
              </a:rPr>
              <a:t>OBJECTIVE 2</a:t>
            </a:r>
            <a:endParaRPr lang="en-US" sz="2200"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To design and implement machine learning models that analyze historical spending patterns, predict future expenses, generate budget alerts, and support users in improving financial planning and spending control.</a:t>
            </a:r>
          </a:p>
        </p:txBody>
      </p:sp>
      <p:sp>
        <p:nvSpPr>
          <p:cNvPr id="7" name="object 2">
            <a:extLst>
              <a:ext uri="{FF2B5EF4-FFF2-40B4-BE49-F238E27FC236}">
                <a16:creationId xmlns:a16="http://schemas.microsoft.com/office/drawing/2014/main" id="{74ACF158-DE06-EDE9-EEAE-2A4D2D0E1769}"/>
              </a:ext>
            </a:extLst>
          </p:cNvPr>
          <p:cNvSpPr txBox="1"/>
          <p:nvPr/>
        </p:nvSpPr>
        <p:spPr>
          <a:xfrm>
            <a:off x="2628899" y="-38247"/>
            <a:ext cx="63246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AI-Based Personal Finance Manager with Smart Expense Prediction System</a:t>
            </a:r>
            <a:endParaRPr sz="1500" dirty="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p:nvPr/>
        </p:nvSpPr>
        <p:spPr>
          <a:xfrm>
            <a:off x="136599" y="221612"/>
            <a:ext cx="7165975" cy="1577355"/>
          </a:xfrm>
          <a:prstGeom prst="rect">
            <a:avLst/>
          </a:prstGeom>
        </p:spPr>
        <p:txBody>
          <a:bodyPr vert="horz" wrap="square" lIns="0" tIns="12700" rIns="0" bIns="0" rtlCol="0">
            <a:spAutoFit/>
          </a:bodyPr>
          <a:lstStyle/>
          <a:p>
            <a:pPr marL="12700">
              <a:lnSpc>
                <a:spcPct val="100000"/>
              </a:lnSpc>
              <a:spcBef>
                <a:spcPts val="100"/>
              </a:spcBef>
            </a:pPr>
            <a:r>
              <a:rPr sz="4400" dirty="0">
                <a:solidFill>
                  <a:schemeClr val="bg1"/>
                </a:solidFill>
                <a:latin typeface="Times New Roman"/>
                <a:cs typeface="Times New Roman"/>
              </a:rPr>
              <a:t>Literature</a:t>
            </a:r>
            <a:r>
              <a:rPr sz="4400" spc="-35" dirty="0">
                <a:solidFill>
                  <a:schemeClr val="bg1"/>
                </a:solidFill>
                <a:latin typeface="Times New Roman"/>
                <a:cs typeface="Times New Roman"/>
              </a:rPr>
              <a:t> </a:t>
            </a:r>
            <a:r>
              <a:rPr sz="4400" dirty="0">
                <a:solidFill>
                  <a:schemeClr val="bg1"/>
                </a:solidFill>
                <a:latin typeface="Times New Roman"/>
                <a:cs typeface="Times New Roman"/>
              </a:rPr>
              <a:t>survey</a:t>
            </a:r>
            <a:r>
              <a:rPr sz="4400" spc="-25" dirty="0">
                <a:solidFill>
                  <a:schemeClr val="bg1"/>
                </a:solidFill>
                <a:latin typeface="Times New Roman"/>
                <a:cs typeface="Times New Roman"/>
              </a:rPr>
              <a:t> </a:t>
            </a:r>
            <a:r>
              <a:rPr sz="4400" dirty="0">
                <a:solidFill>
                  <a:schemeClr val="bg1"/>
                </a:solidFill>
                <a:latin typeface="Times New Roman"/>
                <a:cs typeface="Times New Roman"/>
              </a:rPr>
              <a:t>for</a:t>
            </a:r>
            <a:r>
              <a:rPr sz="4400" spc="-25" dirty="0">
                <a:solidFill>
                  <a:schemeClr val="bg1"/>
                </a:solidFill>
                <a:latin typeface="Times New Roman"/>
                <a:cs typeface="Times New Roman"/>
              </a:rPr>
              <a:t> </a:t>
            </a:r>
            <a:r>
              <a:rPr sz="4400" spc="-10" dirty="0">
                <a:solidFill>
                  <a:schemeClr val="bg1"/>
                </a:solidFill>
                <a:latin typeface="Times New Roman"/>
                <a:cs typeface="Times New Roman"/>
              </a:rPr>
              <a:t>objectives</a:t>
            </a:r>
            <a:endParaRPr sz="4400" dirty="0">
              <a:solidFill>
                <a:schemeClr val="bg1"/>
              </a:solidFill>
              <a:latin typeface="Times New Roman"/>
              <a:cs typeface="Times New Roman"/>
            </a:endParaRPr>
          </a:p>
          <a:p>
            <a:pPr>
              <a:lnSpc>
                <a:spcPct val="100000"/>
              </a:lnSpc>
              <a:spcBef>
                <a:spcPts val="225"/>
              </a:spcBef>
            </a:pPr>
            <a:endParaRPr sz="2800" dirty="0">
              <a:latin typeface="Times New Roman"/>
              <a:cs typeface="Times New Roman"/>
            </a:endParaRPr>
          </a:p>
          <a:p>
            <a:pPr marL="176530">
              <a:lnSpc>
                <a:spcPct val="100000"/>
              </a:lnSpc>
            </a:pPr>
            <a:endParaRPr sz="2800" dirty="0">
              <a:latin typeface="Lucida Sans Unicode"/>
              <a:cs typeface="Lucida Sans Unicode"/>
            </a:endParaRPr>
          </a:p>
        </p:txBody>
      </p:sp>
      <p:sp>
        <p:nvSpPr>
          <p:cNvPr id="7" name="object 7"/>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06</a:t>
            </a:r>
            <a:endParaRPr spc="-25" dirty="0"/>
          </a:p>
        </p:txBody>
      </p:sp>
      <p:sp>
        <p:nvSpPr>
          <p:cNvPr id="8" name="object 8"/>
          <p:cNvSpPr txBox="1">
            <a:spLocks noGrp="1"/>
          </p:cNvSpPr>
          <p:nvPr>
            <p:ph type="dt" sz="half" idx="6"/>
          </p:nvPr>
        </p:nvSpPr>
        <p:spPr>
          <a:xfrm>
            <a:off x="1773948" y="6629558"/>
            <a:ext cx="3891279"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9" name="object 9"/>
          <p:cNvSpPr txBox="1"/>
          <p:nvPr/>
        </p:nvSpPr>
        <p:spPr>
          <a:xfrm>
            <a:off x="7147541" y="6629197"/>
            <a:ext cx="40538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7</a:t>
            </a:fld>
            <a:endParaRPr spc="-25" dirty="0"/>
          </a:p>
        </p:txBody>
      </p:sp>
      <p:sp>
        <p:nvSpPr>
          <p:cNvPr id="12" name="object 2">
            <a:extLst>
              <a:ext uri="{FF2B5EF4-FFF2-40B4-BE49-F238E27FC236}">
                <a16:creationId xmlns:a16="http://schemas.microsoft.com/office/drawing/2014/main" id="{1B07E8F8-9C4B-AD4B-1A8F-1B16E532DCFB}"/>
              </a:ext>
            </a:extLst>
          </p:cNvPr>
          <p:cNvSpPr txBox="1"/>
          <p:nvPr/>
        </p:nvSpPr>
        <p:spPr>
          <a:xfrm>
            <a:off x="2628899" y="-38247"/>
            <a:ext cx="63246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AI-Based Personal Finance Manager with Smart Expense Prediction System</a:t>
            </a:r>
            <a:endParaRPr sz="1500" dirty="0">
              <a:latin typeface="Times New Roman"/>
              <a:cs typeface="Times New Roman"/>
            </a:endParaRPr>
          </a:p>
        </p:txBody>
      </p:sp>
      <p:graphicFrame>
        <p:nvGraphicFramePr>
          <p:cNvPr id="2" name="object 7">
            <a:extLst>
              <a:ext uri="{FF2B5EF4-FFF2-40B4-BE49-F238E27FC236}">
                <a16:creationId xmlns:a16="http://schemas.microsoft.com/office/drawing/2014/main" id="{0812742F-F2E6-F11D-DA3D-3A30B8660F92}"/>
              </a:ext>
            </a:extLst>
          </p:cNvPr>
          <p:cNvGraphicFramePr>
            <a:graphicFrameLocks noGrp="1"/>
          </p:cNvGraphicFramePr>
          <p:nvPr>
            <p:extLst>
              <p:ext uri="{D42A27DB-BD31-4B8C-83A1-F6EECF244321}">
                <p14:modId xmlns:p14="http://schemas.microsoft.com/office/powerpoint/2010/main" val="1556155214"/>
              </p:ext>
            </p:extLst>
          </p:nvPr>
        </p:nvGraphicFramePr>
        <p:xfrm>
          <a:off x="397933" y="1031188"/>
          <a:ext cx="11032067" cy="5593646"/>
        </p:xfrm>
        <a:graphic>
          <a:graphicData uri="http://schemas.openxmlformats.org/drawingml/2006/table">
            <a:tbl>
              <a:tblPr firstRow="1" bandRow="1">
                <a:tableStyleId>{2D5ABB26-0587-4C30-8999-92F81FD0307C}</a:tableStyleId>
              </a:tblPr>
              <a:tblGrid>
                <a:gridCol w="488652">
                  <a:extLst>
                    <a:ext uri="{9D8B030D-6E8A-4147-A177-3AD203B41FA5}">
                      <a16:colId xmlns:a16="http://schemas.microsoft.com/office/drawing/2014/main" val="20000"/>
                    </a:ext>
                  </a:extLst>
                </a:gridCol>
                <a:gridCol w="1905919">
                  <a:extLst>
                    <a:ext uri="{9D8B030D-6E8A-4147-A177-3AD203B41FA5}">
                      <a16:colId xmlns:a16="http://schemas.microsoft.com/office/drawing/2014/main" val="20001"/>
                    </a:ext>
                  </a:extLst>
                </a:gridCol>
                <a:gridCol w="1441003">
                  <a:extLst>
                    <a:ext uri="{9D8B030D-6E8A-4147-A177-3AD203B41FA5}">
                      <a16:colId xmlns:a16="http://schemas.microsoft.com/office/drawing/2014/main" val="20002"/>
                    </a:ext>
                  </a:extLst>
                </a:gridCol>
                <a:gridCol w="1460476">
                  <a:extLst>
                    <a:ext uri="{9D8B030D-6E8A-4147-A177-3AD203B41FA5}">
                      <a16:colId xmlns:a16="http://schemas.microsoft.com/office/drawing/2014/main" val="20003"/>
                    </a:ext>
                  </a:extLst>
                </a:gridCol>
                <a:gridCol w="1728524">
                  <a:extLst>
                    <a:ext uri="{9D8B030D-6E8A-4147-A177-3AD203B41FA5}">
                      <a16:colId xmlns:a16="http://schemas.microsoft.com/office/drawing/2014/main" val="20004"/>
                    </a:ext>
                  </a:extLst>
                </a:gridCol>
                <a:gridCol w="2157557">
                  <a:extLst>
                    <a:ext uri="{9D8B030D-6E8A-4147-A177-3AD203B41FA5}">
                      <a16:colId xmlns:a16="http://schemas.microsoft.com/office/drawing/2014/main" val="20005"/>
                    </a:ext>
                  </a:extLst>
                </a:gridCol>
                <a:gridCol w="1849936">
                  <a:extLst>
                    <a:ext uri="{9D8B030D-6E8A-4147-A177-3AD203B41FA5}">
                      <a16:colId xmlns:a16="http://schemas.microsoft.com/office/drawing/2014/main" val="20006"/>
                    </a:ext>
                  </a:extLst>
                </a:gridCol>
              </a:tblGrid>
              <a:tr h="570877">
                <a:tc>
                  <a:txBody>
                    <a:bodyPr/>
                    <a:lstStyle/>
                    <a:p>
                      <a:pPr marL="85090">
                        <a:lnSpc>
                          <a:spcPts val="2150"/>
                        </a:lnSpc>
                      </a:pPr>
                      <a:r>
                        <a:rPr sz="1800" b="1" spc="-25" dirty="0">
                          <a:solidFill>
                            <a:srgbClr val="FFFFFF"/>
                          </a:solidFill>
                          <a:latin typeface="Calibri"/>
                          <a:cs typeface="Calibri"/>
                        </a:rPr>
                        <a:t>No</a:t>
                      </a:r>
                      <a:endParaRPr sz="1800" dirty="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2"/>
                    </a:solidFill>
                  </a:tcPr>
                </a:tc>
                <a:tc>
                  <a:txBody>
                    <a:bodyPr/>
                    <a:lstStyle/>
                    <a:p>
                      <a:pPr marL="85090">
                        <a:lnSpc>
                          <a:spcPts val="2150"/>
                        </a:lnSpc>
                      </a:pPr>
                      <a:r>
                        <a:rPr sz="1800" b="1" spc="-10" dirty="0">
                          <a:solidFill>
                            <a:srgbClr val="FFFFFF"/>
                          </a:solidFill>
                          <a:latin typeface="Calibri"/>
                          <a:cs typeface="Calibri"/>
                        </a:rPr>
                        <a:t>Title</a:t>
                      </a:r>
                      <a:endParaRPr sz="18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2"/>
                    </a:solidFill>
                  </a:tcPr>
                </a:tc>
                <a:tc>
                  <a:txBody>
                    <a:bodyPr/>
                    <a:lstStyle/>
                    <a:p>
                      <a:pPr marL="85090">
                        <a:lnSpc>
                          <a:spcPts val="2150"/>
                        </a:lnSpc>
                      </a:pPr>
                      <a:r>
                        <a:rPr sz="1800" b="1" spc="-10" dirty="0">
                          <a:solidFill>
                            <a:srgbClr val="FFFFFF"/>
                          </a:solidFill>
                          <a:latin typeface="Calibri"/>
                          <a:cs typeface="Calibri"/>
                        </a:rPr>
                        <a:t>Author</a:t>
                      </a:r>
                      <a:endParaRPr sz="18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2"/>
                    </a:solidFill>
                  </a:tcPr>
                </a:tc>
                <a:tc>
                  <a:txBody>
                    <a:bodyPr/>
                    <a:lstStyle/>
                    <a:p>
                      <a:pPr marL="85725" marR="137795">
                        <a:lnSpc>
                          <a:spcPts val="2160"/>
                        </a:lnSpc>
                        <a:spcBef>
                          <a:spcPts val="60"/>
                        </a:spcBef>
                      </a:pPr>
                      <a:r>
                        <a:rPr sz="1800" b="1" spc="-20" dirty="0">
                          <a:solidFill>
                            <a:srgbClr val="FFFFFF"/>
                          </a:solidFill>
                          <a:latin typeface="Calibri"/>
                          <a:cs typeface="Calibri"/>
                        </a:rPr>
                        <a:t>Year</a:t>
                      </a:r>
                      <a:endParaRPr sz="1800" dirty="0">
                        <a:latin typeface="Calibri"/>
                        <a:cs typeface="Calibri"/>
                      </a:endParaRPr>
                    </a:p>
                  </a:txBody>
                  <a:tcPr marL="0" marR="0" marT="762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2"/>
                    </a:solidFill>
                  </a:tcPr>
                </a:tc>
                <a:tc>
                  <a:txBody>
                    <a:bodyPr/>
                    <a:lstStyle/>
                    <a:p>
                      <a:pPr marL="85725" marR="513715">
                        <a:lnSpc>
                          <a:spcPts val="2160"/>
                        </a:lnSpc>
                        <a:spcBef>
                          <a:spcPts val="60"/>
                        </a:spcBef>
                      </a:pPr>
                      <a:r>
                        <a:rPr sz="1800" b="1" spc="-10" dirty="0">
                          <a:solidFill>
                            <a:srgbClr val="FFFFFF"/>
                          </a:solidFill>
                          <a:latin typeface="Calibri"/>
                          <a:cs typeface="Calibri"/>
                        </a:rPr>
                        <a:t>Methodology Adapted</a:t>
                      </a:r>
                      <a:endParaRPr sz="1800" dirty="0">
                        <a:latin typeface="Calibri"/>
                        <a:cs typeface="Calibri"/>
                      </a:endParaRPr>
                    </a:p>
                  </a:txBody>
                  <a:tcPr marL="0" marR="0" marT="762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2"/>
                    </a:solidFill>
                  </a:tcPr>
                </a:tc>
                <a:tc>
                  <a:txBody>
                    <a:bodyPr/>
                    <a:lstStyle/>
                    <a:p>
                      <a:pPr marL="85725">
                        <a:lnSpc>
                          <a:spcPts val="2150"/>
                        </a:lnSpc>
                      </a:pPr>
                      <a:r>
                        <a:rPr sz="1800" b="1" dirty="0">
                          <a:solidFill>
                            <a:srgbClr val="FFFFFF"/>
                          </a:solidFill>
                          <a:latin typeface="Calibri"/>
                          <a:cs typeface="Calibri"/>
                        </a:rPr>
                        <a:t>Key</a:t>
                      </a:r>
                      <a:r>
                        <a:rPr sz="1800" b="1" spc="-40" dirty="0">
                          <a:solidFill>
                            <a:srgbClr val="FFFFFF"/>
                          </a:solidFill>
                          <a:latin typeface="Calibri"/>
                          <a:cs typeface="Calibri"/>
                        </a:rPr>
                        <a:t> </a:t>
                      </a:r>
                      <a:r>
                        <a:rPr sz="1800" b="1" spc="-10" dirty="0">
                          <a:solidFill>
                            <a:srgbClr val="FFFFFF"/>
                          </a:solidFill>
                          <a:latin typeface="Calibri"/>
                          <a:cs typeface="Calibri"/>
                        </a:rPr>
                        <a:t>Findings</a:t>
                      </a:r>
                      <a:endParaRPr sz="18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2"/>
                    </a:solidFill>
                  </a:tcPr>
                </a:tc>
                <a:tc>
                  <a:txBody>
                    <a:bodyPr/>
                    <a:lstStyle/>
                    <a:p>
                      <a:pPr marL="87630">
                        <a:lnSpc>
                          <a:spcPts val="2150"/>
                        </a:lnSpc>
                      </a:pPr>
                      <a:r>
                        <a:rPr sz="1800" b="1" spc="-20" dirty="0">
                          <a:solidFill>
                            <a:srgbClr val="FFFFFF"/>
                          </a:solidFill>
                          <a:latin typeface="Calibri"/>
                          <a:cs typeface="Calibri"/>
                        </a:rPr>
                        <a:t>Gaps</a:t>
                      </a:r>
                      <a:endParaRPr sz="18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2"/>
                    </a:solidFill>
                  </a:tcPr>
                </a:tc>
                <a:extLst>
                  <a:ext uri="{0D108BD9-81ED-4DB2-BD59-A6C34878D82A}">
                    <a16:rowId xmlns:a16="http://schemas.microsoft.com/office/drawing/2014/main" val="10000"/>
                  </a:ext>
                </a:extLst>
              </a:tr>
              <a:tr h="2576432">
                <a:tc>
                  <a:txBody>
                    <a:bodyPr/>
                    <a:lstStyle/>
                    <a:p>
                      <a:pPr marL="85090">
                        <a:lnSpc>
                          <a:spcPts val="2155"/>
                        </a:lnSpc>
                      </a:pPr>
                      <a:r>
                        <a:rPr sz="1800" spc="-25" dirty="0">
                          <a:latin typeface="Calibri"/>
                          <a:cs typeface="Calibri"/>
                        </a:rPr>
                        <a:t>1.</a:t>
                      </a:r>
                      <a:endParaRPr sz="1800" dirty="0">
                        <a:latin typeface="Calibri"/>
                        <a:cs typeface="Calibri"/>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C"/>
                    </a:solidFill>
                  </a:tcPr>
                </a:tc>
                <a:tc>
                  <a:txBody>
                    <a:bodyPr/>
                    <a:lstStyle/>
                    <a:p>
                      <a:pPr marL="85090" marR="195580">
                        <a:lnSpc>
                          <a:spcPts val="2160"/>
                        </a:lnSpc>
                        <a:spcBef>
                          <a:spcPts val="65"/>
                        </a:spcBef>
                      </a:pPr>
                      <a:r>
                        <a:rPr lang="en-US" dirty="0"/>
                        <a:t>AI-Powered Personal Finance Management: Predictive Analytics for Expense Forecasting</a:t>
                      </a:r>
                      <a:endParaRPr sz="1800" dirty="0">
                        <a:latin typeface="Calibri"/>
                        <a:cs typeface="Calibri"/>
                      </a:endParaRPr>
                    </a:p>
                  </a:txBody>
                  <a:tcPr marL="0" marR="0" marT="82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C"/>
                    </a:solidFill>
                  </a:tcPr>
                </a:tc>
                <a:tc>
                  <a:txBody>
                    <a:bodyPr/>
                    <a:lstStyle/>
                    <a:p>
                      <a:pPr marL="85090" marR="629285">
                        <a:lnSpc>
                          <a:spcPts val="2160"/>
                        </a:lnSpc>
                        <a:spcBef>
                          <a:spcPts val="65"/>
                        </a:spcBef>
                      </a:pPr>
                      <a:r>
                        <a:rPr lang="en-IN" sz="1800" dirty="0">
                          <a:latin typeface="+mn-lt"/>
                          <a:cs typeface="Calibri"/>
                        </a:rPr>
                        <a:t>Sharma&amp; Patel</a:t>
                      </a:r>
                      <a:endParaRPr sz="1800" dirty="0">
                        <a:latin typeface="Calibri"/>
                        <a:cs typeface="Calibri"/>
                      </a:endParaRPr>
                    </a:p>
                  </a:txBody>
                  <a:tcPr marL="0" marR="0" marT="82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C"/>
                    </a:solidFill>
                  </a:tcPr>
                </a:tc>
                <a:tc>
                  <a:txBody>
                    <a:bodyPr/>
                    <a:lstStyle/>
                    <a:p>
                      <a:pPr marL="85725" marR="0" lvl="0" indent="0" defTabSz="914400" eaLnBrk="1" fontAlgn="auto" latinLnBrk="0" hangingPunct="1">
                        <a:lnSpc>
                          <a:spcPts val="2155"/>
                        </a:lnSpc>
                        <a:spcBef>
                          <a:spcPts val="0"/>
                        </a:spcBef>
                        <a:spcAft>
                          <a:spcPts val="0"/>
                        </a:spcAft>
                        <a:buClrTx/>
                        <a:buSzTx/>
                        <a:buFontTx/>
                        <a:buNone/>
                        <a:tabLst/>
                        <a:defRPr/>
                      </a:pPr>
                      <a:r>
                        <a:rPr lang="en-IN" sz="1800" dirty="0">
                          <a:latin typeface="+mn-lt"/>
                          <a:cs typeface="Calibri"/>
                        </a:rPr>
                        <a:t>2023</a:t>
                      </a:r>
                    </a:p>
                    <a:p>
                      <a:pPr marL="85725">
                        <a:lnSpc>
                          <a:spcPts val="2155"/>
                        </a:lnSpc>
                      </a:pPr>
                      <a:endParaRPr sz="1800" dirty="0">
                        <a:latin typeface="Calibri"/>
                        <a:cs typeface="Calibri"/>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C"/>
                    </a:solidFill>
                  </a:tcPr>
                </a:tc>
                <a:tc>
                  <a:txBody>
                    <a:bodyPr/>
                    <a:lstStyle/>
                    <a:p>
                      <a:pPr marL="85725" marR="471170">
                        <a:lnSpc>
                          <a:spcPts val="2160"/>
                        </a:lnSpc>
                        <a:spcBef>
                          <a:spcPts val="65"/>
                        </a:spcBef>
                      </a:pPr>
                      <a:r>
                        <a:rPr lang="en-US" sz="1800" dirty="0">
                          <a:latin typeface="+mn-lt"/>
                          <a:cs typeface="Calibri"/>
                        </a:rPr>
                        <a:t>Machine learning models for expense prediction using financial data analysis</a:t>
                      </a:r>
                      <a:endParaRPr sz="1800" dirty="0">
                        <a:latin typeface="Calibri"/>
                        <a:cs typeface="Calibri"/>
                      </a:endParaRPr>
                    </a:p>
                  </a:txBody>
                  <a:tcPr marL="0" marR="0" marT="82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C"/>
                    </a:solidFill>
                  </a:tcPr>
                </a:tc>
                <a:tc>
                  <a:txBody>
                    <a:bodyPr/>
                    <a:lstStyle/>
                    <a:p>
                      <a:pPr marL="85725" marR="450850">
                        <a:lnSpc>
                          <a:spcPts val="2160"/>
                        </a:lnSpc>
                        <a:spcBef>
                          <a:spcPts val="65"/>
                        </a:spcBef>
                      </a:pPr>
                      <a:r>
                        <a:rPr lang="en-US" dirty="0"/>
                        <a:t>Predicts monthly expenses with high accuracy using historical spending patterns</a:t>
                      </a:r>
                      <a:endParaRPr lang="en-US" sz="1800" dirty="0">
                        <a:latin typeface="+mn-lt"/>
                        <a:cs typeface="Calibri"/>
                      </a:endParaRPr>
                    </a:p>
                  </a:txBody>
                  <a:tcPr marL="0" marR="0" marT="82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C"/>
                    </a:solidFill>
                  </a:tcPr>
                </a:tc>
                <a:tc>
                  <a:txBody>
                    <a:bodyPr/>
                    <a:lstStyle/>
                    <a:p>
                      <a:pPr marL="87630" marR="459740">
                        <a:lnSpc>
                          <a:spcPts val="2160"/>
                        </a:lnSpc>
                        <a:spcBef>
                          <a:spcPts val="65"/>
                        </a:spcBef>
                      </a:pPr>
                      <a:r>
                        <a:rPr lang="en-US" dirty="0"/>
                        <a:t>Does not include full expense management and budgeting features</a:t>
                      </a:r>
                      <a:endParaRPr sz="1800" dirty="0">
                        <a:latin typeface="Calibri"/>
                        <a:cs typeface="Calibri"/>
                      </a:endParaRPr>
                    </a:p>
                  </a:txBody>
                  <a:tcPr marL="0" marR="0" marT="82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C"/>
                    </a:solidFill>
                  </a:tcPr>
                </a:tc>
                <a:extLst>
                  <a:ext uri="{0D108BD9-81ED-4DB2-BD59-A6C34878D82A}">
                    <a16:rowId xmlns:a16="http://schemas.microsoft.com/office/drawing/2014/main" val="10001"/>
                  </a:ext>
                </a:extLst>
              </a:tr>
              <a:tr h="1079357">
                <a:tc>
                  <a:txBody>
                    <a:bodyPr/>
                    <a:lstStyle/>
                    <a:p>
                      <a:pPr marL="85090">
                        <a:lnSpc>
                          <a:spcPts val="2155"/>
                        </a:lnSpc>
                      </a:pPr>
                      <a:r>
                        <a:rPr sz="1800" spc="-50" dirty="0">
                          <a:latin typeface="Calibri"/>
                          <a:cs typeface="Calibri"/>
                        </a:rPr>
                        <a:t>2</a:t>
                      </a:r>
                      <a:endParaRPr sz="18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6"/>
                    </a:solidFill>
                  </a:tcPr>
                </a:tc>
                <a:tc>
                  <a:txBody>
                    <a:bodyPr/>
                    <a:lstStyle/>
                    <a:p>
                      <a:pPr>
                        <a:lnSpc>
                          <a:spcPts val="2045"/>
                        </a:lnSpc>
                      </a:pPr>
                      <a:r>
                        <a:rPr lang="en-US" dirty="0"/>
                        <a:t>Intelligent Budget Optimization Using Machine Learning Algorithms</a:t>
                      </a:r>
                      <a:endParaRPr sz="1800" dirty="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6"/>
                    </a:solidFill>
                  </a:tcPr>
                </a:tc>
                <a:tc>
                  <a:txBody>
                    <a:bodyPr/>
                    <a:lstStyle/>
                    <a:p>
                      <a:pPr marL="51435">
                        <a:lnSpc>
                          <a:spcPts val="2045"/>
                        </a:lnSpc>
                      </a:pPr>
                      <a:r>
                        <a:rPr lang="en-IN" dirty="0"/>
                        <a:t>Chen, L., &amp; Williams, R.</a:t>
                      </a:r>
                      <a:endParaRPr sz="1800" dirty="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6"/>
                    </a:solidFill>
                  </a:tcPr>
                </a:tc>
                <a:tc>
                  <a:txBody>
                    <a:bodyPr/>
                    <a:lstStyle/>
                    <a:p>
                      <a:pPr marL="52069">
                        <a:lnSpc>
                          <a:spcPts val="2045"/>
                        </a:lnSpc>
                      </a:pPr>
                      <a:r>
                        <a:rPr lang="en-US" dirty="0"/>
                        <a:t>2022</a:t>
                      </a:r>
                      <a:endParaRPr sz="1800" dirty="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6"/>
                    </a:solidFill>
                  </a:tcPr>
                </a:tc>
                <a:tc>
                  <a:txBody>
                    <a:bodyPr/>
                    <a:lstStyle/>
                    <a:p>
                      <a:pPr marL="635">
                        <a:lnSpc>
                          <a:spcPts val="2045"/>
                        </a:lnSpc>
                      </a:pPr>
                      <a:r>
                        <a:rPr lang="en-US" sz="1800" dirty="0">
                          <a:latin typeface="+mn-lt"/>
                          <a:cs typeface="Calibri"/>
                        </a:rPr>
                        <a:t>Machine learning techniques for dynamic budget optimization</a:t>
                      </a:r>
                      <a:endParaRPr sz="1800" dirty="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6"/>
                    </a:solidFill>
                  </a:tcPr>
                </a:tc>
                <a:tc>
                  <a:txBody>
                    <a:bodyPr/>
                    <a:lstStyle/>
                    <a:p>
                      <a:pPr marL="635">
                        <a:lnSpc>
                          <a:spcPts val="2045"/>
                        </a:lnSpc>
                      </a:pPr>
                      <a:r>
                        <a:rPr lang="en-US" sz="1800" dirty="0">
                          <a:latin typeface="+mn-lt"/>
                          <a:cs typeface="Calibri"/>
                        </a:rPr>
                        <a:t>Improves budget planning by analyzing user spending behavior</a:t>
                      </a:r>
                      <a:endParaRPr sz="1800" dirty="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6"/>
                    </a:solidFill>
                  </a:tcPr>
                </a:tc>
                <a:tc>
                  <a:txBody>
                    <a:bodyPr/>
                    <a:lstStyle/>
                    <a:p>
                      <a:pPr marL="635">
                        <a:lnSpc>
                          <a:spcPts val="2045"/>
                        </a:lnSpc>
                      </a:pPr>
                      <a:r>
                        <a:rPr lang="en-US" dirty="0"/>
                        <a:t>Limited focus on user-friendly personal finance tracking</a:t>
                      </a:r>
                      <a:endParaRPr sz="1800" dirty="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6"/>
                    </a:solidFill>
                  </a:tcPr>
                </a:tc>
                <a:extLst>
                  <a:ext uri="{0D108BD9-81ED-4DB2-BD59-A6C34878D82A}">
                    <a16:rowId xmlns:a16="http://schemas.microsoft.com/office/drawing/2014/main" val="10002"/>
                  </a:ext>
                </a:extLst>
              </a:tr>
              <a:tr h="1366980">
                <a:tc>
                  <a:txBody>
                    <a:bodyPr/>
                    <a:lstStyle/>
                    <a:p>
                      <a:pPr marL="85090">
                        <a:lnSpc>
                          <a:spcPts val="2150"/>
                        </a:lnSpc>
                      </a:pPr>
                      <a:r>
                        <a:rPr sz="1800" spc="-50" dirty="0">
                          <a:latin typeface="Calibri"/>
                          <a:cs typeface="Calibri"/>
                        </a:rPr>
                        <a:t>3</a:t>
                      </a:r>
                      <a:endParaRPr sz="18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EEC"/>
                    </a:solidFill>
                  </a:tcPr>
                </a:tc>
                <a:tc>
                  <a:txBody>
                    <a:bodyPr/>
                    <a:lstStyle/>
                    <a:p>
                      <a:pPr>
                        <a:lnSpc>
                          <a:spcPts val="2050"/>
                        </a:lnSpc>
                      </a:pPr>
                      <a:r>
                        <a:rPr lang="en-US" dirty="0"/>
                        <a:t>NLP-Based Automated Expense Categorization in Financial Applications</a:t>
                      </a:r>
                      <a:endParaRPr sz="1800" dirty="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EEC"/>
                    </a:solidFill>
                  </a:tcPr>
                </a:tc>
                <a:tc>
                  <a:txBody>
                    <a:bodyPr/>
                    <a:lstStyle/>
                    <a:p>
                      <a:pPr marL="51435">
                        <a:lnSpc>
                          <a:spcPts val="2050"/>
                        </a:lnSpc>
                      </a:pPr>
                      <a:r>
                        <a:rPr lang="en-IN" dirty="0"/>
                        <a:t>Rodriguez, M., &amp; Kim, J.</a:t>
                      </a:r>
                      <a:endParaRPr sz="1800" dirty="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EEC"/>
                    </a:solidFill>
                  </a:tcPr>
                </a:tc>
                <a:tc>
                  <a:txBody>
                    <a:bodyPr/>
                    <a:lstStyle/>
                    <a:p>
                      <a:pPr marL="85725">
                        <a:lnSpc>
                          <a:spcPts val="2155"/>
                        </a:lnSpc>
                      </a:pPr>
                      <a:r>
                        <a:rPr lang="en-IN" dirty="0"/>
                        <a:t>2021</a:t>
                      </a: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EEC"/>
                    </a:solidFill>
                  </a:tcPr>
                </a:tc>
                <a:tc>
                  <a:txBody>
                    <a:bodyPr/>
                    <a:lstStyle/>
                    <a:p>
                      <a:pPr marL="635">
                        <a:lnSpc>
                          <a:spcPts val="2050"/>
                        </a:lnSpc>
                      </a:pPr>
                      <a:r>
                        <a:rPr lang="en-US" dirty="0"/>
                        <a:t>Natural Language Processing for automatic transaction categorization</a:t>
                      </a:r>
                      <a:endParaRPr sz="1800" dirty="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EEC"/>
                    </a:solidFill>
                  </a:tcPr>
                </a:tc>
                <a:tc>
                  <a:txBody>
                    <a:bodyPr/>
                    <a:lstStyle/>
                    <a:p>
                      <a:pPr marL="635">
                        <a:lnSpc>
                          <a:spcPts val="2050"/>
                        </a:lnSpc>
                      </a:pPr>
                      <a:r>
                        <a:rPr lang="en-US" dirty="0"/>
                        <a:t>Automatically categorizes expenses and improves financial data organization</a:t>
                      </a:r>
                      <a:endParaRPr sz="1800" dirty="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EEC"/>
                    </a:solidFill>
                  </a:tcPr>
                </a:tc>
                <a:tc>
                  <a:txBody>
                    <a:bodyPr/>
                    <a:lstStyle/>
                    <a:p>
                      <a:pPr marL="635">
                        <a:lnSpc>
                          <a:spcPts val="2050"/>
                        </a:lnSpc>
                      </a:pPr>
                      <a:r>
                        <a:rPr lang="en-US" dirty="0"/>
                        <a:t>Does not provide expense prediction</a:t>
                      </a:r>
                      <a:endParaRPr sz="1800" dirty="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cap="flat" cmpd="sng" algn="ctr">
                      <a:solidFill>
                        <a:srgbClr val="FFFFFF"/>
                      </a:solidFill>
                      <a:prstDash val="solid"/>
                      <a:round/>
                      <a:headEnd type="none" w="med" len="med"/>
                      <a:tailEnd type="none" w="med" len="med"/>
                    </a:lnB>
                    <a:solidFill>
                      <a:srgbClr val="D0DEEC"/>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0" y="216720"/>
            <a:ext cx="12192000" cy="803275"/>
            <a:chOff x="0" y="216720"/>
            <a:chExt cx="12192000" cy="803275"/>
          </a:xfrm>
        </p:grpSpPr>
        <p:pic>
          <p:nvPicPr>
            <p:cNvPr id="5" name="object 5"/>
            <p:cNvPicPr/>
            <p:nvPr/>
          </p:nvPicPr>
          <p:blipFill>
            <a:blip r:embed="rId2" cstate="print"/>
            <a:stretch>
              <a:fillRect/>
            </a:stretch>
          </p:blipFill>
          <p:spPr>
            <a:xfrm>
              <a:off x="0" y="216720"/>
              <a:ext cx="12192000" cy="803160"/>
            </a:xfrm>
            <a:prstGeom prst="rect">
              <a:avLst/>
            </a:prstGeom>
          </p:spPr>
        </p:pic>
        <p:sp>
          <p:nvSpPr>
            <p:cNvPr id="6" name="object 6"/>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7" name="object 7"/>
          <p:cNvSpPr txBox="1">
            <a:spLocks noGrp="1"/>
          </p:cNvSpPr>
          <p:nvPr>
            <p:ph type="title"/>
          </p:nvPr>
        </p:nvSpPr>
        <p:spPr>
          <a:xfrm>
            <a:off x="73025" y="182323"/>
            <a:ext cx="3888104" cy="695960"/>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spc="-10" dirty="0"/>
              <a:t>Proposed</a:t>
            </a:r>
            <a:r>
              <a:rPr dirty="0"/>
              <a:t>	</a:t>
            </a:r>
            <a:r>
              <a:rPr spc="-10" dirty="0"/>
              <a:t>System</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06</a:t>
            </a:r>
            <a:endParaRPr spc="-25" dirty="0"/>
          </a:p>
        </p:txBody>
      </p:sp>
      <p:sp>
        <p:nvSpPr>
          <p:cNvPr id="9" name="object 9"/>
          <p:cNvSpPr txBox="1">
            <a:spLocks noGrp="1"/>
          </p:cNvSpPr>
          <p:nvPr>
            <p:ph type="dt" sz="half" idx="6"/>
          </p:nvPr>
        </p:nvSpPr>
        <p:spPr>
          <a:xfrm>
            <a:off x="1773948" y="6629559"/>
            <a:ext cx="39410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9197"/>
            <a:ext cx="41300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8</a:t>
            </a:fld>
            <a:endParaRPr spc="-25" dirty="0"/>
          </a:p>
        </p:txBody>
      </p:sp>
      <p:sp>
        <p:nvSpPr>
          <p:cNvPr id="12" name="TextBox 11">
            <a:extLst>
              <a:ext uri="{FF2B5EF4-FFF2-40B4-BE49-F238E27FC236}">
                <a16:creationId xmlns:a16="http://schemas.microsoft.com/office/drawing/2014/main" id="{9D0735FF-BBB5-6D8E-47E3-5A04AED2F3BB}"/>
              </a:ext>
            </a:extLst>
          </p:cNvPr>
          <p:cNvSpPr txBox="1"/>
          <p:nvPr/>
        </p:nvSpPr>
        <p:spPr>
          <a:xfrm>
            <a:off x="270632" y="1054277"/>
            <a:ext cx="11311768" cy="5444054"/>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Our project presents an AI-Based Personal Finance Manager with Smart Expense Prediction System that integrates intelligent financial management features within a centralized web-based platform. The system consists of the following major modules:</a:t>
            </a: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Expense Management Module</a:t>
            </a:r>
            <a:r>
              <a:rPr lang="en-US" dirty="0">
                <a:latin typeface="Times New Roman" panose="02020603050405020304" pitchFamily="18" charset="0"/>
                <a:cs typeface="Times New Roman" panose="02020603050405020304" pitchFamily="18" charset="0"/>
              </a:rPr>
              <a:t>: Allows users to record, update, and manage daily financial transactions by organizing expenses into categories such as food, travel, shopping, utilities, and entertainment for systematic financial tracking.</a:t>
            </a:r>
          </a:p>
          <a:p>
            <a:pPr marL="285750" indent="-285750"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Budget and Savings Management Module</a:t>
            </a:r>
            <a:r>
              <a:rPr lang="en-US" dirty="0">
                <a:latin typeface="Times New Roman" panose="02020603050405020304" pitchFamily="18" charset="0"/>
                <a:cs typeface="Times New Roman" panose="02020603050405020304" pitchFamily="18" charset="0"/>
              </a:rPr>
              <a:t>: Enables users to define monthly budgets and savings goals, continuously monitor spending behavior, and receive notifications when expenses approach predefined budget limits. </a:t>
            </a:r>
          </a:p>
          <a:p>
            <a:pPr marL="285750" indent="-285750"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Smart Expense Prediction Module</a:t>
            </a:r>
            <a:r>
              <a:rPr lang="en-US" dirty="0">
                <a:latin typeface="Times New Roman" panose="02020603050405020304" pitchFamily="18" charset="0"/>
                <a:cs typeface="Times New Roman" panose="02020603050405020304" pitchFamily="18" charset="0"/>
              </a:rPr>
              <a:t>: Uses the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Regression algorithm to analyze past spending patterns and predict future expenses for better financial planning.</a:t>
            </a:r>
          </a:p>
          <a:p>
            <a:pPr marL="285750" indent="-285750" algn="just">
              <a:lnSpc>
                <a:spcPct val="150000"/>
              </a:lnSpc>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Dashboard and Reporting Module</a:t>
            </a:r>
            <a:r>
              <a:rPr lang="en-US" dirty="0">
                <a:latin typeface="Times New Roman" panose="02020603050405020304" pitchFamily="18" charset="0"/>
                <a:cs typeface="Times New Roman" panose="02020603050405020304" pitchFamily="18" charset="0"/>
              </a:rPr>
              <a:t>: Provides graphical reports, spending summaries, category-wise expense analysis, and prediction results through an interactive dashboard that helps users understand their financial behavior effectively.</a:t>
            </a:r>
          </a:p>
        </p:txBody>
      </p:sp>
      <p:sp>
        <p:nvSpPr>
          <p:cNvPr id="3" name="object 2">
            <a:extLst>
              <a:ext uri="{FF2B5EF4-FFF2-40B4-BE49-F238E27FC236}">
                <a16:creationId xmlns:a16="http://schemas.microsoft.com/office/drawing/2014/main" id="{472A052D-21F1-2542-F7FA-CDD37594DE72}"/>
              </a:ext>
            </a:extLst>
          </p:cNvPr>
          <p:cNvSpPr txBox="1"/>
          <p:nvPr/>
        </p:nvSpPr>
        <p:spPr>
          <a:xfrm>
            <a:off x="2628899" y="-38247"/>
            <a:ext cx="63246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AI-Based Personal Finance Manager with Smart Expense Prediction System</a:t>
            </a:r>
            <a:endParaRPr sz="1500" dirty="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52400">
              <a:lnSpc>
                <a:spcPct val="100000"/>
              </a:lnSpc>
              <a:spcBef>
                <a:spcPts val="100"/>
              </a:spcBef>
            </a:pPr>
            <a:r>
              <a:rPr spc="-10" dirty="0"/>
              <a:t>References</a:t>
            </a:r>
          </a:p>
        </p:txBody>
      </p:sp>
      <p:sp>
        <p:nvSpPr>
          <p:cNvPr id="9" name="object 9"/>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06</a:t>
            </a:r>
            <a:endParaRPr spc="-25" dirty="0"/>
          </a:p>
        </p:txBody>
      </p:sp>
      <p:sp>
        <p:nvSpPr>
          <p:cNvPr id="10" name="object 10"/>
          <p:cNvSpPr txBox="1">
            <a:spLocks noGrp="1"/>
          </p:cNvSpPr>
          <p:nvPr>
            <p:ph type="dt" sz="half" idx="6"/>
          </p:nvPr>
        </p:nvSpPr>
        <p:spPr>
          <a:xfrm>
            <a:off x="1773948" y="6629559"/>
            <a:ext cx="39410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1" name="object 11"/>
          <p:cNvSpPr txBox="1"/>
          <p:nvPr/>
        </p:nvSpPr>
        <p:spPr>
          <a:xfrm>
            <a:off x="7147541" y="6629197"/>
            <a:ext cx="42062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9</a:t>
            </a:fld>
            <a:endParaRPr spc="-25" dirty="0"/>
          </a:p>
        </p:txBody>
      </p:sp>
      <p:sp>
        <p:nvSpPr>
          <p:cNvPr id="13" name="TextBox 12">
            <a:extLst>
              <a:ext uri="{FF2B5EF4-FFF2-40B4-BE49-F238E27FC236}">
                <a16:creationId xmlns:a16="http://schemas.microsoft.com/office/drawing/2014/main" id="{2B534EE4-7247-A472-54E8-BF10F79F09CB}"/>
              </a:ext>
            </a:extLst>
          </p:cNvPr>
          <p:cNvSpPr txBox="1"/>
          <p:nvPr/>
        </p:nvSpPr>
        <p:spPr>
          <a:xfrm>
            <a:off x="784031" y="1524000"/>
            <a:ext cx="10798369" cy="3730317"/>
          </a:xfrm>
          <a:prstGeom prst="rect">
            <a:avLst/>
          </a:prstGeom>
          <a:noFill/>
        </p:spPr>
        <p:txBody>
          <a:bodyPr wrap="square">
            <a:spAutoFit/>
          </a:bodyPr>
          <a:lstStyle/>
          <a:p>
            <a:pPr marL="342900" indent="-3429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L. Chen and H. Zhao, “Machine Learning Applications in Personal Finance: A Systematic Review,” Journal of Financial Technology, vol. 12, no. 3, pp. 45-67, 2023.</a:t>
            </a:r>
          </a:p>
          <a:p>
            <a:pPr marL="342900" indent="-3429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R. Patel and S. Kumar, “AI-Driven Expense Prediction Using Time Series Analysis,” International Conference on Artificial Intelligence in Finance, vol. 1, pp. 112-118, 2022.</a:t>
            </a:r>
          </a:p>
          <a:p>
            <a:pPr marL="342900" indent="-3429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P. Gupta and M. Lee, “Behavioral Analytics in Personal Finance Management Systems,” Journal of Behavioral Finance, vol. 19, no. 4, pp. 301-317, 2022.</a:t>
            </a:r>
          </a:p>
          <a:p>
            <a:pPr marL="342900" indent="-3429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D. Wilson and X. Chen, “Django Framework for Scalable Financial Web Applications,” Software: Practice and Experience, vol. 52, no. 9, pp. 1876-1895, 2022.</a:t>
            </a:r>
          </a:p>
        </p:txBody>
      </p:sp>
      <p:sp>
        <p:nvSpPr>
          <p:cNvPr id="7" name="object 2">
            <a:extLst>
              <a:ext uri="{FF2B5EF4-FFF2-40B4-BE49-F238E27FC236}">
                <a16:creationId xmlns:a16="http://schemas.microsoft.com/office/drawing/2014/main" id="{07F0E128-56BB-D1A1-1DC4-BCBD8590181E}"/>
              </a:ext>
            </a:extLst>
          </p:cNvPr>
          <p:cNvSpPr txBox="1"/>
          <p:nvPr/>
        </p:nvSpPr>
        <p:spPr>
          <a:xfrm>
            <a:off x="2628899" y="-38247"/>
            <a:ext cx="63246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AI-Based Personal Finance Manager with Smart Expense Prediction System</a:t>
            </a:r>
            <a:endParaRPr sz="1500" dirty="0">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a:extLst>
              <a:ext uri="{28A0092B-C50C-407E-A947-70E740481C1C}">
                <a14:useLocalDpi xmlns:a14="http://schemas.microsoft.com/office/drawing/2010/main" val="0"/>
              </a:ext>
            </a:extLst>
          </a:blip>
          <a:srcRect/>
          <a:stretch/>
        </p:blipFill>
        <p:spPr>
          <a:xfrm>
            <a:off x="815975" y="1268583"/>
            <a:ext cx="9230994" cy="4635158"/>
          </a:xfrm>
          <a:prstGeom prst="rect">
            <a:avLst/>
          </a:prstGeom>
        </p:spPr>
      </p:pic>
      <p:sp>
        <p:nvSpPr>
          <p:cNvPr id="3" name="object 3"/>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grpSp>
        <p:nvGrpSpPr>
          <p:cNvPr id="5" name="object 5"/>
          <p:cNvGrpSpPr/>
          <p:nvPr/>
        </p:nvGrpSpPr>
        <p:grpSpPr>
          <a:xfrm>
            <a:off x="0" y="216720"/>
            <a:ext cx="12192000" cy="803275"/>
            <a:chOff x="0" y="216720"/>
            <a:chExt cx="12192000" cy="803275"/>
          </a:xfrm>
        </p:grpSpPr>
        <p:pic>
          <p:nvPicPr>
            <p:cNvPr id="6" name="object 6"/>
            <p:cNvPicPr/>
            <p:nvPr/>
          </p:nvPicPr>
          <p:blipFill>
            <a:blip r:embed="rId3" cstate="print"/>
            <a:stretch>
              <a:fillRect/>
            </a:stretch>
          </p:blipFill>
          <p:spPr>
            <a:xfrm>
              <a:off x="0" y="216720"/>
              <a:ext cx="12192000" cy="803160"/>
            </a:xfrm>
            <a:prstGeom prst="rect">
              <a:avLst/>
            </a:prstGeom>
          </p:spPr>
        </p:pic>
        <p:sp>
          <p:nvSpPr>
            <p:cNvPr id="7" name="object 7"/>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8" name="object 8"/>
          <p:cNvSpPr txBox="1">
            <a:spLocks noGrp="1"/>
          </p:cNvSpPr>
          <p:nvPr>
            <p:ph type="title"/>
          </p:nvPr>
        </p:nvSpPr>
        <p:spPr>
          <a:xfrm>
            <a:off x="73025" y="182323"/>
            <a:ext cx="8136255" cy="695960"/>
          </a:xfrm>
          <a:prstGeom prst="rect">
            <a:avLst/>
          </a:prstGeom>
        </p:spPr>
        <p:txBody>
          <a:bodyPr vert="horz" wrap="square" lIns="0" tIns="12700" rIns="0" bIns="0" rtlCol="0">
            <a:spAutoFit/>
          </a:bodyPr>
          <a:lstStyle/>
          <a:p>
            <a:pPr marL="12700">
              <a:lnSpc>
                <a:spcPct val="100000"/>
              </a:lnSpc>
              <a:spcBef>
                <a:spcPts val="100"/>
              </a:spcBef>
              <a:tabLst>
                <a:tab pos="1966595" algn="l"/>
                <a:tab pos="5348605" algn="l"/>
                <a:tab pos="6511925" algn="l"/>
              </a:tabLst>
            </a:pPr>
            <a:r>
              <a:rPr dirty="0"/>
              <a:t>Git</a:t>
            </a:r>
            <a:r>
              <a:rPr spc="-75" dirty="0"/>
              <a:t> </a:t>
            </a:r>
            <a:r>
              <a:rPr spc="-25" dirty="0"/>
              <a:t>Hub</a:t>
            </a:r>
            <a:r>
              <a:rPr dirty="0"/>
              <a:t>	Dashboards</a:t>
            </a:r>
            <a:r>
              <a:rPr spc="-60" dirty="0"/>
              <a:t> </a:t>
            </a:r>
            <a:r>
              <a:rPr spc="-25" dirty="0"/>
              <a:t>of</a:t>
            </a:r>
            <a:r>
              <a:rPr dirty="0"/>
              <a:t>	</a:t>
            </a:r>
            <a:r>
              <a:rPr spc="-20" dirty="0"/>
              <a:t>each</a:t>
            </a:r>
            <a:r>
              <a:rPr dirty="0"/>
              <a:t>	</a:t>
            </a:r>
            <a:r>
              <a:rPr spc="-10" dirty="0"/>
              <a:t>student</a:t>
            </a:r>
          </a:p>
        </p:txBody>
      </p:sp>
      <p:sp>
        <p:nvSpPr>
          <p:cNvPr id="10" name="object 10"/>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06</a:t>
            </a:r>
            <a:endParaRPr spc="-25" dirty="0"/>
          </a:p>
        </p:txBody>
      </p:sp>
      <p:sp>
        <p:nvSpPr>
          <p:cNvPr id="11" name="object 11"/>
          <p:cNvSpPr txBox="1">
            <a:spLocks noGrp="1"/>
          </p:cNvSpPr>
          <p:nvPr>
            <p:ph type="dt" sz="half" idx="6"/>
          </p:nvPr>
        </p:nvSpPr>
        <p:spPr>
          <a:xfrm>
            <a:off x="1773949" y="6629559"/>
            <a:ext cx="3891278"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2" name="object 12"/>
          <p:cNvSpPr txBox="1"/>
          <p:nvPr/>
        </p:nvSpPr>
        <p:spPr>
          <a:xfrm>
            <a:off x="7147541" y="6629197"/>
            <a:ext cx="41300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10</a:t>
            </a:fld>
            <a:endParaRPr spc="-25" dirty="0"/>
          </a:p>
        </p:txBody>
      </p:sp>
      <p:sp>
        <p:nvSpPr>
          <p:cNvPr id="9" name="object 9"/>
          <p:cNvSpPr txBox="1"/>
          <p:nvPr/>
        </p:nvSpPr>
        <p:spPr>
          <a:xfrm>
            <a:off x="990600" y="6121377"/>
            <a:ext cx="9056369" cy="320601"/>
          </a:xfrm>
          <a:prstGeom prst="rect">
            <a:avLst/>
          </a:prstGeom>
        </p:spPr>
        <p:txBody>
          <a:bodyPr vert="horz" wrap="square" lIns="0" tIns="12700" rIns="0" bIns="0" rtlCol="0">
            <a:spAutoFit/>
          </a:bodyPr>
          <a:lstStyle/>
          <a:p>
            <a:pPr marL="12700">
              <a:lnSpc>
                <a:spcPct val="100000"/>
              </a:lnSpc>
              <a:spcBef>
                <a:spcPts val="100"/>
              </a:spcBef>
            </a:pPr>
            <a:r>
              <a:rPr sz="2000" spc="-10" dirty="0" err="1">
                <a:latin typeface="Times New Roman" panose="02020603050405020304" pitchFamily="18" charset="0"/>
                <a:cs typeface="Times New Roman" panose="02020603050405020304" pitchFamily="18" charset="0"/>
              </a:rPr>
              <a:t>Github</a:t>
            </a:r>
            <a:r>
              <a:rPr lang="en-US" sz="2000" spc="-10" dirty="0">
                <a:latin typeface="Times New Roman" panose="02020603050405020304" pitchFamily="18" charset="0"/>
                <a:cs typeface="Times New Roman" panose="02020603050405020304" pitchFamily="18" charset="0"/>
              </a:rPr>
              <a:t> Link : https://github.com/hemanthkumarsake/CSE-2022-26-Batch-A06</a:t>
            </a:r>
            <a:endParaRPr sz="2000" dirty="0">
              <a:latin typeface="Times New Roman" panose="02020603050405020304" pitchFamily="18" charset="0"/>
              <a:cs typeface="Times New Roman" panose="02020603050405020304" pitchFamily="18" charset="0"/>
            </a:endParaRPr>
          </a:p>
        </p:txBody>
      </p:sp>
      <p:sp>
        <p:nvSpPr>
          <p:cNvPr id="14" name="object 2">
            <a:extLst>
              <a:ext uri="{FF2B5EF4-FFF2-40B4-BE49-F238E27FC236}">
                <a16:creationId xmlns:a16="http://schemas.microsoft.com/office/drawing/2014/main" id="{531969D9-679C-1AB3-033D-75458D134BD0}"/>
              </a:ext>
            </a:extLst>
          </p:cNvPr>
          <p:cNvSpPr txBox="1"/>
          <p:nvPr/>
        </p:nvSpPr>
        <p:spPr>
          <a:xfrm>
            <a:off x="2628899" y="-38247"/>
            <a:ext cx="63246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AI-Based Personal Finance Manager with Smart Expense Prediction System</a:t>
            </a:r>
            <a:endParaRPr sz="1500" dirty="0">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5" name="object 5"/>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lang="en-IN" dirty="0"/>
              <a:t>-</a:t>
            </a:r>
            <a:r>
              <a:rPr spc="-5" dirty="0"/>
              <a:t> </a:t>
            </a:r>
            <a:r>
              <a:rPr lang="en-IN" spc="-25" dirty="0"/>
              <a:t>06</a:t>
            </a:r>
            <a:endParaRPr spc="-25" dirty="0"/>
          </a:p>
        </p:txBody>
      </p:sp>
      <p:sp>
        <p:nvSpPr>
          <p:cNvPr id="6" name="object 6"/>
          <p:cNvSpPr txBox="1">
            <a:spLocks noGrp="1"/>
          </p:cNvSpPr>
          <p:nvPr>
            <p:ph type="dt" sz="half" idx="6"/>
          </p:nvPr>
        </p:nvSpPr>
        <p:spPr>
          <a:xfrm>
            <a:off x="1773948" y="6629559"/>
            <a:ext cx="40172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7" name="object 7"/>
          <p:cNvSpPr txBox="1"/>
          <p:nvPr/>
        </p:nvSpPr>
        <p:spPr>
          <a:xfrm>
            <a:off x="7147541" y="6629197"/>
            <a:ext cx="41300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11</a:t>
            </a:fld>
            <a:endParaRPr spc="-25" dirty="0"/>
          </a:p>
        </p:txBody>
      </p:sp>
      <p:sp>
        <p:nvSpPr>
          <p:cNvPr id="4" name="object 4"/>
          <p:cNvSpPr txBox="1">
            <a:spLocks noGrp="1"/>
          </p:cNvSpPr>
          <p:nvPr>
            <p:ph type="title"/>
          </p:nvPr>
        </p:nvSpPr>
        <p:spPr>
          <a:xfrm>
            <a:off x="2705705" y="2352272"/>
            <a:ext cx="6692265" cy="1488440"/>
          </a:xfrm>
          <a:prstGeom prst="rect">
            <a:avLst/>
          </a:prstGeom>
        </p:spPr>
        <p:txBody>
          <a:bodyPr vert="horz" wrap="square" lIns="0" tIns="12700" rIns="0" bIns="0" rtlCol="0">
            <a:spAutoFit/>
          </a:bodyPr>
          <a:lstStyle/>
          <a:p>
            <a:pPr marL="12700">
              <a:lnSpc>
                <a:spcPct val="100000"/>
              </a:lnSpc>
              <a:spcBef>
                <a:spcPts val="100"/>
              </a:spcBef>
            </a:pPr>
            <a:r>
              <a:rPr sz="9600" i="1" dirty="0">
                <a:solidFill>
                  <a:srgbClr val="FF6600"/>
                </a:solidFill>
                <a:latin typeface="Times New Roman"/>
                <a:cs typeface="Times New Roman"/>
              </a:rPr>
              <a:t>Any</a:t>
            </a:r>
            <a:r>
              <a:rPr sz="9600" i="1" spc="-30" dirty="0">
                <a:solidFill>
                  <a:srgbClr val="FF6600"/>
                </a:solidFill>
                <a:latin typeface="Times New Roman"/>
                <a:cs typeface="Times New Roman"/>
              </a:rPr>
              <a:t> </a:t>
            </a:r>
            <a:r>
              <a:rPr sz="9600" i="1" spc="-10" dirty="0">
                <a:solidFill>
                  <a:srgbClr val="FF6600"/>
                </a:solidFill>
                <a:latin typeface="Times New Roman"/>
                <a:cs typeface="Times New Roman"/>
              </a:rPr>
              <a:t>Queries?</a:t>
            </a:r>
            <a:endParaRPr sz="9600">
              <a:latin typeface="Times New Roman"/>
              <a:cs typeface="Times New Roman"/>
            </a:endParaRPr>
          </a:p>
        </p:txBody>
      </p:sp>
      <p:sp>
        <p:nvSpPr>
          <p:cNvPr id="9" name="object 2">
            <a:extLst>
              <a:ext uri="{FF2B5EF4-FFF2-40B4-BE49-F238E27FC236}">
                <a16:creationId xmlns:a16="http://schemas.microsoft.com/office/drawing/2014/main" id="{1FB95357-1AC8-3787-8BDD-A655931299CF}"/>
              </a:ext>
            </a:extLst>
          </p:cNvPr>
          <p:cNvSpPr txBox="1"/>
          <p:nvPr/>
        </p:nvSpPr>
        <p:spPr>
          <a:xfrm>
            <a:off x="2628899" y="-38247"/>
            <a:ext cx="63246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AI-Based Personal Finance Manager with Smart Expense Prediction System</a:t>
            </a:r>
            <a:endParaRPr sz="1500" dirty="0">
              <a:latin typeface="Times New Roman"/>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CA3ED-FD00-8D80-6195-3BBAAD1B29F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60799E2-69A4-D03C-1061-DE7E96EF5E8A}"/>
              </a:ext>
            </a:extLst>
          </p:cNvPr>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5" name="object 5">
            <a:extLst>
              <a:ext uri="{FF2B5EF4-FFF2-40B4-BE49-F238E27FC236}">
                <a16:creationId xmlns:a16="http://schemas.microsoft.com/office/drawing/2014/main" id="{9CFB6713-804A-08B5-7F54-19D1630BED50}"/>
              </a:ext>
            </a:extLst>
          </p:cNvPr>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lang="en-IN" dirty="0"/>
              <a:t>-</a:t>
            </a:r>
            <a:r>
              <a:rPr spc="-5" dirty="0"/>
              <a:t> </a:t>
            </a:r>
            <a:r>
              <a:rPr lang="en-IN" spc="-25" dirty="0"/>
              <a:t>06</a:t>
            </a:r>
            <a:endParaRPr spc="-25" dirty="0"/>
          </a:p>
        </p:txBody>
      </p:sp>
      <p:sp>
        <p:nvSpPr>
          <p:cNvPr id="6" name="object 6">
            <a:extLst>
              <a:ext uri="{FF2B5EF4-FFF2-40B4-BE49-F238E27FC236}">
                <a16:creationId xmlns:a16="http://schemas.microsoft.com/office/drawing/2014/main" id="{C5957A7A-CD65-96AE-504D-573850C859A5}"/>
              </a:ext>
            </a:extLst>
          </p:cNvPr>
          <p:cNvSpPr txBox="1">
            <a:spLocks noGrp="1"/>
          </p:cNvSpPr>
          <p:nvPr>
            <p:ph type="dt" sz="half" idx="6"/>
          </p:nvPr>
        </p:nvSpPr>
        <p:spPr>
          <a:xfrm>
            <a:off x="1773948" y="6629559"/>
            <a:ext cx="40172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7" name="object 7">
            <a:extLst>
              <a:ext uri="{FF2B5EF4-FFF2-40B4-BE49-F238E27FC236}">
                <a16:creationId xmlns:a16="http://schemas.microsoft.com/office/drawing/2014/main" id="{D5EEA178-0B2C-E35D-A694-7183BFB18958}"/>
              </a:ext>
            </a:extLst>
          </p:cNvPr>
          <p:cNvSpPr txBox="1"/>
          <p:nvPr/>
        </p:nvSpPr>
        <p:spPr>
          <a:xfrm>
            <a:off x="7147541" y="6629197"/>
            <a:ext cx="41300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8" name="object 8">
            <a:extLst>
              <a:ext uri="{FF2B5EF4-FFF2-40B4-BE49-F238E27FC236}">
                <a16:creationId xmlns:a16="http://schemas.microsoft.com/office/drawing/2014/main" id="{4D84D2A4-ED52-37A1-F03C-0E9069AFDFBB}"/>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12</a:t>
            </a:fld>
            <a:endParaRPr spc="-25" dirty="0"/>
          </a:p>
        </p:txBody>
      </p:sp>
      <p:sp>
        <p:nvSpPr>
          <p:cNvPr id="4" name="object 4">
            <a:extLst>
              <a:ext uri="{FF2B5EF4-FFF2-40B4-BE49-F238E27FC236}">
                <a16:creationId xmlns:a16="http://schemas.microsoft.com/office/drawing/2014/main" id="{E2DEE184-FDA7-887B-0848-374471681780}"/>
              </a:ext>
            </a:extLst>
          </p:cNvPr>
          <p:cNvSpPr txBox="1">
            <a:spLocks noGrp="1"/>
          </p:cNvSpPr>
          <p:nvPr>
            <p:ph type="title"/>
          </p:nvPr>
        </p:nvSpPr>
        <p:spPr>
          <a:xfrm>
            <a:off x="2706766" y="2685864"/>
            <a:ext cx="6778468" cy="1490152"/>
          </a:xfrm>
          <a:prstGeom prst="rect">
            <a:avLst/>
          </a:prstGeom>
        </p:spPr>
        <p:txBody>
          <a:bodyPr vert="horz" wrap="square" lIns="0" tIns="12700" rIns="0" bIns="0" rtlCol="0">
            <a:spAutoFit/>
          </a:bodyPr>
          <a:lstStyle/>
          <a:p>
            <a:pPr marL="12700">
              <a:lnSpc>
                <a:spcPct val="100000"/>
              </a:lnSpc>
              <a:spcBef>
                <a:spcPts val="100"/>
              </a:spcBef>
            </a:pPr>
            <a:r>
              <a:rPr lang="en-US" sz="9600" i="1" dirty="0">
                <a:solidFill>
                  <a:srgbClr val="FF6600"/>
                </a:solidFill>
                <a:latin typeface="Times New Roman"/>
                <a:cs typeface="Times New Roman"/>
              </a:rPr>
              <a:t>Thank You!!!</a:t>
            </a:r>
            <a:endParaRPr sz="9600" dirty="0">
              <a:latin typeface="Times New Roman"/>
              <a:cs typeface="Times New Roman"/>
            </a:endParaRPr>
          </a:p>
        </p:txBody>
      </p:sp>
      <p:sp>
        <p:nvSpPr>
          <p:cNvPr id="9" name="object 2">
            <a:extLst>
              <a:ext uri="{FF2B5EF4-FFF2-40B4-BE49-F238E27FC236}">
                <a16:creationId xmlns:a16="http://schemas.microsoft.com/office/drawing/2014/main" id="{7D5BDDFC-918D-FEF2-9FC5-6A5379894BE6}"/>
              </a:ext>
            </a:extLst>
          </p:cNvPr>
          <p:cNvSpPr txBox="1"/>
          <p:nvPr/>
        </p:nvSpPr>
        <p:spPr>
          <a:xfrm>
            <a:off x="2628899" y="-38247"/>
            <a:ext cx="63246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AI-Based Personal Finance Manager with Smart Expense Prediction System</a:t>
            </a:r>
            <a:endParaRPr sz="1500" dirty="0">
              <a:latin typeface="Times New Roman"/>
              <a:cs typeface="Times New Roman"/>
            </a:endParaRPr>
          </a:p>
        </p:txBody>
      </p:sp>
    </p:spTree>
    <p:extLst>
      <p:ext uri="{BB962C8B-B14F-4D97-AF65-F5344CB8AC3E}">
        <p14:creationId xmlns:p14="http://schemas.microsoft.com/office/powerpoint/2010/main" val="7771628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969</TotalTime>
  <Words>1359</Words>
  <Application>Microsoft Office PowerPoint</Application>
  <PresentationFormat>Widescreen</PresentationFormat>
  <Paragraphs>145</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Lucida Sans Unicode</vt:lpstr>
      <vt:lpstr>Times New Roman</vt:lpstr>
      <vt:lpstr>Wingdings</vt:lpstr>
      <vt:lpstr>Office Theme</vt:lpstr>
      <vt:lpstr>AI-Based Personal Finance Manager with Smart Expense Prediction System</vt:lpstr>
      <vt:lpstr>Contents</vt:lpstr>
      <vt:lpstr>Title Justification</vt:lpstr>
      <vt:lpstr>Abstract</vt:lpstr>
      <vt:lpstr>Problem Statement</vt:lpstr>
      <vt:lpstr>Objectives of Project</vt:lpstr>
      <vt:lpstr>PowerPoint Presentation</vt:lpstr>
      <vt:lpstr>Proposed System</vt:lpstr>
      <vt:lpstr>References</vt:lpstr>
      <vt:lpstr>Git Hub Dashboards of each student</vt:lpstr>
      <vt:lpstr>Any Queries?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Hemanth Kumar</dc:creator>
  <cp:lastModifiedBy>Hemanth Kumar</cp:lastModifiedBy>
  <cp:revision>46</cp:revision>
  <dcterms:created xsi:type="dcterms:W3CDTF">2025-12-04T07:04:46Z</dcterms:created>
  <dcterms:modified xsi:type="dcterms:W3CDTF">2026-05-17T18:59:01Z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2025-12-04T00:00:00Z</vt:filetime>
  </property>
  <property fmtid="{D5CDD505-2E9C-101B-9397-08002B2CF9AE}" pid="3" name="Creator">
    <vt:lpwstr>Google</vt:lpwstr>
  </property>
  <property fmtid="{D5CDD505-2E9C-101B-9397-08002B2CF9AE}" pid="4" name="LastSaved">
    <vt:filetime>2025-12-04T00:00:00Z</vt:filetime>
  </property>
</Properties>
</file>