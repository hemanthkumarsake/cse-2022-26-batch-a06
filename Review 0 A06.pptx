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p:cViewPr varScale="1">
        <p:scale>
          <a:sx n="82" d="100"/>
          <a:sy n="82" d="100"/>
        </p:scale>
        <p:origin x="691"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A22486BD-0CDD-4D05-BE6D-30FDC2FD2F34}" type="datetimeFigureOut">
              <a:rPr lang="en-IN" smtClean="0"/>
              <a:t>12-12-2025</a:t>
            </a:fld>
            <a:endParaRPr lang="en-IN"/>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B22DD3BB-8524-40C8-A9B6-19FD676231C9}" type="slidenum">
              <a:rPr lang="en-IN" smtClean="0"/>
              <a:t>‹#›</a:t>
            </a:fld>
            <a:endParaRPr lang="en-IN"/>
          </a:p>
        </p:txBody>
      </p:sp>
    </p:spTree>
    <p:extLst>
      <p:ext uri="{BB962C8B-B14F-4D97-AF65-F5344CB8AC3E}">
        <p14:creationId xmlns:p14="http://schemas.microsoft.com/office/powerpoint/2010/main" val="1161459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22DD3BB-8524-40C8-A9B6-19FD676231C9}" type="slidenum">
              <a:rPr lang="en-IN" smtClean="0"/>
              <a:t>2</a:t>
            </a:fld>
            <a:endParaRPr lang="en-IN"/>
          </a:p>
        </p:txBody>
      </p:sp>
    </p:spTree>
    <p:extLst>
      <p:ext uri="{BB962C8B-B14F-4D97-AF65-F5344CB8AC3E}">
        <p14:creationId xmlns:p14="http://schemas.microsoft.com/office/powerpoint/2010/main" val="12217965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6" name="Holder 6"/>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Holder 7"/>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4" name="Holder 4"/>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5" name="Holder 5"/>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3" name="Holder 3"/>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4" name="Holder 4"/>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7"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 name="Holder 2"/>
          <p:cNvSpPr>
            <a:spLocks noGrp="1"/>
          </p:cNvSpPr>
          <p:nvPr>
            <p:ph type="title"/>
          </p:nvPr>
        </p:nvSpPr>
        <p:spPr>
          <a:xfrm>
            <a:off x="73025" y="182323"/>
            <a:ext cx="4739005" cy="69596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a:xfrm>
            <a:off x="236899" y="1074318"/>
            <a:ext cx="11346815" cy="3137535"/>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149031" y="6629427"/>
            <a:ext cx="63500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a:xfrm>
            <a:off x="1773949" y="6629558"/>
            <a:ext cx="366141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a:xfrm>
            <a:off x="11793245" y="6629427"/>
            <a:ext cx="228600" cy="250825"/>
          </a:xfrm>
          <a:prstGeom prst="rect">
            <a:avLst/>
          </a:prstGeom>
        </p:spPr>
        <p:txBody>
          <a:bodyPr wrap="square" lIns="0" tIns="0" rIns="0" bIns="0">
            <a:spAutoFit/>
          </a:bodyPr>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777240" y="6634440"/>
            <a:ext cx="11414760" cy="223520"/>
            <a:chOff x="777240" y="6634440"/>
            <a:chExt cx="11414760" cy="223520"/>
          </a:xfrm>
        </p:grpSpPr>
        <p:sp>
          <p:nvSpPr>
            <p:cNvPr id="3" name="object 3"/>
            <p:cNvSpPr/>
            <p:nvPr/>
          </p:nvSpPr>
          <p:spPr>
            <a:xfrm>
              <a:off x="777240" y="6634440"/>
              <a:ext cx="5781675" cy="220979"/>
            </a:xfrm>
            <a:custGeom>
              <a:avLst/>
              <a:gdLst/>
              <a:ahLst/>
              <a:cxnLst/>
              <a:rect l="l" t="t" r="r" b="b"/>
              <a:pathLst>
                <a:path w="5781675" h="220979">
                  <a:moveTo>
                    <a:pt x="5781599" y="220679"/>
                  </a:moveTo>
                  <a:lnTo>
                    <a:pt x="0" y="220679"/>
                  </a:lnTo>
                  <a:lnTo>
                    <a:pt x="0" y="0"/>
                  </a:lnTo>
                  <a:lnTo>
                    <a:pt x="5781599" y="0"/>
                  </a:lnTo>
                  <a:lnTo>
                    <a:pt x="5781599" y="220679"/>
                  </a:lnTo>
                  <a:close/>
                </a:path>
              </a:pathLst>
            </a:custGeom>
            <a:solidFill>
              <a:srgbClr val="002060"/>
            </a:solidFill>
          </p:spPr>
          <p:txBody>
            <a:bodyPr wrap="square" lIns="0" tIns="0" rIns="0" bIns="0" rtlCol="0"/>
            <a:lstStyle/>
            <a:p>
              <a:endParaRPr/>
            </a:p>
          </p:txBody>
        </p:sp>
        <p:sp>
          <p:nvSpPr>
            <p:cNvPr id="4" name="object 4"/>
            <p:cNvSpPr/>
            <p:nvPr/>
          </p:nvSpPr>
          <p:spPr>
            <a:xfrm>
              <a:off x="6559199" y="6634440"/>
              <a:ext cx="5194935" cy="220979"/>
            </a:xfrm>
            <a:custGeom>
              <a:avLst/>
              <a:gdLst/>
              <a:ahLst/>
              <a:cxnLst/>
              <a:rect l="l" t="t" r="r" b="b"/>
              <a:pathLst>
                <a:path w="5194934" h="220979">
                  <a:moveTo>
                    <a:pt x="5194799" y="220679"/>
                  </a:moveTo>
                  <a:lnTo>
                    <a:pt x="0" y="220679"/>
                  </a:lnTo>
                  <a:lnTo>
                    <a:pt x="0" y="0"/>
                  </a:lnTo>
                  <a:lnTo>
                    <a:pt x="5194799" y="0"/>
                  </a:lnTo>
                  <a:lnTo>
                    <a:pt x="5194799" y="220679"/>
                  </a:lnTo>
                  <a:close/>
                </a:path>
              </a:pathLst>
            </a:custGeom>
            <a:solidFill>
              <a:srgbClr val="008080"/>
            </a:solidFill>
          </p:spPr>
          <p:txBody>
            <a:bodyPr wrap="square" lIns="0" tIns="0" rIns="0" bIns="0" rtlCol="0"/>
            <a:lstStyle/>
            <a:p>
              <a:endParaRPr/>
            </a:p>
          </p:txBody>
        </p:sp>
        <p:sp>
          <p:nvSpPr>
            <p:cNvPr id="5" name="object 5"/>
            <p:cNvSpPr/>
            <p:nvPr/>
          </p:nvSpPr>
          <p:spPr>
            <a:xfrm>
              <a:off x="11754359" y="6636960"/>
              <a:ext cx="437515" cy="220979"/>
            </a:xfrm>
            <a:custGeom>
              <a:avLst/>
              <a:gdLst/>
              <a:ahLst/>
              <a:cxnLst/>
              <a:rect l="l" t="t" r="r" b="b"/>
              <a:pathLst>
                <a:path w="437515" h="220979">
                  <a:moveTo>
                    <a:pt x="437399" y="220679"/>
                  </a:moveTo>
                  <a:lnTo>
                    <a:pt x="0" y="220679"/>
                  </a:lnTo>
                  <a:lnTo>
                    <a:pt x="0" y="0"/>
                  </a:lnTo>
                  <a:lnTo>
                    <a:pt x="437399" y="0"/>
                  </a:lnTo>
                  <a:lnTo>
                    <a:pt x="437399" y="220679"/>
                  </a:lnTo>
                  <a:close/>
                </a:path>
              </a:pathLst>
            </a:custGeom>
            <a:solidFill>
              <a:srgbClr val="FFC000"/>
            </a:solidFill>
          </p:spPr>
          <p:txBody>
            <a:bodyPr wrap="square" lIns="0" tIns="0" rIns="0" bIns="0" rtlCol="0"/>
            <a:lstStyle/>
            <a:p>
              <a:endParaRPr/>
            </a:p>
          </p:txBody>
        </p:sp>
      </p:grpSp>
      <p:sp>
        <p:nvSpPr>
          <p:cNvPr id="6" name="object 6"/>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7" name="object 7"/>
          <p:cNvSpPr/>
          <p:nvPr/>
        </p:nvSpPr>
        <p:spPr>
          <a:xfrm>
            <a:off x="0" y="6634440"/>
            <a:ext cx="777240" cy="221615"/>
          </a:xfrm>
          <a:custGeom>
            <a:avLst/>
            <a:gdLst/>
            <a:ahLst/>
            <a:cxnLst/>
            <a:rect l="l" t="t" r="r" b="b"/>
            <a:pathLst>
              <a:path w="777240" h="221615">
                <a:moveTo>
                  <a:pt x="776879" y="221039"/>
                </a:moveTo>
                <a:lnTo>
                  <a:pt x="0" y="221039"/>
                </a:lnTo>
                <a:lnTo>
                  <a:pt x="0" y="0"/>
                </a:lnTo>
                <a:lnTo>
                  <a:pt x="776879" y="0"/>
                </a:lnTo>
                <a:lnTo>
                  <a:pt x="776879" y="221039"/>
                </a:lnTo>
                <a:close/>
              </a:path>
            </a:pathLst>
          </a:custGeom>
          <a:solidFill>
            <a:srgbClr val="C55A11"/>
          </a:solidFill>
        </p:spPr>
        <p:txBody>
          <a:bodyPr wrap="square" lIns="0" tIns="0" rIns="0" bIns="0" rtlCol="0"/>
          <a:lstStyle/>
          <a:p>
            <a:endParaRPr/>
          </a:p>
        </p:txBody>
      </p:sp>
      <p:sp>
        <p:nvSpPr>
          <p:cNvPr id="8" name="object 8"/>
          <p:cNvSpPr txBox="1"/>
          <p:nvPr/>
        </p:nvSpPr>
        <p:spPr>
          <a:xfrm>
            <a:off x="4551746" y="1665226"/>
            <a:ext cx="3674597" cy="423834"/>
          </a:xfrm>
          <a:prstGeom prst="rect">
            <a:avLst/>
          </a:prstGeom>
        </p:spPr>
        <p:txBody>
          <a:bodyPr vert="horz" wrap="square" lIns="0" tIns="13335" rIns="0" bIns="0" rtlCol="0">
            <a:spAutoFit/>
          </a:bodyPr>
          <a:lstStyle/>
          <a:p>
            <a:pPr algn="ctr">
              <a:lnSpc>
                <a:spcPts val="2080"/>
              </a:lnSpc>
              <a:spcBef>
                <a:spcPts val="105"/>
              </a:spcBef>
            </a:pPr>
            <a:r>
              <a:rPr lang="en-US" sz="2400" dirty="0">
                <a:latin typeface="Times New Roman"/>
                <a:cs typeface="Times New Roman"/>
              </a:rPr>
              <a:t>B. JAHNAV ARJUN GOWD</a:t>
            </a:r>
            <a:endParaRPr sz="2400" dirty="0">
              <a:latin typeface="Times New Roman"/>
              <a:cs typeface="Times New Roman"/>
            </a:endParaRPr>
          </a:p>
          <a:p>
            <a:pPr marL="635" algn="ctr">
              <a:lnSpc>
                <a:spcPts val="1060"/>
              </a:lnSpc>
            </a:pPr>
            <a:r>
              <a:rPr sz="1100" dirty="0">
                <a:latin typeface="Times New Roman"/>
                <a:cs typeface="Times New Roman"/>
              </a:rPr>
              <a:t>Roll</a:t>
            </a:r>
            <a:r>
              <a:rPr sz="1100" spc="5" dirty="0">
                <a:latin typeface="Times New Roman"/>
                <a:cs typeface="Times New Roman"/>
              </a:rPr>
              <a:t> </a:t>
            </a:r>
            <a:r>
              <a:rPr sz="1100" dirty="0">
                <a:latin typeface="Times New Roman"/>
                <a:cs typeface="Times New Roman"/>
              </a:rPr>
              <a:t>No.</a:t>
            </a:r>
            <a:r>
              <a:rPr sz="1100" spc="5" dirty="0">
                <a:latin typeface="Times New Roman"/>
                <a:cs typeface="Times New Roman"/>
              </a:rPr>
              <a:t> </a:t>
            </a:r>
            <a:r>
              <a:rPr sz="1100" spc="-10" dirty="0">
                <a:latin typeface="Times New Roman"/>
                <a:cs typeface="Times New Roman"/>
              </a:rPr>
              <a:t>2</a:t>
            </a:r>
            <a:r>
              <a:rPr lang="en-US" sz="1100" spc="-10" dirty="0">
                <a:latin typeface="Times New Roman"/>
                <a:cs typeface="Times New Roman"/>
              </a:rPr>
              <a:t>2</a:t>
            </a:r>
            <a:r>
              <a:rPr sz="1100" spc="-10" dirty="0">
                <a:latin typeface="Times New Roman"/>
                <a:cs typeface="Times New Roman"/>
              </a:rPr>
              <a:t>4G1A05</a:t>
            </a:r>
            <a:r>
              <a:rPr lang="en-US" sz="1100" spc="-10" dirty="0">
                <a:latin typeface="Times New Roman"/>
                <a:cs typeface="Times New Roman"/>
              </a:rPr>
              <a:t>32</a:t>
            </a:r>
            <a:endParaRPr sz="1100" dirty="0">
              <a:latin typeface="Times New Roman"/>
              <a:cs typeface="Times New Roman"/>
            </a:endParaRPr>
          </a:p>
        </p:txBody>
      </p:sp>
      <p:sp>
        <p:nvSpPr>
          <p:cNvPr id="9" name="object 9"/>
          <p:cNvSpPr txBox="1"/>
          <p:nvPr/>
        </p:nvSpPr>
        <p:spPr>
          <a:xfrm>
            <a:off x="4401823" y="2322009"/>
            <a:ext cx="3382017" cy="901337"/>
          </a:xfrm>
          <a:prstGeom prst="rect">
            <a:avLst/>
          </a:prstGeom>
        </p:spPr>
        <p:txBody>
          <a:bodyPr vert="horz" wrap="square" lIns="0" tIns="12700" rIns="0" bIns="0" rtlCol="0">
            <a:spAutoFit/>
          </a:bodyPr>
          <a:lstStyle/>
          <a:p>
            <a:pPr marL="635" algn="ctr">
              <a:lnSpc>
                <a:spcPts val="1630"/>
              </a:lnSpc>
              <a:spcBef>
                <a:spcPts val="100"/>
              </a:spcBef>
            </a:pPr>
            <a:r>
              <a:rPr sz="1400" i="1" dirty="0">
                <a:latin typeface="Times New Roman"/>
                <a:cs typeface="Times New Roman"/>
              </a:rPr>
              <a:t>Under</a:t>
            </a:r>
            <a:r>
              <a:rPr sz="1400" i="1" spc="-35" dirty="0">
                <a:latin typeface="Times New Roman"/>
                <a:cs typeface="Times New Roman"/>
              </a:rPr>
              <a:t> </a:t>
            </a:r>
            <a:r>
              <a:rPr sz="1400" i="1" dirty="0">
                <a:latin typeface="Times New Roman"/>
                <a:cs typeface="Times New Roman"/>
              </a:rPr>
              <a:t>the</a:t>
            </a:r>
            <a:r>
              <a:rPr sz="1400" i="1" spc="-35" dirty="0">
                <a:latin typeface="Times New Roman"/>
                <a:cs typeface="Times New Roman"/>
              </a:rPr>
              <a:t> </a:t>
            </a:r>
            <a:r>
              <a:rPr sz="1400" i="1" spc="-10" dirty="0">
                <a:latin typeface="Times New Roman"/>
                <a:cs typeface="Times New Roman"/>
              </a:rPr>
              <a:t>guidance</a:t>
            </a:r>
            <a:r>
              <a:rPr sz="1400" i="1" spc="-35" dirty="0">
                <a:latin typeface="Times New Roman"/>
                <a:cs typeface="Times New Roman"/>
              </a:rPr>
              <a:t> </a:t>
            </a:r>
            <a:r>
              <a:rPr sz="1400" i="1" spc="-25" dirty="0">
                <a:latin typeface="Times New Roman"/>
                <a:cs typeface="Times New Roman"/>
              </a:rPr>
              <a:t>of</a:t>
            </a:r>
            <a:endParaRPr sz="1400" dirty="0">
              <a:latin typeface="Times New Roman"/>
              <a:cs typeface="Times New Roman"/>
            </a:endParaRPr>
          </a:p>
          <a:p>
            <a:pPr marL="12065" marR="5080" algn="ctr">
              <a:lnSpc>
                <a:spcPts val="2790"/>
              </a:lnSpc>
              <a:spcBef>
                <a:spcPts val="114"/>
              </a:spcBef>
            </a:pPr>
            <a:r>
              <a:rPr lang="en-US" sz="2400" dirty="0">
                <a:latin typeface="Times New Roman"/>
                <a:cs typeface="Times New Roman"/>
              </a:rPr>
              <a:t>Mr. P. SHAJAHAN</a:t>
            </a:r>
            <a:r>
              <a:rPr sz="2400" spc="-10" dirty="0">
                <a:latin typeface="Times New Roman"/>
                <a:cs typeface="Times New Roman"/>
              </a:rPr>
              <a:t>,</a:t>
            </a:r>
            <a:r>
              <a:rPr lang="en-US" sz="2400" spc="-10" dirty="0">
                <a:latin typeface="Times New Roman"/>
                <a:cs typeface="Times New Roman"/>
              </a:rPr>
              <a:t> </a:t>
            </a:r>
            <a:r>
              <a:rPr kumimoji="0" lang="en-IN" sz="1400" b="0" i="0" u="none" strike="noStrike" kern="0" cap="none" spc="-10" normalizeH="0" baseline="0" noProof="0" dirty="0" err="1">
                <a:ln>
                  <a:noFill/>
                </a:ln>
                <a:solidFill>
                  <a:sysClr val="windowText" lastClr="000000"/>
                </a:solidFill>
                <a:effectLst/>
                <a:uLnTx/>
                <a:uFillTx/>
                <a:latin typeface="Times New Roman"/>
                <a:cs typeface="Times New Roman"/>
              </a:rPr>
              <a:t>M.Tech</a:t>
            </a:r>
            <a:r>
              <a:rPr kumimoji="0" lang="en-IN" sz="1400" b="0" i="0" u="none" strike="noStrike" kern="0" cap="none" spc="-10" normalizeH="0" baseline="0" noProof="0" dirty="0">
                <a:ln>
                  <a:noFill/>
                </a:ln>
                <a:solidFill>
                  <a:sysClr val="windowText" lastClr="000000"/>
                </a:solidFill>
                <a:effectLst/>
                <a:uLnTx/>
                <a:uFillTx/>
                <a:latin typeface="Times New Roman"/>
                <a:cs typeface="Times New Roman"/>
              </a:rPr>
              <a:t>.</a:t>
            </a:r>
            <a:r>
              <a:rPr lang="en-US" sz="2400" spc="-10" dirty="0">
                <a:latin typeface="Times New Roman"/>
                <a:cs typeface="Times New Roman"/>
              </a:rPr>
              <a:t> </a:t>
            </a:r>
            <a:r>
              <a:rPr sz="2400" spc="-10" dirty="0">
                <a:latin typeface="Times New Roman"/>
                <a:cs typeface="Times New Roman"/>
              </a:rPr>
              <a:t> </a:t>
            </a:r>
            <a:r>
              <a:rPr lang="en-IN" sz="1400" spc="-10" dirty="0">
                <a:latin typeface="Times New Roman"/>
                <a:cs typeface="Times New Roman"/>
              </a:rPr>
              <a:t>Assistant Professor</a:t>
            </a:r>
            <a:endParaRPr sz="1400" dirty="0">
              <a:latin typeface="Times New Roman"/>
              <a:cs typeface="Times New Roman"/>
            </a:endParaRPr>
          </a:p>
        </p:txBody>
      </p:sp>
      <p:sp>
        <p:nvSpPr>
          <p:cNvPr id="10" name="object 10"/>
          <p:cNvSpPr txBox="1"/>
          <p:nvPr/>
        </p:nvSpPr>
        <p:spPr>
          <a:xfrm>
            <a:off x="2147578" y="5096081"/>
            <a:ext cx="7890509" cy="1448435"/>
          </a:xfrm>
          <a:prstGeom prst="rect">
            <a:avLst/>
          </a:prstGeom>
        </p:spPr>
        <p:txBody>
          <a:bodyPr vert="horz" wrap="square" lIns="0" tIns="13335" rIns="0" bIns="0" rtlCol="0">
            <a:spAutoFit/>
          </a:bodyPr>
          <a:lstStyle/>
          <a:p>
            <a:pPr marL="4445" algn="ctr">
              <a:lnSpc>
                <a:spcPts val="2300"/>
              </a:lnSpc>
              <a:spcBef>
                <a:spcPts val="105"/>
              </a:spcBef>
            </a:pPr>
            <a:r>
              <a:rPr sz="2200" dirty="0">
                <a:latin typeface="Times New Roman"/>
                <a:cs typeface="Times New Roman"/>
              </a:rPr>
              <a:t>Department</a:t>
            </a:r>
            <a:r>
              <a:rPr sz="2200" spc="-25" dirty="0">
                <a:latin typeface="Times New Roman"/>
                <a:cs typeface="Times New Roman"/>
              </a:rPr>
              <a:t> </a:t>
            </a:r>
            <a:r>
              <a:rPr sz="2200" dirty="0">
                <a:latin typeface="Times New Roman"/>
                <a:cs typeface="Times New Roman"/>
              </a:rPr>
              <a:t>of</a:t>
            </a:r>
            <a:r>
              <a:rPr sz="2200" spc="-15" dirty="0">
                <a:latin typeface="Times New Roman"/>
                <a:cs typeface="Times New Roman"/>
              </a:rPr>
              <a:t> </a:t>
            </a:r>
            <a:r>
              <a:rPr sz="2200" dirty="0">
                <a:latin typeface="Times New Roman"/>
                <a:cs typeface="Times New Roman"/>
              </a:rPr>
              <a:t>Computer</a:t>
            </a:r>
            <a:r>
              <a:rPr sz="2200" spc="-15" dirty="0">
                <a:latin typeface="Times New Roman"/>
                <a:cs typeface="Times New Roman"/>
              </a:rPr>
              <a:t> </a:t>
            </a:r>
            <a:r>
              <a:rPr sz="2200" dirty="0">
                <a:latin typeface="Times New Roman"/>
                <a:cs typeface="Times New Roman"/>
              </a:rPr>
              <a:t>Science</a:t>
            </a:r>
            <a:r>
              <a:rPr sz="2200" spc="-20" dirty="0">
                <a:latin typeface="Times New Roman"/>
                <a:cs typeface="Times New Roman"/>
              </a:rPr>
              <a:t> </a:t>
            </a:r>
            <a:r>
              <a:rPr sz="2200" dirty="0">
                <a:latin typeface="Times New Roman"/>
                <a:cs typeface="Times New Roman"/>
              </a:rPr>
              <a:t>and</a:t>
            </a:r>
            <a:r>
              <a:rPr sz="2200" spc="-15" dirty="0">
                <a:latin typeface="Times New Roman"/>
                <a:cs typeface="Times New Roman"/>
              </a:rPr>
              <a:t> </a:t>
            </a:r>
            <a:r>
              <a:rPr sz="2200" dirty="0">
                <a:latin typeface="Times New Roman"/>
                <a:cs typeface="Times New Roman"/>
              </a:rPr>
              <a:t>Engineering</a:t>
            </a:r>
          </a:p>
          <a:p>
            <a:pPr algn="ctr">
              <a:lnSpc>
                <a:spcPts val="3565"/>
              </a:lnSpc>
            </a:pPr>
            <a:r>
              <a:rPr sz="3400" dirty="0">
                <a:solidFill>
                  <a:srgbClr val="FF0000"/>
                </a:solidFill>
                <a:latin typeface="Times New Roman"/>
                <a:cs typeface="Times New Roman"/>
              </a:rPr>
              <a:t>Srinivasa</a:t>
            </a:r>
            <a:r>
              <a:rPr sz="3400" spc="-20" dirty="0">
                <a:solidFill>
                  <a:srgbClr val="FF0000"/>
                </a:solidFill>
                <a:latin typeface="Times New Roman"/>
                <a:cs typeface="Times New Roman"/>
              </a:rPr>
              <a:t> </a:t>
            </a:r>
            <a:r>
              <a:rPr sz="3400" dirty="0">
                <a:solidFill>
                  <a:srgbClr val="FF0000"/>
                </a:solidFill>
                <a:latin typeface="Times New Roman"/>
                <a:cs typeface="Times New Roman"/>
              </a:rPr>
              <a:t>Ramanujan</a:t>
            </a:r>
            <a:r>
              <a:rPr sz="3400" spc="-20" dirty="0">
                <a:solidFill>
                  <a:srgbClr val="FF0000"/>
                </a:solidFill>
                <a:latin typeface="Times New Roman"/>
                <a:cs typeface="Times New Roman"/>
              </a:rPr>
              <a:t> </a:t>
            </a:r>
            <a:r>
              <a:rPr sz="3400" dirty="0">
                <a:solidFill>
                  <a:srgbClr val="FF0000"/>
                </a:solidFill>
                <a:latin typeface="Times New Roman"/>
                <a:cs typeface="Times New Roman"/>
              </a:rPr>
              <a:t>Institute</a:t>
            </a:r>
            <a:r>
              <a:rPr sz="3400" spc="-20" dirty="0">
                <a:solidFill>
                  <a:srgbClr val="FF0000"/>
                </a:solidFill>
                <a:latin typeface="Times New Roman"/>
                <a:cs typeface="Times New Roman"/>
              </a:rPr>
              <a:t> </a:t>
            </a:r>
            <a:r>
              <a:rPr sz="3400" dirty="0">
                <a:solidFill>
                  <a:srgbClr val="FF0000"/>
                </a:solidFill>
                <a:latin typeface="Times New Roman"/>
                <a:cs typeface="Times New Roman"/>
              </a:rPr>
              <a:t>of</a:t>
            </a:r>
            <a:r>
              <a:rPr sz="3400" spc="-20" dirty="0">
                <a:solidFill>
                  <a:srgbClr val="FF0000"/>
                </a:solidFill>
                <a:latin typeface="Times New Roman"/>
                <a:cs typeface="Times New Roman"/>
              </a:rPr>
              <a:t> </a:t>
            </a:r>
            <a:r>
              <a:rPr sz="3400" spc="-10" dirty="0">
                <a:solidFill>
                  <a:srgbClr val="FF0000"/>
                </a:solidFill>
                <a:latin typeface="Times New Roman"/>
                <a:cs typeface="Times New Roman"/>
              </a:rPr>
              <a:t>Technology</a:t>
            </a:r>
            <a:endParaRPr sz="3400" dirty="0">
              <a:latin typeface="Times New Roman"/>
              <a:cs typeface="Times New Roman"/>
            </a:endParaRPr>
          </a:p>
          <a:p>
            <a:pPr marL="6350" algn="ctr">
              <a:lnSpc>
                <a:spcPts val="1850"/>
              </a:lnSpc>
            </a:pPr>
            <a:r>
              <a:rPr sz="1750" b="1" spc="-10" dirty="0">
                <a:latin typeface="Times New Roman"/>
                <a:cs typeface="Times New Roman"/>
              </a:rPr>
              <a:t>Autonomous</a:t>
            </a:r>
            <a:endParaRPr sz="1750" dirty="0">
              <a:latin typeface="Times New Roman"/>
              <a:cs typeface="Times New Roman"/>
            </a:endParaRPr>
          </a:p>
          <a:p>
            <a:pPr marL="7620" algn="ctr">
              <a:lnSpc>
                <a:spcPts val="1370"/>
              </a:lnSpc>
            </a:pPr>
            <a:r>
              <a:rPr sz="1200" b="1" dirty="0">
                <a:latin typeface="Times New Roman"/>
                <a:cs typeface="Times New Roman"/>
              </a:rPr>
              <a:t>Rotarypuram</a:t>
            </a:r>
            <a:r>
              <a:rPr sz="1200" b="1" spc="-10" dirty="0">
                <a:latin typeface="Times New Roman"/>
                <a:cs typeface="Times New Roman"/>
              </a:rPr>
              <a:t> </a:t>
            </a:r>
            <a:r>
              <a:rPr sz="1200" b="1" dirty="0">
                <a:latin typeface="Times New Roman"/>
                <a:cs typeface="Times New Roman"/>
              </a:rPr>
              <a:t>Village,</a:t>
            </a:r>
            <a:r>
              <a:rPr sz="1200" b="1" spc="-5" dirty="0">
                <a:latin typeface="Times New Roman"/>
                <a:cs typeface="Times New Roman"/>
              </a:rPr>
              <a:t> </a:t>
            </a:r>
            <a:r>
              <a:rPr sz="1200" b="1" dirty="0">
                <a:latin typeface="Times New Roman"/>
                <a:cs typeface="Times New Roman"/>
              </a:rPr>
              <a:t>B</a:t>
            </a:r>
            <a:r>
              <a:rPr sz="1200" b="1" spc="-10" dirty="0">
                <a:latin typeface="Times New Roman"/>
                <a:cs typeface="Times New Roman"/>
              </a:rPr>
              <a:t> </a:t>
            </a:r>
            <a:r>
              <a:rPr sz="1200" b="1" dirty="0">
                <a:latin typeface="Times New Roman"/>
                <a:cs typeface="Times New Roman"/>
              </a:rPr>
              <a:t>K</a:t>
            </a:r>
            <a:r>
              <a:rPr sz="1200" b="1" spc="-5" dirty="0">
                <a:latin typeface="Times New Roman"/>
                <a:cs typeface="Times New Roman"/>
              </a:rPr>
              <a:t> </a:t>
            </a:r>
            <a:r>
              <a:rPr sz="1200" b="1" dirty="0">
                <a:latin typeface="Times New Roman"/>
                <a:cs typeface="Times New Roman"/>
              </a:rPr>
              <a:t>Samudram</a:t>
            </a:r>
            <a:r>
              <a:rPr sz="1200" b="1" spc="-10" dirty="0">
                <a:latin typeface="Times New Roman"/>
                <a:cs typeface="Times New Roman"/>
              </a:rPr>
              <a:t> </a:t>
            </a:r>
            <a:r>
              <a:rPr sz="1200" b="1" dirty="0">
                <a:latin typeface="Times New Roman"/>
                <a:cs typeface="Times New Roman"/>
              </a:rPr>
              <a:t>Mandal,</a:t>
            </a:r>
            <a:r>
              <a:rPr sz="1200" b="1" spc="-5" dirty="0">
                <a:latin typeface="Times New Roman"/>
                <a:cs typeface="Times New Roman"/>
              </a:rPr>
              <a:t> </a:t>
            </a:r>
            <a:r>
              <a:rPr sz="1200" b="1" dirty="0">
                <a:latin typeface="Times New Roman"/>
                <a:cs typeface="Times New Roman"/>
              </a:rPr>
              <a:t>Ananthapuramu</a:t>
            </a:r>
            <a:r>
              <a:rPr sz="1200" b="1" spc="-10" dirty="0">
                <a:latin typeface="Times New Roman"/>
                <a:cs typeface="Times New Roman"/>
              </a:rPr>
              <a:t> </a:t>
            </a:r>
            <a:r>
              <a:rPr sz="1200" b="1" dirty="0">
                <a:latin typeface="Times New Roman"/>
                <a:cs typeface="Times New Roman"/>
              </a:rPr>
              <a:t>–</a:t>
            </a:r>
            <a:r>
              <a:rPr sz="1200" b="1" spc="-5" dirty="0">
                <a:latin typeface="Times New Roman"/>
                <a:cs typeface="Times New Roman"/>
              </a:rPr>
              <a:t> </a:t>
            </a:r>
            <a:r>
              <a:rPr sz="1200" b="1" spc="-10" dirty="0">
                <a:latin typeface="Times New Roman"/>
                <a:cs typeface="Times New Roman"/>
              </a:rPr>
              <a:t>515701.</a:t>
            </a:r>
            <a:endParaRPr sz="1200" dirty="0">
              <a:latin typeface="Times New Roman"/>
              <a:cs typeface="Times New Roman"/>
            </a:endParaRPr>
          </a:p>
          <a:p>
            <a:pPr marL="6985" algn="ctr">
              <a:lnSpc>
                <a:spcPct val="100000"/>
              </a:lnSpc>
              <a:spcBef>
                <a:spcPts val="545"/>
              </a:spcBef>
            </a:pPr>
            <a:r>
              <a:rPr sz="1300" b="1" dirty="0">
                <a:solidFill>
                  <a:srgbClr val="1E4E78"/>
                </a:solidFill>
                <a:latin typeface="Times New Roman"/>
                <a:cs typeface="Times New Roman"/>
              </a:rPr>
              <a:t>202</a:t>
            </a:r>
            <a:r>
              <a:rPr lang="en-US" sz="1300" b="1" dirty="0">
                <a:solidFill>
                  <a:srgbClr val="1E4E78"/>
                </a:solidFill>
                <a:latin typeface="Times New Roman"/>
                <a:cs typeface="Times New Roman"/>
              </a:rPr>
              <a:t>5</a:t>
            </a:r>
            <a:r>
              <a:rPr sz="1300" b="1" dirty="0">
                <a:solidFill>
                  <a:srgbClr val="1E4E78"/>
                </a:solidFill>
                <a:latin typeface="Times New Roman"/>
                <a:cs typeface="Times New Roman"/>
              </a:rPr>
              <a:t>-</a:t>
            </a:r>
            <a:r>
              <a:rPr sz="1300" b="1" spc="-20" dirty="0">
                <a:solidFill>
                  <a:srgbClr val="1E4E78"/>
                </a:solidFill>
                <a:latin typeface="Times New Roman"/>
                <a:cs typeface="Times New Roman"/>
              </a:rPr>
              <a:t>20</a:t>
            </a:r>
            <a:r>
              <a:rPr lang="en-IN" sz="1300" b="1" spc="-20" dirty="0">
                <a:solidFill>
                  <a:srgbClr val="1E4E78"/>
                </a:solidFill>
                <a:latin typeface="Times New Roman"/>
                <a:cs typeface="Times New Roman"/>
              </a:rPr>
              <a:t>26</a:t>
            </a:r>
            <a:endParaRPr sz="1300" dirty="0">
              <a:latin typeface="Times New Roman"/>
              <a:cs typeface="Times New Roman"/>
            </a:endParaRPr>
          </a:p>
        </p:txBody>
      </p:sp>
      <p:sp>
        <p:nvSpPr>
          <p:cNvPr id="11" name="object 11"/>
          <p:cNvSpPr txBox="1"/>
          <p:nvPr/>
        </p:nvSpPr>
        <p:spPr>
          <a:xfrm>
            <a:off x="784032" y="1650399"/>
            <a:ext cx="3358472" cy="463588"/>
          </a:xfrm>
          <a:prstGeom prst="rect">
            <a:avLst/>
          </a:prstGeom>
        </p:spPr>
        <p:txBody>
          <a:bodyPr vert="horz" wrap="square" lIns="0" tIns="14605" rIns="0" bIns="0" rtlCol="0">
            <a:spAutoFit/>
          </a:bodyPr>
          <a:lstStyle/>
          <a:p>
            <a:pPr algn="ctr">
              <a:lnSpc>
                <a:spcPts val="2380"/>
              </a:lnSpc>
              <a:spcBef>
                <a:spcPts val="115"/>
              </a:spcBef>
            </a:pPr>
            <a:r>
              <a:rPr lang="en-IN" sz="2600" dirty="0">
                <a:latin typeface="Times New Roman"/>
                <a:cs typeface="Times New Roman"/>
              </a:rPr>
              <a:t>S. HEMANTH KUMAR</a:t>
            </a:r>
            <a:endParaRPr sz="2600" dirty="0">
              <a:latin typeface="Times New Roman"/>
              <a:cs typeface="Times New Roman"/>
            </a:endParaRPr>
          </a:p>
          <a:p>
            <a:pPr marL="1270" algn="ctr">
              <a:lnSpc>
                <a:spcPts val="1060"/>
              </a:lnSpc>
            </a:pPr>
            <a:r>
              <a:rPr sz="1300" dirty="0">
                <a:latin typeface="Times New Roman"/>
                <a:cs typeface="Times New Roman"/>
              </a:rPr>
              <a:t>Roll</a:t>
            </a:r>
            <a:r>
              <a:rPr sz="1300" spc="40" dirty="0">
                <a:latin typeface="Times New Roman"/>
                <a:cs typeface="Times New Roman"/>
              </a:rPr>
              <a:t> </a:t>
            </a:r>
            <a:r>
              <a:rPr sz="1300" dirty="0">
                <a:latin typeface="Times New Roman"/>
                <a:cs typeface="Times New Roman"/>
              </a:rPr>
              <a:t>No.</a:t>
            </a:r>
            <a:r>
              <a:rPr sz="1300" spc="40" dirty="0">
                <a:latin typeface="Times New Roman"/>
                <a:cs typeface="Times New Roman"/>
              </a:rPr>
              <a:t> </a:t>
            </a:r>
            <a:r>
              <a:rPr lang="en-US" sz="1300" spc="-10" dirty="0">
                <a:latin typeface="Times New Roman"/>
                <a:cs typeface="Times New Roman"/>
              </a:rPr>
              <a:t>2</a:t>
            </a:r>
            <a:r>
              <a:rPr sz="1300" spc="-10" dirty="0">
                <a:latin typeface="Times New Roman"/>
                <a:cs typeface="Times New Roman"/>
              </a:rPr>
              <a:t>24G1A05</a:t>
            </a:r>
            <a:r>
              <a:rPr lang="en-US" sz="1300" spc="-10" dirty="0">
                <a:latin typeface="Times New Roman"/>
                <a:cs typeface="Times New Roman"/>
              </a:rPr>
              <a:t>28</a:t>
            </a:r>
            <a:endParaRPr sz="1300" dirty="0">
              <a:latin typeface="Times New Roman"/>
              <a:cs typeface="Times New Roman"/>
            </a:endParaRPr>
          </a:p>
        </p:txBody>
      </p:sp>
      <p:sp>
        <p:nvSpPr>
          <p:cNvPr id="12" name="object 12"/>
          <p:cNvSpPr txBox="1"/>
          <p:nvPr/>
        </p:nvSpPr>
        <p:spPr>
          <a:xfrm>
            <a:off x="8635585" y="1648911"/>
            <a:ext cx="1844675" cy="424815"/>
          </a:xfrm>
          <a:prstGeom prst="rect">
            <a:avLst/>
          </a:prstGeom>
        </p:spPr>
        <p:txBody>
          <a:bodyPr vert="horz" wrap="square" lIns="0" tIns="13335" rIns="0" bIns="0" rtlCol="0">
            <a:spAutoFit/>
          </a:bodyPr>
          <a:lstStyle/>
          <a:p>
            <a:pPr algn="ctr">
              <a:lnSpc>
                <a:spcPts val="2080"/>
              </a:lnSpc>
              <a:spcBef>
                <a:spcPts val="105"/>
              </a:spcBef>
            </a:pPr>
            <a:r>
              <a:rPr sz="2400" dirty="0">
                <a:latin typeface="Times New Roman"/>
                <a:cs typeface="Times New Roman"/>
              </a:rPr>
              <a:t>T</a:t>
            </a:r>
            <a:r>
              <a:rPr lang="en-US" sz="2400" dirty="0">
                <a:latin typeface="Times New Roman"/>
                <a:cs typeface="Times New Roman"/>
              </a:rPr>
              <a:t>. PAVAN</a:t>
            </a:r>
            <a:endParaRPr sz="2400" dirty="0">
              <a:latin typeface="Times New Roman"/>
              <a:cs typeface="Times New Roman"/>
            </a:endParaRPr>
          </a:p>
          <a:p>
            <a:pPr marL="635" algn="ctr">
              <a:lnSpc>
                <a:spcPts val="1060"/>
              </a:lnSpc>
            </a:pPr>
            <a:r>
              <a:rPr sz="1100" dirty="0">
                <a:latin typeface="Times New Roman"/>
                <a:cs typeface="Times New Roman"/>
              </a:rPr>
              <a:t>Roll</a:t>
            </a:r>
            <a:r>
              <a:rPr sz="1100" spc="5" dirty="0">
                <a:latin typeface="Times New Roman"/>
                <a:cs typeface="Times New Roman"/>
              </a:rPr>
              <a:t> </a:t>
            </a:r>
            <a:r>
              <a:rPr sz="1100" dirty="0">
                <a:latin typeface="Times New Roman"/>
                <a:cs typeface="Times New Roman"/>
              </a:rPr>
              <a:t>No.</a:t>
            </a:r>
            <a:r>
              <a:rPr sz="1100" spc="5" dirty="0">
                <a:latin typeface="Times New Roman"/>
                <a:cs typeface="Times New Roman"/>
              </a:rPr>
              <a:t> </a:t>
            </a:r>
            <a:r>
              <a:rPr lang="en-US" sz="1100" spc="-10" dirty="0">
                <a:latin typeface="Times New Roman"/>
                <a:cs typeface="Times New Roman"/>
              </a:rPr>
              <a:t>22</a:t>
            </a:r>
            <a:r>
              <a:rPr sz="1100" spc="-10" dirty="0">
                <a:latin typeface="Times New Roman"/>
                <a:cs typeface="Times New Roman"/>
              </a:rPr>
              <a:t>4G1A05</a:t>
            </a:r>
            <a:r>
              <a:rPr lang="en-US" sz="1100" spc="-10" dirty="0">
                <a:latin typeface="Times New Roman"/>
                <a:cs typeface="Times New Roman"/>
              </a:rPr>
              <a:t>67</a:t>
            </a:r>
            <a:endParaRPr sz="1100" dirty="0">
              <a:latin typeface="Times New Roman"/>
              <a:cs typeface="Times New Roman"/>
            </a:endParaRPr>
          </a:p>
        </p:txBody>
      </p:sp>
      <p:grpSp>
        <p:nvGrpSpPr>
          <p:cNvPr id="14" name="object 14"/>
          <p:cNvGrpSpPr/>
          <p:nvPr/>
        </p:nvGrpSpPr>
        <p:grpSpPr>
          <a:xfrm>
            <a:off x="715009" y="318271"/>
            <a:ext cx="10608310" cy="937894"/>
            <a:chOff x="715009" y="318271"/>
            <a:chExt cx="10608310" cy="937894"/>
          </a:xfrm>
        </p:grpSpPr>
        <p:pic>
          <p:nvPicPr>
            <p:cNvPr id="15" name="object 15"/>
            <p:cNvPicPr/>
            <p:nvPr/>
          </p:nvPicPr>
          <p:blipFill>
            <a:blip r:embed="rId2" cstate="print"/>
            <a:stretch>
              <a:fillRect/>
            </a:stretch>
          </p:blipFill>
          <p:spPr>
            <a:xfrm>
              <a:off x="715009" y="318271"/>
              <a:ext cx="10608182" cy="937864"/>
            </a:xfrm>
            <a:prstGeom prst="rect">
              <a:avLst/>
            </a:prstGeom>
          </p:spPr>
        </p:pic>
        <p:sp>
          <p:nvSpPr>
            <p:cNvPr id="16" name="object 16"/>
            <p:cNvSpPr/>
            <p:nvPr/>
          </p:nvSpPr>
          <p:spPr>
            <a:xfrm>
              <a:off x="755008" y="335270"/>
              <a:ext cx="10528300" cy="857885"/>
            </a:xfrm>
            <a:custGeom>
              <a:avLst/>
              <a:gdLst/>
              <a:ahLst/>
              <a:cxnLst/>
              <a:rect l="l" t="t" r="r" b="b"/>
              <a:pathLst>
                <a:path w="10528300" h="857885">
                  <a:moveTo>
                    <a:pt x="10385202" y="857863"/>
                  </a:moveTo>
                  <a:lnTo>
                    <a:pt x="142980" y="857863"/>
                  </a:lnTo>
                  <a:lnTo>
                    <a:pt x="97787" y="850574"/>
                  </a:lnTo>
                  <a:lnTo>
                    <a:pt x="58537" y="830277"/>
                  </a:lnTo>
                  <a:lnTo>
                    <a:pt x="27586" y="799326"/>
                  </a:lnTo>
                  <a:lnTo>
                    <a:pt x="7289" y="760076"/>
                  </a:lnTo>
                  <a:lnTo>
                    <a:pt x="0" y="714883"/>
                  </a:lnTo>
                  <a:lnTo>
                    <a:pt x="0" y="142980"/>
                  </a:lnTo>
                  <a:lnTo>
                    <a:pt x="7289" y="97787"/>
                  </a:lnTo>
                  <a:lnTo>
                    <a:pt x="27586" y="58537"/>
                  </a:lnTo>
                  <a:lnTo>
                    <a:pt x="58537" y="27586"/>
                  </a:lnTo>
                  <a:lnTo>
                    <a:pt x="97787" y="7289"/>
                  </a:lnTo>
                  <a:lnTo>
                    <a:pt x="142980" y="0"/>
                  </a:lnTo>
                  <a:lnTo>
                    <a:pt x="10385202" y="0"/>
                  </a:lnTo>
                  <a:lnTo>
                    <a:pt x="10439918" y="10883"/>
                  </a:lnTo>
                  <a:lnTo>
                    <a:pt x="10486304" y="41877"/>
                  </a:lnTo>
                  <a:lnTo>
                    <a:pt x="10517299" y="88264"/>
                  </a:lnTo>
                  <a:lnTo>
                    <a:pt x="10528183" y="142980"/>
                  </a:lnTo>
                  <a:lnTo>
                    <a:pt x="10528183" y="714883"/>
                  </a:lnTo>
                  <a:lnTo>
                    <a:pt x="10520894" y="760076"/>
                  </a:lnTo>
                  <a:lnTo>
                    <a:pt x="10500596" y="799326"/>
                  </a:lnTo>
                  <a:lnTo>
                    <a:pt x="10469645" y="830277"/>
                  </a:lnTo>
                  <a:lnTo>
                    <a:pt x="10430395" y="850574"/>
                  </a:lnTo>
                  <a:lnTo>
                    <a:pt x="10385202" y="857863"/>
                  </a:lnTo>
                  <a:close/>
                </a:path>
              </a:pathLst>
            </a:custGeom>
            <a:solidFill>
              <a:srgbClr val="FF6600"/>
            </a:solidFill>
          </p:spPr>
          <p:txBody>
            <a:bodyPr wrap="square" lIns="0" tIns="0" rIns="0" bIns="0" rtlCol="0"/>
            <a:lstStyle/>
            <a:p>
              <a:endParaRPr/>
            </a:p>
          </p:txBody>
        </p:sp>
      </p:grpSp>
      <p:sp>
        <p:nvSpPr>
          <p:cNvPr id="17" name="object 17"/>
          <p:cNvSpPr txBox="1">
            <a:spLocks noGrp="1"/>
          </p:cNvSpPr>
          <p:nvPr>
            <p:ph type="title"/>
          </p:nvPr>
        </p:nvSpPr>
        <p:spPr>
          <a:xfrm>
            <a:off x="908692" y="561533"/>
            <a:ext cx="11664308" cy="412934"/>
          </a:xfrm>
          <a:prstGeom prst="rect">
            <a:avLst/>
          </a:prstGeom>
        </p:spPr>
        <p:txBody>
          <a:bodyPr vert="horz" wrap="square" lIns="0" tIns="12700" rIns="0" bIns="0" rtlCol="0">
            <a:spAutoFit/>
          </a:bodyPr>
          <a:lstStyle/>
          <a:p>
            <a:pPr marL="12700">
              <a:lnSpc>
                <a:spcPct val="100000"/>
              </a:lnSpc>
              <a:spcBef>
                <a:spcPts val="100"/>
              </a:spcBef>
            </a:pPr>
            <a:r>
              <a:rPr lang="en-US" sz="2600" dirty="0"/>
              <a:t>AI-Based Personal Finance Manager with Smart Expense Prediction System</a:t>
            </a:r>
          </a:p>
        </p:txBody>
      </p:sp>
      <p:sp>
        <p:nvSpPr>
          <p:cNvPr id="18" name="object 18"/>
          <p:cNvSpPr txBox="1"/>
          <p:nvPr/>
        </p:nvSpPr>
        <p:spPr>
          <a:xfrm>
            <a:off x="5987420" y="1278968"/>
            <a:ext cx="217170" cy="269240"/>
          </a:xfrm>
          <a:prstGeom prst="rect">
            <a:avLst/>
          </a:prstGeom>
        </p:spPr>
        <p:txBody>
          <a:bodyPr vert="horz" wrap="square" lIns="0" tIns="12700" rIns="0" bIns="0" rtlCol="0">
            <a:spAutoFit/>
          </a:bodyPr>
          <a:lstStyle/>
          <a:p>
            <a:pPr marL="12700">
              <a:lnSpc>
                <a:spcPct val="100000"/>
              </a:lnSpc>
              <a:spcBef>
                <a:spcPts val="100"/>
              </a:spcBef>
            </a:pPr>
            <a:r>
              <a:rPr sz="1600" i="1" spc="-25" dirty="0">
                <a:latin typeface="Times New Roman"/>
                <a:cs typeface="Times New Roman"/>
              </a:rPr>
              <a:t>by</a:t>
            </a:r>
            <a:endParaRPr sz="1600">
              <a:latin typeface="Times New Roman"/>
              <a:cs typeface="Times New Roman"/>
            </a:endParaRPr>
          </a:p>
        </p:txBody>
      </p:sp>
      <p:pic>
        <p:nvPicPr>
          <p:cNvPr id="19" name="object 19"/>
          <p:cNvPicPr/>
          <p:nvPr/>
        </p:nvPicPr>
        <p:blipFill>
          <a:blip r:embed="rId3" cstate="print"/>
          <a:stretch>
            <a:fillRect/>
          </a:stretch>
        </p:blipFill>
        <p:spPr>
          <a:xfrm>
            <a:off x="5329143" y="3371313"/>
            <a:ext cx="1527378" cy="1685486"/>
          </a:xfrm>
          <a:prstGeom prst="rect">
            <a:avLst/>
          </a:prstGeom>
        </p:spPr>
      </p:pic>
      <p:sp>
        <p:nvSpPr>
          <p:cNvPr id="22" name="object 8">
            <a:extLst>
              <a:ext uri="{FF2B5EF4-FFF2-40B4-BE49-F238E27FC236}">
                <a16:creationId xmlns:a16="http://schemas.microsoft.com/office/drawing/2014/main" id="{FEE95ADA-7FE8-42A2-741D-DF6198D01670}"/>
              </a:ext>
            </a:extLst>
          </p:cNvPr>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23" name="object 9">
            <a:extLst>
              <a:ext uri="{FF2B5EF4-FFF2-40B4-BE49-F238E27FC236}">
                <a16:creationId xmlns:a16="http://schemas.microsoft.com/office/drawing/2014/main" id="{92DC7436-16E1-998A-2673-3CD60CBA08DA}"/>
              </a:ext>
            </a:extLst>
          </p:cNvPr>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lang="en-US" cap="small" spc="-75" dirty="0"/>
              <a:t>Dept.</a:t>
            </a:r>
            <a:r>
              <a:rPr lang="en-US" cap="small" spc="-10" dirty="0"/>
              <a:t> </a:t>
            </a:r>
            <a:r>
              <a:rPr lang="en-US" cap="small" spc="-100" dirty="0"/>
              <a:t>of</a:t>
            </a:r>
            <a:r>
              <a:rPr lang="en-US" cap="small" spc="50" dirty="0"/>
              <a:t> </a:t>
            </a:r>
            <a:r>
              <a:rPr lang="en-US" cap="small" spc="-114" dirty="0"/>
              <a:t>Computer</a:t>
            </a:r>
            <a:r>
              <a:rPr lang="en-US" cap="small" spc="60" dirty="0"/>
              <a:t> </a:t>
            </a:r>
            <a:r>
              <a:rPr lang="en-US" cap="small" spc="-95" dirty="0"/>
              <a:t>Science</a:t>
            </a:r>
            <a:r>
              <a:rPr lang="en-US" cap="small" spc="55" dirty="0"/>
              <a:t> </a:t>
            </a:r>
            <a:r>
              <a:rPr lang="en-US" cap="small" spc="-130" dirty="0"/>
              <a:t>and</a:t>
            </a:r>
            <a:r>
              <a:rPr lang="en-US" cap="small" spc="55" dirty="0"/>
              <a:t> </a:t>
            </a:r>
            <a:r>
              <a:rPr lang="en-US" cap="small" spc="-130" dirty="0"/>
              <a:t>Engineering</a:t>
            </a:r>
          </a:p>
        </p:txBody>
      </p:sp>
      <p:sp>
        <p:nvSpPr>
          <p:cNvPr id="24" name="object 10">
            <a:extLst>
              <a:ext uri="{FF2B5EF4-FFF2-40B4-BE49-F238E27FC236}">
                <a16:creationId xmlns:a16="http://schemas.microsoft.com/office/drawing/2014/main" id="{FE8984DC-A1BF-E526-76FD-E9A0AAB77F19}"/>
              </a:ext>
            </a:extLst>
          </p:cNvPr>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25" name="object 11">
            <a:extLst>
              <a:ext uri="{FF2B5EF4-FFF2-40B4-BE49-F238E27FC236}">
                <a16:creationId xmlns:a16="http://schemas.microsoft.com/office/drawing/2014/main" id="{D8B793AA-916F-2AFA-5718-0EEB95EE9ECA}"/>
              </a:ext>
            </a:extLst>
          </p:cNvPr>
          <p:cNvSpPr txBox="1">
            <a:spLocks noGrp="1"/>
          </p:cNvSpPr>
          <p:nvPr>
            <p:ph type="sldNum" sz="quarter" idx="7"/>
          </p:nvPr>
        </p:nvSpPr>
        <p:spPr>
          <a:xfrm>
            <a:off x="11793245" y="6629427"/>
            <a:ext cx="228600" cy="250825"/>
          </a:xfrm>
          <a:prstGeom prst="rect">
            <a:avLst/>
          </a:prstGeom>
        </p:spPr>
        <p:txBody>
          <a:bodyPr vert="horz" wrap="square" lIns="0" tIns="0" rIns="0" bIns="0" rtlCol="0">
            <a:spAutoFit/>
          </a:bodyPr>
          <a:lstStyle/>
          <a:p>
            <a:pPr marL="12700">
              <a:lnSpc>
                <a:spcPts val="1845"/>
              </a:lnSpc>
            </a:pPr>
            <a:fld id="{81D60167-4931-47E6-BA6A-407CBD079E47}" type="slidenum">
              <a:rPr spc="-25" dirty="0"/>
              <a:t>1</a:t>
            </a:fld>
            <a:endParaRPr spc="-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grpSp>
        <p:nvGrpSpPr>
          <p:cNvPr id="3" name="object 3"/>
          <p:cNvGrpSpPr/>
          <p:nvPr/>
        </p:nvGrpSpPr>
        <p:grpSpPr>
          <a:xfrm>
            <a:off x="0" y="212399"/>
            <a:ext cx="12192000" cy="803275"/>
            <a:chOff x="0" y="212399"/>
            <a:chExt cx="12192000" cy="803275"/>
          </a:xfrm>
        </p:grpSpPr>
        <p:pic>
          <p:nvPicPr>
            <p:cNvPr id="4" name="object 4"/>
            <p:cNvPicPr/>
            <p:nvPr/>
          </p:nvPicPr>
          <p:blipFill>
            <a:blip r:embed="rId3" cstate="print"/>
            <a:stretch>
              <a:fillRect/>
            </a:stretch>
          </p:blipFill>
          <p:spPr>
            <a:xfrm>
              <a:off x="0" y="212399"/>
              <a:ext cx="12192000" cy="803160"/>
            </a:xfrm>
            <a:prstGeom prst="rect">
              <a:avLst/>
            </a:prstGeom>
          </p:spPr>
        </p:pic>
        <p:sp>
          <p:nvSpPr>
            <p:cNvPr id="5" name="object 5"/>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spc="-10" dirty="0"/>
              <a:t>Contents</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2</a:t>
            </a:fld>
            <a:endParaRPr spc="-25" dirty="0"/>
          </a:p>
        </p:txBody>
      </p:sp>
      <p:sp>
        <p:nvSpPr>
          <p:cNvPr id="7" name="object 7"/>
          <p:cNvSpPr txBox="1"/>
          <p:nvPr/>
        </p:nvSpPr>
        <p:spPr>
          <a:xfrm>
            <a:off x="325786" y="989990"/>
            <a:ext cx="10037414" cy="4693593"/>
          </a:xfrm>
          <a:prstGeom prst="rect">
            <a:avLst/>
          </a:prstGeom>
        </p:spPr>
        <p:txBody>
          <a:bodyPr vert="horz" wrap="square" lIns="0" tIns="96520" rIns="0" bIns="0" rtlCol="0">
            <a:spAutoFit/>
          </a:bodyPr>
          <a:lstStyle/>
          <a:p>
            <a:pPr marL="421005" indent="-408305">
              <a:lnSpc>
                <a:spcPct val="100000"/>
              </a:lnSpc>
              <a:spcBef>
                <a:spcPts val="760"/>
              </a:spcBef>
              <a:buChar char="•"/>
              <a:tabLst>
                <a:tab pos="421005" algn="l"/>
              </a:tabLst>
            </a:pPr>
            <a:r>
              <a:rPr sz="2800" dirty="0">
                <a:latin typeface="Times New Roman"/>
                <a:cs typeface="Times New Roman"/>
              </a:rPr>
              <a:t>Title</a:t>
            </a:r>
            <a:r>
              <a:rPr sz="2800" spc="-25" dirty="0">
                <a:latin typeface="Times New Roman"/>
                <a:cs typeface="Times New Roman"/>
              </a:rPr>
              <a:t> </a:t>
            </a:r>
            <a:r>
              <a:rPr sz="2800" spc="-10" dirty="0">
                <a:latin typeface="Times New Roman"/>
                <a:cs typeface="Times New Roman"/>
              </a:rPr>
              <a:t>Justification</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Abstract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Problem</a:t>
            </a:r>
            <a:r>
              <a:rPr sz="2800" spc="-35" dirty="0">
                <a:latin typeface="Times New Roman"/>
                <a:cs typeface="Times New Roman"/>
              </a:rPr>
              <a:t> </a:t>
            </a:r>
            <a:r>
              <a:rPr sz="2800" spc="-10" dirty="0">
                <a:latin typeface="Times New Roman"/>
                <a:cs typeface="Times New Roman"/>
              </a:rPr>
              <a:t>statement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Objectives</a:t>
            </a:r>
            <a:r>
              <a:rPr sz="2800" spc="-40" dirty="0">
                <a:latin typeface="Times New Roman"/>
                <a:cs typeface="Times New Roman"/>
              </a:rPr>
              <a:t> </a:t>
            </a:r>
            <a:r>
              <a:rPr sz="2800" dirty="0">
                <a:latin typeface="Times New Roman"/>
                <a:cs typeface="Times New Roman"/>
              </a:rPr>
              <a:t>of</a:t>
            </a:r>
            <a:r>
              <a:rPr sz="2800" spc="-35" dirty="0">
                <a:latin typeface="Times New Roman"/>
                <a:cs typeface="Times New Roman"/>
              </a:rPr>
              <a:t> </a:t>
            </a:r>
            <a:r>
              <a:rPr sz="2800" spc="-10" dirty="0">
                <a:latin typeface="Times New Roman"/>
                <a:cs typeface="Times New Roman"/>
              </a:rPr>
              <a:t>Project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Literature</a:t>
            </a:r>
            <a:r>
              <a:rPr sz="2800" spc="-35" dirty="0">
                <a:latin typeface="Times New Roman"/>
                <a:cs typeface="Times New Roman"/>
              </a:rPr>
              <a:t> </a:t>
            </a:r>
            <a:r>
              <a:rPr sz="2800" dirty="0">
                <a:latin typeface="Times New Roman"/>
                <a:cs typeface="Times New Roman"/>
              </a:rPr>
              <a:t>survey</a:t>
            </a:r>
            <a:r>
              <a:rPr sz="2800" spc="-25"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spc="-10" dirty="0">
                <a:latin typeface="Times New Roman"/>
                <a:cs typeface="Times New Roman"/>
              </a:rPr>
              <a:t>objectives</a:t>
            </a:r>
            <a:endParaRPr sz="2800" dirty="0">
              <a:latin typeface="Times New Roman"/>
              <a:cs typeface="Times New Roman"/>
            </a:endParaRPr>
          </a:p>
          <a:p>
            <a:pPr marL="421005" indent="-408305">
              <a:lnSpc>
                <a:spcPct val="100000"/>
              </a:lnSpc>
              <a:spcBef>
                <a:spcPts val="660"/>
              </a:spcBef>
              <a:buChar char="•"/>
              <a:tabLst>
                <a:tab pos="421005" algn="l"/>
              </a:tabLst>
            </a:pPr>
            <a:r>
              <a:rPr sz="2800" dirty="0">
                <a:latin typeface="Times New Roman"/>
                <a:cs typeface="Times New Roman"/>
              </a:rPr>
              <a:t>Proposed</a:t>
            </a:r>
            <a:r>
              <a:rPr sz="2800" spc="-25" dirty="0">
                <a:latin typeface="Times New Roman"/>
                <a:cs typeface="Times New Roman"/>
              </a:rPr>
              <a:t> </a:t>
            </a:r>
            <a:r>
              <a:rPr sz="2800" dirty="0">
                <a:latin typeface="Times New Roman"/>
                <a:cs typeface="Times New Roman"/>
              </a:rPr>
              <a:t>Work</a:t>
            </a:r>
            <a:r>
              <a:rPr sz="2800" spc="-20" dirty="0">
                <a:latin typeface="Times New Roman"/>
                <a:cs typeface="Times New Roman"/>
              </a:rPr>
              <a:t> </a:t>
            </a:r>
            <a:r>
              <a:rPr sz="2800" spc="-10" dirty="0">
                <a:latin typeface="Times New Roman"/>
                <a:cs typeface="Times New Roman"/>
              </a:rPr>
              <a:t>-</a:t>
            </a:r>
            <a:r>
              <a:rPr lang="en-IN" sz="2800" spc="-10" dirty="0">
                <a:latin typeface="Times New Roman"/>
                <a:cs typeface="Times New Roman"/>
              </a:rPr>
              <a:t> </a:t>
            </a:r>
            <a:r>
              <a:rPr sz="2800" dirty="0">
                <a:latin typeface="Times New Roman"/>
                <a:cs typeface="Times New Roman"/>
              </a:rPr>
              <a:t>(Methods</a:t>
            </a:r>
            <a:r>
              <a:rPr sz="2800" spc="-25" dirty="0">
                <a:latin typeface="Times New Roman"/>
                <a:cs typeface="Times New Roman"/>
              </a:rPr>
              <a:t> </a:t>
            </a:r>
            <a:r>
              <a:rPr sz="2800" dirty="0">
                <a:latin typeface="Times New Roman"/>
                <a:cs typeface="Times New Roman"/>
              </a:rPr>
              <a:t>to</a:t>
            </a:r>
            <a:r>
              <a:rPr sz="2800" spc="-25" dirty="0">
                <a:latin typeface="Times New Roman"/>
                <a:cs typeface="Times New Roman"/>
              </a:rPr>
              <a:t> </a:t>
            </a:r>
            <a:r>
              <a:rPr sz="2800" dirty="0">
                <a:latin typeface="Times New Roman"/>
                <a:cs typeface="Times New Roman"/>
              </a:rPr>
              <a:t>be</a:t>
            </a:r>
            <a:r>
              <a:rPr sz="2800" spc="-25" dirty="0">
                <a:latin typeface="Times New Roman"/>
                <a:cs typeface="Times New Roman"/>
              </a:rPr>
              <a:t> </a:t>
            </a:r>
            <a:r>
              <a:rPr sz="2800" dirty="0">
                <a:latin typeface="Times New Roman"/>
                <a:cs typeface="Times New Roman"/>
              </a:rPr>
              <a:t>followed</a:t>
            </a:r>
            <a:r>
              <a:rPr sz="2800" spc="-20"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dirty="0">
                <a:latin typeface="Times New Roman"/>
                <a:cs typeface="Times New Roman"/>
              </a:rPr>
              <a:t>proposed</a:t>
            </a:r>
            <a:r>
              <a:rPr sz="2800" spc="-20" dirty="0">
                <a:latin typeface="Times New Roman"/>
                <a:cs typeface="Times New Roman"/>
              </a:rPr>
              <a:t> </a:t>
            </a:r>
            <a:r>
              <a:rPr sz="2800" spc="-10" dirty="0">
                <a:latin typeface="Times New Roman"/>
                <a:cs typeface="Times New Roman"/>
              </a:rPr>
              <a:t>system)</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References</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GitHub </a:t>
            </a:r>
            <a:r>
              <a:rPr sz="2800" spc="-20" dirty="0">
                <a:latin typeface="Times New Roman"/>
                <a:cs typeface="Times New Roman"/>
              </a:rPr>
              <a:t>Link</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Queries</a:t>
            </a:r>
            <a:endParaRPr sz="2800" dirty="0">
              <a:latin typeface="Times New Roman"/>
              <a:cs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grpSp>
        <p:nvGrpSpPr>
          <p:cNvPr id="4" name="object 4"/>
          <p:cNvGrpSpPr/>
          <p:nvPr/>
        </p:nvGrpSpPr>
        <p:grpSpPr>
          <a:xfrm>
            <a:off x="0" y="212399"/>
            <a:ext cx="12192000" cy="803275"/>
            <a:chOff x="0" y="212399"/>
            <a:chExt cx="12192000" cy="803275"/>
          </a:xfrm>
        </p:grpSpPr>
        <p:pic>
          <p:nvPicPr>
            <p:cNvPr id="5" name="object 5"/>
            <p:cNvPicPr/>
            <p:nvPr/>
          </p:nvPicPr>
          <p:blipFill>
            <a:blip r:embed="rId2" cstate="print"/>
            <a:stretch>
              <a:fillRect/>
            </a:stretch>
          </p:blipFill>
          <p:spPr>
            <a:xfrm>
              <a:off x="0" y="212399"/>
              <a:ext cx="12192000" cy="803160"/>
            </a:xfrm>
            <a:prstGeom prst="rect">
              <a:avLst/>
            </a:prstGeom>
          </p:spPr>
        </p:pic>
        <p:sp>
          <p:nvSpPr>
            <p:cNvPr id="6" name="object 6"/>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Title</a:t>
            </a:r>
            <a:r>
              <a:rPr spc="-110" dirty="0"/>
              <a:t> </a:t>
            </a:r>
            <a:r>
              <a:rPr spc="-10" dirty="0"/>
              <a:t>Justification</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3</a:t>
            </a:fld>
            <a:endParaRPr spc="-25" dirty="0"/>
          </a:p>
        </p:txBody>
      </p:sp>
      <p:sp>
        <p:nvSpPr>
          <p:cNvPr id="13" name="TextBox 12">
            <a:extLst>
              <a:ext uri="{FF2B5EF4-FFF2-40B4-BE49-F238E27FC236}">
                <a16:creationId xmlns:a16="http://schemas.microsoft.com/office/drawing/2014/main" id="{A9924C31-CA33-3AA0-F6AC-3F8332B657C5}"/>
              </a:ext>
            </a:extLst>
          </p:cNvPr>
          <p:cNvSpPr txBox="1"/>
          <p:nvPr/>
        </p:nvSpPr>
        <p:spPr>
          <a:xfrm>
            <a:off x="784031" y="1524000"/>
            <a:ext cx="10798369" cy="3730317"/>
          </a:xfrm>
          <a:prstGeom prst="rect">
            <a:avLst/>
          </a:prstGeom>
          <a:noFill/>
        </p:spPr>
        <p:txBody>
          <a:bodyPr wrap="square">
            <a:spAutoFit/>
          </a:bodyPr>
          <a:lstStyle/>
          <a:p>
            <a:pPr marL="285750" indent="-285750" algn="just">
              <a:lnSpc>
                <a:spcPct val="150000"/>
              </a:lnSpc>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“AI-Based” reflects the use of machine learning, NLP, and OCR technologies that automate expense tracking, prediction, and financial insights. </a:t>
            </a:r>
          </a:p>
          <a:p>
            <a:pPr marL="285750" indent="-285750" algn="just">
              <a:lnSpc>
                <a:spcPct val="150000"/>
              </a:lnSpc>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“Personal Finance Manager” justifies the system’s core role in handling budgeting, categorization, alerts, subscription monitoring, and financial coaching for users. </a:t>
            </a:r>
          </a:p>
          <a:p>
            <a:pPr marL="285750" indent="-285750" algn="just">
              <a:lnSpc>
                <a:spcPct val="150000"/>
              </a:lnSpc>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“Smart Expense Prediction System” highlights the predictive models that forecast future spending patterns and detect unusual transactions. </a:t>
            </a:r>
          </a:p>
          <a:p>
            <a:pPr marL="285750" indent="-285750" algn="just">
              <a:lnSpc>
                <a:spcPct val="150000"/>
              </a:lnSpc>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title captures the system’s overall goal of providing an intelligent, automated, and user-friendly platform for improving financial planning and economic well-being.</a:t>
            </a:r>
          </a:p>
        </p:txBody>
      </p:sp>
      <p:sp>
        <p:nvSpPr>
          <p:cNvPr id="12" name="object 2">
            <a:extLst>
              <a:ext uri="{FF2B5EF4-FFF2-40B4-BE49-F238E27FC236}">
                <a16:creationId xmlns:a16="http://schemas.microsoft.com/office/drawing/2014/main" id="{9D73C84D-790A-49A3-E600-A9B7BAEEEF88}"/>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xfrm>
            <a:off x="149031" y="245459"/>
            <a:ext cx="2070100" cy="689932"/>
          </a:xfrm>
          <a:prstGeom prst="rect">
            <a:avLst/>
          </a:prstGeom>
        </p:spPr>
        <p:txBody>
          <a:bodyPr vert="horz" wrap="square" lIns="0" tIns="12700" rIns="0" bIns="0" rtlCol="0">
            <a:spAutoFit/>
          </a:bodyPr>
          <a:lstStyle/>
          <a:p>
            <a:pPr marL="12700">
              <a:lnSpc>
                <a:spcPct val="100000"/>
              </a:lnSpc>
              <a:spcBef>
                <a:spcPts val="100"/>
              </a:spcBef>
            </a:pPr>
            <a:r>
              <a:rPr spc="-10" dirty="0"/>
              <a:t>Abstract</a:t>
            </a:r>
            <a:endParaRPr dirty="0"/>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9" y="6629559"/>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0538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4</a:t>
            </a:fld>
            <a:endParaRPr spc="-25" dirty="0"/>
          </a:p>
        </p:txBody>
      </p:sp>
      <p:sp>
        <p:nvSpPr>
          <p:cNvPr id="12" name="TextBox 11">
            <a:extLst>
              <a:ext uri="{FF2B5EF4-FFF2-40B4-BE49-F238E27FC236}">
                <a16:creationId xmlns:a16="http://schemas.microsoft.com/office/drawing/2014/main" id="{03289E10-C778-97C5-3BEF-64F0215EEA35}"/>
              </a:ext>
            </a:extLst>
          </p:cNvPr>
          <p:cNvSpPr txBox="1"/>
          <p:nvPr/>
        </p:nvSpPr>
        <p:spPr>
          <a:xfrm>
            <a:off x="533400" y="1266702"/>
            <a:ext cx="10798369" cy="5115311"/>
          </a:xfrm>
          <a:prstGeom prst="rect">
            <a:avLst/>
          </a:prstGeom>
          <a:noFill/>
        </p:spPr>
        <p:txBody>
          <a:bodyPr wrap="square">
            <a:spAutoFit/>
          </a:bodyPr>
          <a:lstStyle/>
          <a:p>
            <a:pPr algn="just">
              <a:lnSpc>
                <a:spcPct val="150000"/>
              </a:lnSpc>
            </a:pPr>
            <a:r>
              <a:rPr lang="en-US" sz="2000" dirty="0">
                <a:latin typeface="Times New Roman" panose="02020603050405020304" pitchFamily="18" charset="0"/>
                <a:cs typeface="Times New Roman" panose="02020603050405020304" pitchFamily="18" charset="0"/>
              </a:rPr>
              <a:t>	This project addresses the growing need for automated financial management by developing an AI-Based Personal Finance Manager with Smart Expense Prediction. The research focuses on improving personal budgeting and identifying financial risks through intelligent data extraction and prediction. The main objectives are to automate expense tracking, forecast future spending, detect suspicious transactions and provide personalized saving recommendations. The system uses NLP to process SMS alerts, OCR to scan receipts and machine learning models to categorize expenses and predict future spending patterns. The system is designed to enable accurate expense classification, reliable prediction of monthly expenditures, and effective detection of anomalous transactions. The study concludes that integrating AI-driven analytics with real-time financial insights significantly improves users’ financial literacy, supports better savings behavior and contributes to long-term economic stability.</a:t>
            </a:r>
          </a:p>
        </p:txBody>
      </p:sp>
      <p:sp>
        <p:nvSpPr>
          <p:cNvPr id="7" name="object 2">
            <a:extLst>
              <a:ext uri="{FF2B5EF4-FFF2-40B4-BE49-F238E27FC236}">
                <a16:creationId xmlns:a16="http://schemas.microsoft.com/office/drawing/2014/main" id="{85B157D4-B5AD-AEDD-C57B-B9212F9250C1}"/>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Problem</a:t>
            </a:r>
            <a:r>
              <a:rPr spc="-185" dirty="0"/>
              <a:t> </a:t>
            </a:r>
            <a:r>
              <a:rPr spc="-10" dirty="0"/>
              <a:t>Statement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389127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5</a:t>
            </a:fld>
            <a:endParaRPr spc="-25" dirty="0"/>
          </a:p>
        </p:txBody>
      </p:sp>
      <p:sp>
        <p:nvSpPr>
          <p:cNvPr id="12" name="TextBox 11">
            <a:extLst>
              <a:ext uri="{FF2B5EF4-FFF2-40B4-BE49-F238E27FC236}">
                <a16:creationId xmlns:a16="http://schemas.microsoft.com/office/drawing/2014/main" id="{F64B098F-2EEB-E3B6-D749-B5552382089A}"/>
              </a:ext>
            </a:extLst>
          </p:cNvPr>
          <p:cNvSpPr txBox="1"/>
          <p:nvPr/>
        </p:nvSpPr>
        <p:spPr>
          <a:xfrm>
            <a:off x="784031" y="1524000"/>
            <a:ext cx="10798369" cy="3349956"/>
          </a:xfrm>
          <a:prstGeom prst="rect">
            <a:avLst/>
          </a:prstGeom>
          <a:noFill/>
        </p:spPr>
        <p:txBody>
          <a:bodyPr wrap="square">
            <a:spAutoFit/>
          </a:bodyPr>
          <a:lstStyle/>
          <a:p>
            <a:pPr algn="just">
              <a:lnSpc>
                <a:spcPct val="150000"/>
              </a:lnSpc>
            </a:pPr>
            <a:r>
              <a:rPr lang="en-US" sz="2400" dirty="0">
                <a:latin typeface="Times New Roman" panose="02020603050405020304" pitchFamily="18" charset="0"/>
                <a:cs typeface="Times New Roman" panose="02020603050405020304" pitchFamily="18" charset="0"/>
              </a:rPr>
              <a:t>Manual expense tracking is slow and error-prone, reducing financial awareness and effective budgeting. Although SMS alerts and receipts contain useful financial data, users lack an automated system to extract and organize this information. Without proper tools to predict future expenses, individuals face unplanned spending and weak financial planning. Additionally, suspicious transactions often go unnoticed due to the absence of intelligent monitoring and anomaly detection.</a:t>
            </a:r>
          </a:p>
        </p:txBody>
      </p:sp>
      <p:sp>
        <p:nvSpPr>
          <p:cNvPr id="7" name="object 2">
            <a:extLst>
              <a:ext uri="{FF2B5EF4-FFF2-40B4-BE49-F238E27FC236}">
                <a16:creationId xmlns:a16="http://schemas.microsoft.com/office/drawing/2014/main" id="{A56B9614-B502-B532-A454-AD5004FB3034}"/>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tabLst>
                <a:tab pos="3145790" algn="l"/>
              </a:tabLst>
            </a:pPr>
            <a:r>
              <a:rPr dirty="0"/>
              <a:t>Objectives</a:t>
            </a:r>
            <a:r>
              <a:rPr spc="-60" dirty="0"/>
              <a:t> </a:t>
            </a:r>
            <a:r>
              <a:rPr spc="-25" dirty="0"/>
              <a:t>of</a:t>
            </a:r>
            <a:r>
              <a:rPr dirty="0"/>
              <a:t>	</a:t>
            </a:r>
            <a:r>
              <a:rPr spc="-10" dirty="0"/>
              <a:t>Project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9" y="6629559"/>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2824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6</a:t>
            </a:fld>
            <a:endParaRPr spc="-25" dirty="0"/>
          </a:p>
        </p:txBody>
      </p:sp>
      <p:sp>
        <p:nvSpPr>
          <p:cNvPr id="12" name="TextBox 11">
            <a:extLst>
              <a:ext uri="{FF2B5EF4-FFF2-40B4-BE49-F238E27FC236}">
                <a16:creationId xmlns:a16="http://schemas.microsoft.com/office/drawing/2014/main" id="{0E910147-AAFE-44E0-90DF-57091E7D7810}"/>
              </a:ext>
            </a:extLst>
          </p:cNvPr>
          <p:cNvSpPr txBox="1"/>
          <p:nvPr/>
        </p:nvSpPr>
        <p:spPr>
          <a:xfrm>
            <a:off x="784031" y="1524000"/>
            <a:ext cx="10798369" cy="4094198"/>
          </a:xfrm>
          <a:prstGeom prst="rect">
            <a:avLst/>
          </a:prstGeom>
          <a:noFill/>
        </p:spPr>
        <p:txBody>
          <a:bodyPr wrap="square">
            <a:spAutoFit/>
          </a:bodyPr>
          <a:lstStyle/>
          <a:p>
            <a:pPr algn="just">
              <a:lnSpc>
                <a:spcPct val="150000"/>
              </a:lnSpc>
            </a:pPr>
            <a:r>
              <a:rPr lang="en-US" sz="2200" b="1" dirty="0">
                <a:latin typeface="Times New Roman" panose="02020603050405020304" pitchFamily="18" charset="0"/>
                <a:cs typeface="Times New Roman" panose="02020603050405020304" pitchFamily="18" charset="0"/>
              </a:rPr>
              <a:t>OBJECTIVE 1</a:t>
            </a:r>
            <a:endParaRPr lang="en-US" sz="2200" dirty="0">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To develop an AI-based financial analysis system that automatically extracts user expenses using NLP and OCR techniques and detects suspicious or unusual transactions through anomaly detection for enhanced financial security.</a:t>
            </a:r>
          </a:p>
          <a:p>
            <a:pPr algn="just">
              <a:lnSpc>
                <a:spcPct val="150000"/>
              </a:lnSpc>
            </a:pPr>
            <a:r>
              <a:rPr lang="en-US" sz="2200" b="1" dirty="0">
                <a:latin typeface="Times New Roman" panose="02020603050405020304" pitchFamily="18" charset="0"/>
                <a:cs typeface="Times New Roman" panose="02020603050405020304" pitchFamily="18" charset="0"/>
              </a:rPr>
              <a:t>OBJECTIVE 2</a:t>
            </a:r>
            <a:endParaRPr lang="en-US" sz="2200" dirty="0">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To design and evaluate machine learning models that categorize expenses, predict future spending patterns, and improve users’ financial literacy, savings behavior, and monthly budgeting outcomes.</a:t>
            </a:r>
          </a:p>
        </p:txBody>
      </p:sp>
      <p:sp>
        <p:nvSpPr>
          <p:cNvPr id="7" name="object 2">
            <a:extLst>
              <a:ext uri="{FF2B5EF4-FFF2-40B4-BE49-F238E27FC236}">
                <a16:creationId xmlns:a16="http://schemas.microsoft.com/office/drawing/2014/main" id="{74ACF158-DE06-EDE9-EEAE-2A4D2D0E1769}"/>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p:nvPr/>
        </p:nvSpPr>
        <p:spPr>
          <a:xfrm>
            <a:off x="136599" y="221612"/>
            <a:ext cx="7165975" cy="1577355"/>
          </a:xfrm>
          <a:prstGeom prst="rect">
            <a:avLst/>
          </a:prstGeom>
        </p:spPr>
        <p:txBody>
          <a:bodyPr vert="horz" wrap="square" lIns="0" tIns="12700" rIns="0" bIns="0" rtlCol="0">
            <a:spAutoFit/>
          </a:bodyPr>
          <a:lstStyle/>
          <a:p>
            <a:pPr marL="12700">
              <a:lnSpc>
                <a:spcPct val="100000"/>
              </a:lnSpc>
              <a:spcBef>
                <a:spcPts val="100"/>
              </a:spcBef>
            </a:pPr>
            <a:r>
              <a:rPr sz="4400" dirty="0">
                <a:solidFill>
                  <a:schemeClr val="bg1"/>
                </a:solidFill>
                <a:latin typeface="Times New Roman"/>
                <a:cs typeface="Times New Roman"/>
              </a:rPr>
              <a:t>Literature</a:t>
            </a:r>
            <a:r>
              <a:rPr sz="4400" spc="-35" dirty="0">
                <a:solidFill>
                  <a:schemeClr val="bg1"/>
                </a:solidFill>
                <a:latin typeface="Times New Roman"/>
                <a:cs typeface="Times New Roman"/>
              </a:rPr>
              <a:t> </a:t>
            </a:r>
            <a:r>
              <a:rPr sz="4400" dirty="0">
                <a:solidFill>
                  <a:schemeClr val="bg1"/>
                </a:solidFill>
                <a:latin typeface="Times New Roman"/>
                <a:cs typeface="Times New Roman"/>
              </a:rPr>
              <a:t>survey</a:t>
            </a:r>
            <a:r>
              <a:rPr sz="4400" spc="-25" dirty="0">
                <a:solidFill>
                  <a:schemeClr val="bg1"/>
                </a:solidFill>
                <a:latin typeface="Times New Roman"/>
                <a:cs typeface="Times New Roman"/>
              </a:rPr>
              <a:t> </a:t>
            </a:r>
            <a:r>
              <a:rPr sz="4400" dirty="0">
                <a:solidFill>
                  <a:schemeClr val="bg1"/>
                </a:solidFill>
                <a:latin typeface="Times New Roman"/>
                <a:cs typeface="Times New Roman"/>
              </a:rPr>
              <a:t>for</a:t>
            </a:r>
            <a:r>
              <a:rPr sz="4400" spc="-25" dirty="0">
                <a:solidFill>
                  <a:schemeClr val="bg1"/>
                </a:solidFill>
                <a:latin typeface="Times New Roman"/>
                <a:cs typeface="Times New Roman"/>
              </a:rPr>
              <a:t> </a:t>
            </a:r>
            <a:r>
              <a:rPr sz="4400" spc="-10" dirty="0">
                <a:solidFill>
                  <a:schemeClr val="bg1"/>
                </a:solidFill>
                <a:latin typeface="Times New Roman"/>
                <a:cs typeface="Times New Roman"/>
              </a:rPr>
              <a:t>objectives</a:t>
            </a:r>
            <a:endParaRPr sz="4400" dirty="0">
              <a:solidFill>
                <a:schemeClr val="bg1"/>
              </a:solidFill>
              <a:latin typeface="Times New Roman"/>
              <a:cs typeface="Times New Roman"/>
            </a:endParaRPr>
          </a:p>
          <a:p>
            <a:pPr>
              <a:lnSpc>
                <a:spcPct val="100000"/>
              </a:lnSpc>
              <a:spcBef>
                <a:spcPts val="225"/>
              </a:spcBef>
            </a:pPr>
            <a:endParaRPr sz="2800" dirty="0">
              <a:latin typeface="Times New Roman"/>
              <a:cs typeface="Times New Roman"/>
            </a:endParaRPr>
          </a:p>
          <a:p>
            <a:pPr marL="176530">
              <a:lnSpc>
                <a:spcPct val="100000"/>
              </a:lnSpc>
            </a:pPr>
            <a:endParaRPr sz="2800" dirty="0">
              <a:latin typeface="Lucida Sans Unicode"/>
              <a:cs typeface="Lucida Sans Unicode"/>
            </a:endParaRPr>
          </a:p>
        </p:txBody>
      </p:sp>
      <p:sp>
        <p:nvSpPr>
          <p:cNvPr id="7" name="object 7"/>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8" name="object 8"/>
          <p:cNvSpPr txBox="1">
            <a:spLocks noGrp="1"/>
          </p:cNvSpPr>
          <p:nvPr>
            <p:ph type="dt" sz="half" idx="6"/>
          </p:nvPr>
        </p:nvSpPr>
        <p:spPr>
          <a:xfrm>
            <a:off x="1773948" y="6629558"/>
            <a:ext cx="389127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9" name="object 9"/>
          <p:cNvSpPr txBox="1"/>
          <p:nvPr/>
        </p:nvSpPr>
        <p:spPr>
          <a:xfrm>
            <a:off x="7147541" y="6629197"/>
            <a:ext cx="40538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0" name="object 10"/>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7</a:t>
            </a:fld>
            <a:endParaRPr spc="-25" dirty="0"/>
          </a:p>
        </p:txBody>
      </p:sp>
      <p:graphicFrame>
        <p:nvGraphicFramePr>
          <p:cNvPr id="11" name="Table 10">
            <a:extLst>
              <a:ext uri="{FF2B5EF4-FFF2-40B4-BE49-F238E27FC236}">
                <a16:creationId xmlns:a16="http://schemas.microsoft.com/office/drawing/2014/main" id="{2CE0DD8A-72FB-A2CA-F362-2CB55D2DEBFB}"/>
              </a:ext>
            </a:extLst>
          </p:cNvPr>
          <p:cNvGraphicFramePr>
            <a:graphicFrameLocks noGrp="1"/>
          </p:cNvGraphicFramePr>
          <p:nvPr>
            <p:extLst>
              <p:ext uri="{D42A27DB-BD31-4B8C-83A1-F6EECF244321}">
                <p14:modId xmlns:p14="http://schemas.microsoft.com/office/powerpoint/2010/main" val="3101542749"/>
              </p:ext>
            </p:extLst>
          </p:nvPr>
        </p:nvGraphicFramePr>
        <p:xfrm>
          <a:off x="294744" y="1036083"/>
          <a:ext cx="11135256" cy="5498866"/>
        </p:xfrm>
        <a:graphic>
          <a:graphicData uri="http://schemas.openxmlformats.org/drawingml/2006/table">
            <a:tbl>
              <a:tblPr>
                <a:tableStyleId>{35758FB7-9AC5-4552-8A53-C91805E547FA}</a:tableStyleId>
              </a:tblPr>
              <a:tblGrid>
                <a:gridCol w="2125518">
                  <a:extLst>
                    <a:ext uri="{9D8B030D-6E8A-4147-A177-3AD203B41FA5}">
                      <a16:colId xmlns:a16="http://schemas.microsoft.com/office/drawing/2014/main" val="2430760285"/>
                    </a:ext>
                  </a:extLst>
                </a:gridCol>
                <a:gridCol w="851653">
                  <a:extLst>
                    <a:ext uri="{9D8B030D-6E8A-4147-A177-3AD203B41FA5}">
                      <a16:colId xmlns:a16="http://schemas.microsoft.com/office/drawing/2014/main" val="846704920"/>
                    </a:ext>
                  </a:extLst>
                </a:gridCol>
                <a:gridCol w="630496">
                  <a:extLst>
                    <a:ext uri="{9D8B030D-6E8A-4147-A177-3AD203B41FA5}">
                      <a16:colId xmlns:a16="http://schemas.microsoft.com/office/drawing/2014/main" val="2412097962"/>
                    </a:ext>
                  </a:extLst>
                </a:gridCol>
                <a:gridCol w="2145704">
                  <a:extLst>
                    <a:ext uri="{9D8B030D-6E8A-4147-A177-3AD203B41FA5}">
                      <a16:colId xmlns:a16="http://schemas.microsoft.com/office/drawing/2014/main" val="292885942"/>
                    </a:ext>
                  </a:extLst>
                </a:gridCol>
                <a:gridCol w="2473310">
                  <a:extLst>
                    <a:ext uri="{9D8B030D-6E8A-4147-A177-3AD203B41FA5}">
                      <a16:colId xmlns:a16="http://schemas.microsoft.com/office/drawing/2014/main" val="4290618444"/>
                    </a:ext>
                  </a:extLst>
                </a:gridCol>
                <a:gridCol w="2908575">
                  <a:extLst>
                    <a:ext uri="{9D8B030D-6E8A-4147-A177-3AD203B41FA5}">
                      <a16:colId xmlns:a16="http://schemas.microsoft.com/office/drawing/2014/main" val="2686464835"/>
                    </a:ext>
                  </a:extLst>
                </a:gridCol>
              </a:tblGrid>
              <a:tr h="248931">
                <a:tc>
                  <a:txBody>
                    <a:bodyPr/>
                    <a:lstStyle/>
                    <a:p>
                      <a:pPr>
                        <a:buNone/>
                      </a:pPr>
                      <a:r>
                        <a:rPr lang="en-IN" sz="1600" b="1" dirty="0">
                          <a:latin typeface="Times New Roman" panose="02020603050405020304" pitchFamily="18" charset="0"/>
                          <a:cs typeface="Times New Roman" panose="02020603050405020304" pitchFamily="18" charset="0"/>
                        </a:rPr>
                        <a:t>Title / Study</a:t>
                      </a:r>
                      <a:endParaRPr lang="en-US" sz="1600" b="1" dirty="0">
                        <a:latin typeface="Times New Roman" panose="02020603050405020304" pitchFamily="18" charset="0"/>
                        <a:cs typeface="Times New Roman" panose="02020603050405020304" pitchFamily="18" charset="0"/>
                      </a:endParaRPr>
                    </a:p>
                  </a:txBody>
                  <a:tcPr marL="17925" marR="17925" marT="8963" marB="8963" anchor="ctr"/>
                </a:tc>
                <a:tc>
                  <a:txBody>
                    <a:bodyPr/>
                    <a:lstStyle/>
                    <a:p>
                      <a:pPr>
                        <a:buNone/>
                      </a:pPr>
                      <a:r>
                        <a:rPr lang="en-US" sz="1600" b="1" dirty="0">
                          <a:latin typeface="Times New Roman" panose="02020603050405020304" pitchFamily="18" charset="0"/>
                          <a:cs typeface="Times New Roman" panose="02020603050405020304" pitchFamily="18" charset="0"/>
                        </a:rPr>
                        <a:t>Authors</a:t>
                      </a:r>
                    </a:p>
                  </a:txBody>
                  <a:tcPr marL="17925" marR="17925" marT="8963" marB="8963" anchor="ctr"/>
                </a:tc>
                <a:tc>
                  <a:txBody>
                    <a:bodyPr/>
                    <a:lstStyle/>
                    <a:p>
                      <a:pPr>
                        <a:buNone/>
                      </a:pPr>
                      <a:r>
                        <a:rPr lang="en-US" sz="1600" b="1" dirty="0">
                          <a:latin typeface="Times New Roman" panose="02020603050405020304" pitchFamily="18" charset="0"/>
                          <a:cs typeface="Times New Roman" panose="02020603050405020304" pitchFamily="18" charset="0"/>
                        </a:rPr>
                        <a:t>Year</a:t>
                      </a:r>
                    </a:p>
                  </a:txBody>
                  <a:tcPr marL="17925" marR="17925" marT="8963" marB="8963" anchor="ctr"/>
                </a:tc>
                <a:tc>
                  <a:txBody>
                    <a:bodyPr/>
                    <a:lstStyle/>
                    <a:p>
                      <a:pPr>
                        <a:buNone/>
                      </a:pPr>
                      <a:r>
                        <a:rPr lang="en-US" sz="1600" b="1" dirty="0">
                          <a:latin typeface="Times New Roman" panose="02020603050405020304" pitchFamily="18" charset="0"/>
                          <a:cs typeface="Times New Roman" panose="02020603050405020304" pitchFamily="18" charset="0"/>
                        </a:rPr>
                        <a:t>Methodology / Tools</a:t>
                      </a:r>
                    </a:p>
                  </a:txBody>
                  <a:tcPr marL="17925" marR="17925" marT="8963" marB="8963" anchor="ctr"/>
                </a:tc>
                <a:tc>
                  <a:txBody>
                    <a:bodyPr/>
                    <a:lstStyle/>
                    <a:p>
                      <a:pPr>
                        <a:buNone/>
                      </a:pPr>
                      <a:r>
                        <a:rPr lang="en-US" sz="1600" b="1" dirty="0">
                          <a:latin typeface="Times New Roman" panose="02020603050405020304" pitchFamily="18" charset="0"/>
                          <a:cs typeface="Times New Roman" panose="02020603050405020304" pitchFamily="18" charset="0"/>
                        </a:rPr>
                        <a:t>Key findings</a:t>
                      </a:r>
                    </a:p>
                  </a:txBody>
                  <a:tcPr marL="17925" marR="17925" marT="8963" marB="8963" anchor="ctr"/>
                </a:tc>
                <a:tc>
                  <a:txBody>
                    <a:bodyPr/>
                    <a:lstStyle/>
                    <a:p>
                      <a:pPr>
                        <a:buNone/>
                      </a:pPr>
                      <a:r>
                        <a:rPr lang="en-US" sz="1600" b="1" dirty="0">
                          <a:latin typeface="Times New Roman" panose="02020603050405020304" pitchFamily="18" charset="0"/>
                          <a:cs typeface="Times New Roman" panose="02020603050405020304" pitchFamily="18" charset="0"/>
                        </a:rPr>
                        <a:t>Gaps</a:t>
                      </a:r>
                    </a:p>
                  </a:txBody>
                  <a:tcPr marL="17925" marR="17925" marT="8963" marB="8963" anchor="ctr"/>
                </a:tc>
                <a:extLst>
                  <a:ext uri="{0D108BD9-81ED-4DB2-BD59-A6C34878D82A}">
                    <a16:rowId xmlns:a16="http://schemas.microsoft.com/office/drawing/2014/main" val="3051253503"/>
                  </a:ext>
                </a:extLst>
              </a:tr>
              <a:tr h="1381424">
                <a:tc>
                  <a:txBody>
                    <a:bodyPr/>
                    <a:lstStyle/>
                    <a:p>
                      <a:pPr>
                        <a:buNone/>
                      </a:pPr>
                      <a:r>
                        <a:rPr lang="en-US" sz="1600" dirty="0">
                          <a:latin typeface="Times New Roman" panose="02020603050405020304" pitchFamily="18" charset="0"/>
                          <a:cs typeface="Times New Roman" panose="02020603050405020304" pitchFamily="18" charset="0"/>
                        </a:rPr>
                        <a:t>Navigating the AI-driven transformation of personal finance: opportunities, challenges, and ethical imperatives.</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Hesami et al.</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2025</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Mobile app + OCR (receipt scanning); basic parsing pipeline</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Demonstrated feasibility of automated receipt capture for PFM apps.</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Performs poorly on noisy or low-quality images.</a:t>
                      </a:r>
                    </a:p>
                  </a:txBody>
                  <a:tcPr marL="17925" marR="17925" marT="8963" marB="8963" anchor="ctr"/>
                </a:tc>
                <a:extLst>
                  <a:ext uri="{0D108BD9-81ED-4DB2-BD59-A6C34878D82A}">
                    <a16:rowId xmlns:a16="http://schemas.microsoft.com/office/drawing/2014/main" val="1877726288"/>
                  </a:ext>
                </a:extLst>
              </a:tr>
              <a:tr h="1176469">
                <a:tc>
                  <a:txBody>
                    <a:bodyPr/>
                    <a:lstStyle/>
                    <a:p>
                      <a:pPr>
                        <a:buNone/>
                      </a:pPr>
                      <a:r>
                        <a:rPr lang="en-US" sz="1600" dirty="0">
                          <a:latin typeface="Times New Roman" panose="02020603050405020304" pitchFamily="18" charset="0"/>
                          <a:cs typeface="Times New Roman" panose="02020603050405020304" pitchFamily="18" charset="0"/>
                        </a:rPr>
                        <a:t>AI-driven personal finance management: Revolutionizing budgeting and financial planning.</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Talasila et al.</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2024</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NLP pipeline using hybrid LSTM + CNN for SMS information extraction; on-device processing</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Good extraction accuracy on structured bank SMS.</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Provides good privacy on the device, but cannot handle SMS messages with very different wording or formats.</a:t>
                      </a:r>
                    </a:p>
                  </a:txBody>
                  <a:tcPr marL="17925" marR="17925" marT="8963" marB="8963" anchor="ctr"/>
                </a:tc>
                <a:extLst>
                  <a:ext uri="{0D108BD9-81ED-4DB2-BD59-A6C34878D82A}">
                    <a16:rowId xmlns:a16="http://schemas.microsoft.com/office/drawing/2014/main" val="2720866478"/>
                  </a:ext>
                </a:extLst>
              </a:tr>
              <a:tr h="1176469">
                <a:tc>
                  <a:txBody>
                    <a:bodyPr/>
                    <a:lstStyle/>
                    <a:p>
                      <a:pPr>
                        <a:buNone/>
                      </a:pPr>
                      <a:r>
                        <a:rPr lang="en-US" sz="1600" dirty="0">
                          <a:latin typeface="Times New Roman" panose="02020603050405020304" pitchFamily="18" charset="0"/>
                          <a:cs typeface="Times New Roman" panose="02020603050405020304" pitchFamily="18" charset="0"/>
                        </a:rPr>
                        <a:t>An AI-Powered Personal Finance Assistant: Enhancing Financial Literacy and Management.</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Agarwal et al.</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2024</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Multi-source ingestion (bank, cards, user input), preprocessing, ML models for expense prediction</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Shows viability of ML for monthly expense forecasting. </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Struggles to make accurate predictions when user financial history is limited.</a:t>
                      </a:r>
                    </a:p>
                  </a:txBody>
                  <a:tcPr marL="17925" marR="17925" marT="8963" marB="8963" anchor="ctr"/>
                </a:tc>
                <a:extLst>
                  <a:ext uri="{0D108BD9-81ED-4DB2-BD59-A6C34878D82A}">
                    <a16:rowId xmlns:a16="http://schemas.microsoft.com/office/drawing/2014/main" val="3255433414"/>
                  </a:ext>
                </a:extLst>
              </a:tr>
              <a:tr h="1381424">
                <a:tc>
                  <a:txBody>
                    <a:bodyPr/>
                    <a:lstStyle/>
                    <a:p>
                      <a:pPr>
                        <a:buNone/>
                      </a:pPr>
                      <a:r>
                        <a:rPr lang="en-US" sz="1600" dirty="0">
                          <a:latin typeface="Times New Roman" panose="02020603050405020304" pitchFamily="18" charset="0"/>
                          <a:cs typeface="Times New Roman" panose="02020603050405020304" pitchFamily="18" charset="0"/>
                        </a:rPr>
                        <a:t>AI-Powered Personal Finance Assistant For Intelligent Expense Tracking And Budget Optimization.</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Dr. A.K. Ahamed, S K S </a:t>
                      </a:r>
                      <a:r>
                        <a:rPr lang="en-US" sz="1600" dirty="0" err="1">
                          <a:latin typeface="Times New Roman" panose="02020603050405020304" pitchFamily="18" charset="0"/>
                          <a:cs typeface="Times New Roman" panose="02020603050405020304" pitchFamily="18" charset="0"/>
                        </a:rPr>
                        <a:t>Shahif</a:t>
                      </a:r>
                      <a:r>
                        <a:rPr lang="en-US" sz="1600" dirty="0">
                          <a:latin typeface="Times New Roman" panose="02020603050405020304" pitchFamily="18" charset="0"/>
                          <a:cs typeface="Times New Roman" panose="02020603050405020304" pitchFamily="18" charset="0"/>
                        </a:rPr>
                        <a:t>.</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2025</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React Native app; Firebase backend; NLP chatbot with NLTK + Naive Bayes</a:t>
                      </a:r>
                    </a:p>
                  </a:txBody>
                  <a:tcPr marL="17925" marR="17925" marT="8963" marB="8963" anchor="ctr"/>
                </a:tc>
                <a:tc>
                  <a:txBody>
                    <a:bodyPr/>
                    <a:lstStyle/>
                    <a:p>
                      <a:r>
                        <a:rPr lang="en-US" sz="1600" b="0" dirty="0">
                          <a:latin typeface="Times New Roman" panose="02020603050405020304" pitchFamily="18" charset="0"/>
                          <a:cs typeface="Times New Roman" panose="02020603050405020304" pitchFamily="18" charset="0"/>
                        </a:rPr>
                        <a:t>Accurate OCR extraction, automated SMS income detection, reliable budget forecasting, and high-accuracy chatbot interactions.</a:t>
                      </a:r>
                    </a:p>
                  </a:txBody>
                  <a:tcPr marL="17925" marR="17925" marT="8963" marB="8963" anchor="ctr"/>
                </a:tc>
                <a:tc>
                  <a:txBody>
                    <a:bodyPr/>
                    <a:lstStyle/>
                    <a:p>
                      <a:pPr>
                        <a:buNone/>
                      </a:pPr>
                      <a:r>
                        <a:rPr lang="en-US" sz="1600" dirty="0">
                          <a:latin typeface="Times New Roman" panose="02020603050405020304" pitchFamily="18" charset="0"/>
                          <a:cs typeface="Times New Roman" panose="02020603050405020304" pitchFamily="18" charset="0"/>
                        </a:rPr>
                        <a:t>OCR has trouble with unclear receipts; ML accuracy drops with limited data.</a:t>
                      </a:r>
                    </a:p>
                  </a:txBody>
                  <a:tcPr marL="17925" marR="17925" marT="8963" marB="8963" anchor="ctr"/>
                </a:tc>
                <a:extLst>
                  <a:ext uri="{0D108BD9-81ED-4DB2-BD59-A6C34878D82A}">
                    <a16:rowId xmlns:a16="http://schemas.microsoft.com/office/drawing/2014/main" val="2919146485"/>
                  </a:ext>
                </a:extLst>
              </a:tr>
            </a:tbl>
          </a:graphicData>
        </a:graphic>
      </p:graphicFrame>
      <p:sp>
        <p:nvSpPr>
          <p:cNvPr id="12" name="object 2">
            <a:extLst>
              <a:ext uri="{FF2B5EF4-FFF2-40B4-BE49-F238E27FC236}">
                <a16:creationId xmlns:a16="http://schemas.microsoft.com/office/drawing/2014/main" id="{1B07E8F8-9C4B-AD4B-1A8F-1B16E532DCFB}"/>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0" y="216720"/>
            <a:ext cx="12192000" cy="803275"/>
            <a:chOff x="0" y="216720"/>
            <a:chExt cx="12192000" cy="803275"/>
          </a:xfrm>
        </p:grpSpPr>
        <p:pic>
          <p:nvPicPr>
            <p:cNvPr id="5" name="object 5"/>
            <p:cNvPicPr/>
            <p:nvPr/>
          </p:nvPicPr>
          <p:blipFill>
            <a:blip r:embed="rId2" cstate="print"/>
            <a:stretch>
              <a:fillRect/>
            </a:stretch>
          </p:blipFill>
          <p:spPr>
            <a:xfrm>
              <a:off x="0" y="216720"/>
              <a:ext cx="12192000" cy="803160"/>
            </a:xfrm>
            <a:prstGeom prst="rect">
              <a:avLst/>
            </a:prstGeom>
          </p:spPr>
        </p:pic>
        <p:sp>
          <p:nvSpPr>
            <p:cNvPr id="6" name="object 6"/>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xfrm>
            <a:off x="73025" y="182323"/>
            <a:ext cx="3888104" cy="695960"/>
          </a:xfrm>
          <a:prstGeom prst="rect">
            <a:avLst/>
          </a:prstGeom>
        </p:spPr>
        <p:txBody>
          <a:bodyPr vert="horz" wrap="square" lIns="0" tIns="12700" rIns="0" bIns="0" rtlCol="0">
            <a:spAutoFit/>
          </a:bodyPr>
          <a:lstStyle/>
          <a:p>
            <a:pPr marL="12700">
              <a:lnSpc>
                <a:spcPct val="100000"/>
              </a:lnSpc>
              <a:spcBef>
                <a:spcPts val="100"/>
              </a:spcBef>
              <a:tabLst>
                <a:tab pos="2232025" algn="l"/>
              </a:tabLst>
            </a:pPr>
            <a:r>
              <a:rPr spc="-10" dirty="0"/>
              <a:t>Proposed</a:t>
            </a:r>
            <a:r>
              <a:rPr dirty="0"/>
              <a:t>	</a:t>
            </a:r>
            <a:r>
              <a:rPr spc="-10" dirty="0"/>
              <a:t>System</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39410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8</a:t>
            </a:fld>
            <a:endParaRPr spc="-25" dirty="0"/>
          </a:p>
        </p:txBody>
      </p:sp>
      <p:sp>
        <p:nvSpPr>
          <p:cNvPr id="12" name="TextBox 11">
            <a:extLst>
              <a:ext uri="{FF2B5EF4-FFF2-40B4-BE49-F238E27FC236}">
                <a16:creationId xmlns:a16="http://schemas.microsoft.com/office/drawing/2014/main" id="{9D0735FF-BBB5-6D8E-47E3-5A04AED2F3BB}"/>
              </a:ext>
            </a:extLst>
          </p:cNvPr>
          <p:cNvSpPr txBox="1"/>
          <p:nvPr/>
        </p:nvSpPr>
        <p:spPr>
          <a:xfrm>
            <a:off x="609600" y="1254939"/>
            <a:ext cx="10798369" cy="5028556"/>
          </a:xfrm>
          <a:prstGeom prst="rect">
            <a:avLst/>
          </a:prstGeom>
          <a:noFill/>
        </p:spPr>
        <p:txBody>
          <a:bodyPr wrap="square">
            <a:spAutoFit/>
          </a:bodyPr>
          <a:lstStyle/>
          <a:p>
            <a:pPr algn="just">
              <a:lnSpc>
                <a:spcPct val="150000"/>
              </a:lnSpc>
            </a:pPr>
            <a:r>
              <a:rPr lang="en-US" dirty="0">
                <a:latin typeface="Times New Roman" panose="02020603050405020304" pitchFamily="18" charset="0"/>
                <a:cs typeface="Times New Roman" panose="02020603050405020304" pitchFamily="18" charset="0"/>
              </a:rPr>
              <a:t>Our project introduces an integrated AI-powered financial management solution consisting of the following key features:</a:t>
            </a:r>
            <a:endParaRPr lang="en-US" b="1" dirty="0">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Data Extraction Module</a:t>
            </a:r>
            <a:r>
              <a:rPr lang="en-US" dirty="0">
                <a:latin typeface="Times New Roman" panose="02020603050405020304" pitchFamily="18" charset="0"/>
                <a:cs typeface="Times New Roman" panose="02020603050405020304" pitchFamily="18" charset="0"/>
              </a:rPr>
              <a:t>: Uses NLP (BERT / LSTM models) to parse transaction details from SMS alerts and OCR (Tesseract / </a:t>
            </a:r>
            <a:r>
              <a:rPr lang="en-US" dirty="0" err="1">
                <a:latin typeface="Times New Roman" panose="02020603050405020304" pitchFamily="18" charset="0"/>
                <a:cs typeface="Times New Roman" panose="02020603050405020304" pitchFamily="18" charset="0"/>
              </a:rPr>
              <a:t>EasyOCR</a:t>
            </a:r>
            <a:r>
              <a:rPr lang="en-US" dirty="0">
                <a:latin typeface="Times New Roman" panose="02020603050405020304" pitchFamily="18" charset="0"/>
                <a:cs typeface="Times New Roman" panose="02020603050405020304" pitchFamily="18" charset="0"/>
              </a:rPr>
              <a:t>) to extract text from receipts, ensuring accurate financial data capture. </a:t>
            </a: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Expense Categorization &amp; Prediction Module</a:t>
            </a:r>
            <a:r>
              <a:rPr lang="en-US" dirty="0">
                <a:latin typeface="Times New Roman" panose="02020603050405020304" pitchFamily="18" charset="0"/>
                <a:cs typeface="Times New Roman" panose="02020603050405020304" pitchFamily="18" charset="0"/>
              </a:rPr>
              <a:t>: Employs Random Forest, </a:t>
            </a:r>
            <a:r>
              <a:rPr lang="en-US" dirty="0" err="1">
                <a:latin typeface="Times New Roman" panose="02020603050405020304" pitchFamily="18" charset="0"/>
                <a:cs typeface="Times New Roman" panose="02020603050405020304" pitchFamily="18" charset="0"/>
              </a:rPr>
              <a:t>XGBoost</a:t>
            </a:r>
            <a:r>
              <a:rPr lang="en-US" dirty="0">
                <a:latin typeface="Times New Roman" panose="02020603050405020304" pitchFamily="18" charset="0"/>
                <a:cs typeface="Times New Roman" panose="02020603050405020304" pitchFamily="18" charset="0"/>
              </a:rPr>
              <a:t> and LSTM regression models to categorize expenses into predefined groups (food, travel, bills, subscriptions) and predict future spending patterns based on historical data. </a:t>
            </a: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Anomaly Detection Module</a:t>
            </a:r>
            <a:r>
              <a:rPr lang="en-US" dirty="0">
                <a:latin typeface="Times New Roman" panose="02020603050405020304" pitchFamily="18" charset="0"/>
                <a:cs typeface="Times New Roman" panose="02020603050405020304" pitchFamily="18" charset="0"/>
              </a:rPr>
              <a:t>: Uses Isolation Forest and Autoencoder-based models to detect unusual or suspicious transactions, helping prevent fraud and unauthorized expenses. </a:t>
            </a: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AI Financial Coach &amp; Dashboard Module</a:t>
            </a:r>
            <a:r>
              <a:rPr lang="en-US" dirty="0">
                <a:latin typeface="Times New Roman" panose="02020603050405020304" pitchFamily="18" charset="0"/>
                <a:cs typeface="Times New Roman" panose="02020603050405020304" pitchFamily="18" charset="0"/>
              </a:rPr>
              <a:t>: Integrates a recommendation system (Collaborative Filtering + Rule-based engine) to provide personalized saving strategies, subscription monitoring, goal-based alerts and real-time dashboards accessible via web and mobile apps.</a:t>
            </a:r>
          </a:p>
        </p:txBody>
      </p:sp>
      <p:sp>
        <p:nvSpPr>
          <p:cNvPr id="3" name="object 2">
            <a:extLst>
              <a:ext uri="{FF2B5EF4-FFF2-40B4-BE49-F238E27FC236}">
                <a16:creationId xmlns:a16="http://schemas.microsoft.com/office/drawing/2014/main" id="{472A052D-21F1-2542-F7FA-CDD37594DE72}"/>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52400">
              <a:lnSpc>
                <a:spcPct val="100000"/>
              </a:lnSpc>
              <a:spcBef>
                <a:spcPts val="100"/>
              </a:spcBef>
            </a:pPr>
            <a:r>
              <a:rPr spc="-10" dirty="0"/>
              <a:t>References</a:t>
            </a:r>
          </a:p>
        </p:txBody>
      </p:sp>
      <p:sp>
        <p:nvSpPr>
          <p:cNvPr id="9" name="object 9"/>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10" name="object 10"/>
          <p:cNvSpPr txBox="1">
            <a:spLocks noGrp="1"/>
          </p:cNvSpPr>
          <p:nvPr>
            <p:ph type="dt" sz="half" idx="6"/>
          </p:nvPr>
        </p:nvSpPr>
        <p:spPr>
          <a:xfrm>
            <a:off x="1773948" y="6629559"/>
            <a:ext cx="39410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1" name="object 11"/>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9</a:t>
            </a:fld>
            <a:endParaRPr spc="-25" dirty="0"/>
          </a:p>
        </p:txBody>
      </p:sp>
      <p:sp>
        <p:nvSpPr>
          <p:cNvPr id="13" name="TextBox 12">
            <a:extLst>
              <a:ext uri="{FF2B5EF4-FFF2-40B4-BE49-F238E27FC236}">
                <a16:creationId xmlns:a16="http://schemas.microsoft.com/office/drawing/2014/main" id="{2B534EE4-7247-A472-54E8-BF10F79F09CB}"/>
              </a:ext>
            </a:extLst>
          </p:cNvPr>
          <p:cNvSpPr txBox="1"/>
          <p:nvPr/>
        </p:nvSpPr>
        <p:spPr>
          <a:xfrm>
            <a:off x="784031" y="1524000"/>
            <a:ext cx="10798369" cy="4653646"/>
          </a:xfrm>
          <a:prstGeom prst="rect">
            <a:avLst/>
          </a:prstGeom>
          <a:noFill/>
        </p:spPr>
        <p:txBody>
          <a:bodyPr wrap="square">
            <a:spAutoFit/>
          </a:bodyPr>
          <a:lstStyle/>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Hesami, </a:t>
            </a:r>
            <a:r>
              <a:rPr lang="en-US" sz="2000" dirty="0" err="1">
                <a:latin typeface="Times New Roman" panose="02020603050405020304" pitchFamily="18" charset="0"/>
                <a:cs typeface="Times New Roman" panose="02020603050405020304" pitchFamily="18" charset="0"/>
              </a:rPr>
              <a:t>Siamand</a:t>
            </a:r>
            <a:r>
              <a:rPr lang="en-US" sz="2000" dirty="0">
                <a:latin typeface="Times New Roman" panose="02020603050405020304" pitchFamily="18" charset="0"/>
                <a:cs typeface="Times New Roman" panose="02020603050405020304" pitchFamily="18" charset="0"/>
              </a:rPr>
              <a:t>. "Navigating the AI-driven transformation of personal finance: opportunities, challenges, and ethical imperatives." Strategy &amp; Leadership (2025).</a:t>
            </a:r>
          </a:p>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Talasila, Sai Deepak. "AI-driven personal finance management: Revolutionizing budgeting and financial planning." International Research Journal of Engineering and Technology 11.7 (2024): 397-407.</a:t>
            </a:r>
          </a:p>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Agarwal, Visesh, Ravi Ray, and Nisha Varghese. "An AI-Powered Personal Finance Assistant: Enhancing Financial Literacy and Management." (FOSS-CIL T24) (2024).</a:t>
            </a:r>
          </a:p>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Ahamed, A. K. Ahamed, and S. K. S. </a:t>
            </a:r>
            <a:r>
              <a:rPr lang="en-US" sz="2000" dirty="0" err="1">
                <a:latin typeface="Times New Roman" panose="02020603050405020304" pitchFamily="18" charset="0"/>
                <a:cs typeface="Times New Roman" panose="02020603050405020304" pitchFamily="18" charset="0"/>
              </a:rPr>
              <a:t>Shahif</a:t>
            </a:r>
            <a:r>
              <a:rPr lang="en-US" sz="2000" dirty="0">
                <a:latin typeface="Times New Roman" panose="02020603050405020304" pitchFamily="18" charset="0"/>
                <a:cs typeface="Times New Roman" panose="02020603050405020304" pitchFamily="18" charset="0"/>
              </a:rPr>
              <a:t>. "AI-Powered Personal Finance Assistant for Intelligent Expense Tracking and Budget Optimization." International Journal of Scientific and Research Technology (IJSART), Volume 11, Issue 4, Pages 1023–1026, April 2025.</a:t>
            </a:r>
          </a:p>
        </p:txBody>
      </p:sp>
      <p:sp>
        <p:nvSpPr>
          <p:cNvPr id="7" name="object 2">
            <a:extLst>
              <a:ext uri="{FF2B5EF4-FFF2-40B4-BE49-F238E27FC236}">
                <a16:creationId xmlns:a16="http://schemas.microsoft.com/office/drawing/2014/main" id="{07F0E128-56BB-D1A1-1DC4-BCBD8590181E}"/>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a:extLst>
              <a:ext uri="{28A0092B-C50C-407E-A947-70E740481C1C}">
                <a14:useLocalDpi xmlns:a14="http://schemas.microsoft.com/office/drawing/2010/main" val="0"/>
              </a:ext>
            </a:extLst>
          </a:blip>
          <a:srcRect/>
          <a:stretch/>
        </p:blipFill>
        <p:spPr>
          <a:xfrm>
            <a:off x="815975" y="1268583"/>
            <a:ext cx="9230994" cy="4635158"/>
          </a:xfrm>
          <a:prstGeom prst="rect">
            <a:avLst/>
          </a:prstGeom>
        </p:spPr>
      </p:pic>
      <p:sp>
        <p:nvSpPr>
          <p:cNvPr id="3" name="object 3"/>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grpSp>
        <p:nvGrpSpPr>
          <p:cNvPr id="5" name="object 5"/>
          <p:cNvGrpSpPr/>
          <p:nvPr/>
        </p:nvGrpSpPr>
        <p:grpSpPr>
          <a:xfrm>
            <a:off x="0" y="216720"/>
            <a:ext cx="12192000" cy="803275"/>
            <a:chOff x="0" y="216720"/>
            <a:chExt cx="12192000" cy="803275"/>
          </a:xfrm>
        </p:grpSpPr>
        <p:pic>
          <p:nvPicPr>
            <p:cNvPr id="6" name="object 6"/>
            <p:cNvPicPr/>
            <p:nvPr/>
          </p:nvPicPr>
          <p:blipFill>
            <a:blip r:embed="rId3" cstate="print"/>
            <a:stretch>
              <a:fillRect/>
            </a:stretch>
          </p:blipFill>
          <p:spPr>
            <a:xfrm>
              <a:off x="0" y="216720"/>
              <a:ext cx="12192000" cy="803160"/>
            </a:xfrm>
            <a:prstGeom prst="rect">
              <a:avLst/>
            </a:prstGeom>
          </p:spPr>
        </p:pic>
        <p:sp>
          <p:nvSpPr>
            <p:cNvPr id="7" name="object 7"/>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8" name="object 8"/>
          <p:cNvSpPr txBox="1">
            <a:spLocks noGrp="1"/>
          </p:cNvSpPr>
          <p:nvPr>
            <p:ph type="title"/>
          </p:nvPr>
        </p:nvSpPr>
        <p:spPr>
          <a:xfrm>
            <a:off x="73025" y="182323"/>
            <a:ext cx="8136255" cy="695960"/>
          </a:xfrm>
          <a:prstGeom prst="rect">
            <a:avLst/>
          </a:prstGeom>
        </p:spPr>
        <p:txBody>
          <a:bodyPr vert="horz" wrap="square" lIns="0" tIns="12700" rIns="0" bIns="0" rtlCol="0">
            <a:spAutoFit/>
          </a:bodyPr>
          <a:lstStyle/>
          <a:p>
            <a:pPr marL="12700">
              <a:lnSpc>
                <a:spcPct val="100000"/>
              </a:lnSpc>
              <a:spcBef>
                <a:spcPts val="100"/>
              </a:spcBef>
              <a:tabLst>
                <a:tab pos="1966595" algn="l"/>
                <a:tab pos="5348605" algn="l"/>
                <a:tab pos="6511925" algn="l"/>
              </a:tabLst>
            </a:pPr>
            <a:r>
              <a:rPr dirty="0"/>
              <a:t>Git</a:t>
            </a:r>
            <a:r>
              <a:rPr spc="-75" dirty="0"/>
              <a:t> </a:t>
            </a:r>
            <a:r>
              <a:rPr spc="-25" dirty="0"/>
              <a:t>Hub</a:t>
            </a:r>
            <a:r>
              <a:rPr dirty="0"/>
              <a:t>	Dashboards</a:t>
            </a:r>
            <a:r>
              <a:rPr spc="-60" dirty="0"/>
              <a:t> </a:t>
            </a:r>
            <a:r>
              <a:rPr spc="-25" dirty="0"/>
              <a:t>of</a:t>
            </a:r>
            <a:r>
              <a:rPr dirty="0"/>
              <a:t>	</a:t>
            </a:r>
            <a:r>
              <a:rPr spc="-20" dirty="0"/>
              <a:t>each</a:t>
            </a:r>
            <a:r>
              <a:rPr dirty="0"/>
              <a:t>	</a:t>
            </a:r>
            <a:r>
              <a:rPr spc="-10" dirty="0"/>
              <a:t>student</a:t>
            </a:r>
          </a:p>
        </p:txBody>
      </p:sp>
      <p:sp>
        <p:nvSpPr>
          <p:cNvPr id="10" name="object 10"/>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11" name="object 11"/>
          <p:cNvSpPr txBox="1">
            <a:spLocks noGrp="1"/>
          </p:cNvSpPr>
          <p:nvPr>
            <p:ph type="dt" sz="half" idx="6"/>
          </p:nvPr>
        </p:nvSpPr>
        <p:spPr>
          <a:xfrm>
            <a:off x="1773949" y="6629559"/>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2" name="object 12"/>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10</a:t>
            </a:fld>
            <a:endParaRPr spc="-25" dirty="0"/>
          </a:p>
        </p:txBody>
      </p:sp>
      <p:sp>
        <p:nvSpPr>
          <p:cNvPr id="9" name="object 9"/>
          <p:cNvSpPr txBox="1"/>
          <p:nvPr/>
        </p:nvSpPr>
        <p:spPr>
          <a:xfrm>
            <a:off x="990600" y="6121377"/>
            <a:ext cx="9056369" cy="320601"/>
          </a:xfrm>
          <a:prstGeom prst="rect">
            <a:avLst/>
          </a:prstGeom>
        </p:spPr>
        <p:txBody>
          <a:bodyPr vert="horz" wrap="square" lIns="0" tIns="12700" rIns="0" bIns="0" rtlCol="0">
            <a:spAutoFit/>
          </a:bodyPr>
          <a:lstStyle/>
          <a:p>
            <a:pPr marL="12700">
              <a:lnSpc>
                <a:spcPct val="100000"/>
              </a:lnSpc>
              <a:spcBef>
                <a:spcPts val="100"/>
              </a:spcBef>
            </a:pPr>
            <a:r>
              <a:rPr sz="2000" spc="-10" dirty="0" err="1">
                <a:latin typeface="Times New Roman" panose="02020603050405020304" pitchFamily="18" charset="0"/>
                <a:cs typeface="Times New Roman" panose="02020603050405020304" pitchFamily="18" charset="0"/>
              </a:rPr>
              <a:t>Github</a:t>
            </a:r>
            <a:r>
              <a:rPr lang="en-US" sz="2000" spc="-10" dirty="0">
                <a:latin typeface="Times New Roman" panose="02020603050405020304" pitchFamily="18" charset="0"/>
                <a:cs typeface="Times New Roman" panose="02020603050405020304" pitchFamily="18" charset="0"/>
              </a:rPr>
              <a:t> Link : https://github.com/hemanthkumarsake/CSE-2022-26-Batch-A06</a:t>
            </a:r>
            <a:endParaRPr sz="2000" dirty="0">
              <a:latin typeface="Times New Roman" panose="02020603050405020304" pitchFamily="18" charset="0"/>
              <a:cs typeface="Times New Roman" panose="02020603050405020304" pitchFamily="18" charset="0"/>
            </a:endParaRPr>
          </a:p>
        </p:txBody>
      </p:sp>
      <p:sp>
        <p:nvSpPr>
          <p:cNvPr id="14" name="object 2">
            <a:extLst>
              <a:ext uri="{FF2B5EF4-FFF2-40B4-BE49-F238E27FC236}">
                <a16:creationId xmlns:a16="http://schemas.microsoft.com/office/drawing/2014/main" id="{531969D9-679C-1AB3-033D-75458D134BD0}"/>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5" name="object 5"/>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lang="en-IN" dirty="0"/>
              <a:t>-</a:t>
            </a:r>
            <a:r>
              <a:rPr spc="-5" dirty="0"/>
              <a:t> </a:t>
            </a:r>
            <a:r>
              <a:rPr lang="en-IN" spc="-25" dirty="0"/>
              <a:t>06</a:t>
            </a:r>
            <a:endParaRPr spc="-25" dirty="0"/>
          </a:p>
        </p:txBody>
      </p:sp>
      <p:sp>
        <p:nvSpPr>
          <p:cNvPr id="6" name="object 6"/>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object 7"/>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11</a:t>
            </a:fld>
            <a:endParaRPr spc="-25" dirty="0"/>
          </a:p>
        </p:txBody>
      </p:sp>
      <p:sp>
        <p:nvSpPr>
          <p:cNvPr id="4" name="object 4"/>
          <p:cNvSpPr txBox="1">
            <a:spLocks noGrp="1"/>
          </p:cNvSpPr>
          <p:nvPr>
            <p:ph type="title"/>
          </p:nvPr>
        </p:nvSpPr>
        <p:spPr>
          <a:xfrm>
            <a:off x="2705705" y="2352272"/>
            <a:ext cx="6692265" cy="1488440"/>
          </a:xfrm>
          <a:prstGeom prst="rect">
            <a:avLst/>
          </a:prstGeom>
        </p:spPr>
        <p:txBody>
          <a:bodyPr vert="horz" wrap="square" lIns="0" tIns="12700" rIns="0" bIns="0" rtlCol="0">
            <a:spAutoFit/>
          </a:bodyPr>
          <a:lstStyle/>
          <a:p>
            <a:pPr marL="12700">
              <a:lnSpc>
                <a:spcPct val="100000"/>
              </a:lnSpc>
              <a:spcBef>
                <a:spcPts val="100"/>
              </a:spcBef>
            </a:pPr>
            <a:r>
              <a:rPr sz="9600" i="1" dirty="0">
                <a:solidFill>
                  <a:srgbClr val="FF6600"/>
                </a:solidFill>
                <a:latin typeface="Times New Roman"/>
                <a:cs typeface="Times New Roman"/>
              </a:rPr>
              <a:t>Any</a:t>
            </a:r>
            <a:r>
              <a:rPr sz="9600" i="1" spc="-30" dirty="0">
                <a:solidFill>
                  <a:srgbClr val="FF6600"/>
                </a:solidFill>
                <a:latin typeface="Times New Roman"/>
                <a:cs typeface="Times New Roman"/>
              </a:rPr>
              <a:t> </a:t>
            </a:r>
            <a:r>
              <a:rPr sz="9600" i="1" spc="-10" dirty="0">
                <a:solidFill>
                  <a:srgbClr val="FF6600"/>
                </a:solidFill>
                <a:latin typeface="Times New Roman"/>
                <a:cs typeface="Times New Roman"/>
              </a:rPr>
              <a:t>Queries?</a:t>
            </a:r>
            <a:endParaRPr sz="9600">
              <a:latin typeface="Times New Roman"/>
              <a:cs typeface="Times New Roman"/>
            </a:endParaRPr>
          </a:p>
        </p:txBody>
      </p:sp>
      <p:sp>
        <p:nvSpPr>
          <p:cNvPr id="9" name="object 2">
            <a:extLst>
              <a:ext uri="{FF2B5EF4-FFF2-40B4-BE49-F238E27FC236}">
                <a16:creationId xmlns:a16="http://schemas.microsoft.com/office/drawing/2014/main" id="{1FB95357-1AC8-3787-8BDD-A655931299CF}"/>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CA3ED-FD00-8D80-6195-3BBAAD1B29F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60799E2-69A4-D03C-1061-DE7E96EF5E8A}"/>
              </a:ext>
            </a:extLst>
          </p:cNvPr>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5" name="object 5">
            <a:extLst>
              <a:ext uri="{FF2B5EF4-FFF2-40B4-BE49-F238E27FC236}">
                <a16:creationId xmlns:a16="http://schemas.microsoft.com/office/drawing/2014/main" id="{9CFB6713-804A-08B5-7F54-19D1630BED50}"/>
              </a:ext>
            </a:extLst>
          </p:cNvPr>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lang="en-IN" dirty="0"/>
              <a:t>-</a:t>
            </a:r>
            <a:r>
              <a:rPr spc="-5" dirty="0"/>
              <a:t> </a:t>
            </a:r>
            <a:r>
              <a:rPr lang="en-IN" spc="-25" dirty="0"/>
              <a:t>06</a:t>
            </a:r>
            <a:endParaRPr spc="-25" dirty="0"/>
          </a:p>
        </p:txBody>
      </p:sp>
      <p:sp>
        <p:nvSpPr>
          <p:cNvPr id="6" name="object 6">
            <a:extLst>
              <a:ext uri="{FF2B5EF4-FFF2-40B4-BE49-F238E27FC236}">
                <a16:creationId xmlns:a16="http://schemas.microsoft.com/office/drawing/2014/main" id="{C5957A7A-CD65-96AE-504D-573850C859A5}"/>
              </a:ext>
            </a:extLst>
          </p:cNvPr>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object 7">
            <a:extLst>
              <a:ext uri="{FF2B5EF4-FFF2-40B4-BE49-F238E27FC236}">
                <a16:creationId xmlns:a16="http://schemas.microsoft.com/office/drawing/2014/main" id="{D5EEA178-0B2C-E35D-A694-7183BFB18958}"/>
              </a:ext>
            </a:extLst>
          </p:cNvPr>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8" name="object 8">
            <a:extLst>
              <a:ext uri="{FF2B5EF4-FFF2-40B4-BE49-F238E27FC236}">
                <a16:creationId xmlns:a16="http://schemas.microsoft.com/office/drawing/2014/main" id="{4D84D2A4-ED52-37A1-F03C-0E9069AFDFBB}"/>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12</a:t>
            </a:fld>
            <a:endParaRPr spc="-25" dirty="0"/>
          </a:p>
        </p:txBody>
      </p:sp>
      <p:sp>
        <p:nvSpPr>
          <p:cNvPr id="4" name="object 4">
            <a:extLst>
              <a:ext uri="{FF2B5EF4-FFF2-40B4-BE49-F238E27FC236}">
                <a16:creationId xmlns:a16="http://schemas.microsoft.com/office/drawing/2014/main" id="{E2DEE184-FDA7-887B-0848-374471681780}"/>
              </a:ext>
            </a:extLst>
          </p:cNvPr>
          <p:cNvSpPr txBox="1">
            <a:spLocks noGrp="1"/>
          </p:cNvSpPr>
          <p:nvPr>
            <p:ph type="title"/>
          </p:nvPr>
        </p:nvSpPr>
        <p:spPr>
          <a:xfrm>
            <a:off x="2706766" y="2685864"/>
            <a:ext cx="6778468" cy="1490152"/>
          </a:xfrm>
          <a:prstGeom prst="rect">
            <a:avLst/>
          </a:prstGeom>
        </p:spPr>
        <p:txBody>
          <a:bodyPr vert="horz" wrap="square" lIns="0" tIns="12700" rIns="0" bIns="0" rtlCol="0">
            <a:spAutoFit/>
          </a:bodyPr>
          <a:lstStyle/>
          <a:p>
            <a:pPr marL="12700">
              <a:lnSpc>
                <a:spcPct val="100000"/>
              </a:lnSpc>
              <a:spcBef>
                <a:spcPts val="100"/>
              </a:spcBef>
            </a:pPr>
            <a:r>
              <a:rPr lang="en-US" sz="9600" i="1" dirty="0">
                <a:solidFill>
                  <a:srgbClr val="FF6600"/>
                </a:solidFill>
                <a:latin typeface="Times New Roman"/>
                <a:cs typeface="Times New Roman"/>
              </a:rPr>
              <a:t>Thank You!!!</a:t>
            </a:r>
            <a:endParaRPr sz="9600" dirty="0">
              <a:latin typeface="Times New Roman"/>
              <a:cs typeface="Times New Roman"/>
            </a:endParaRPr>
          </a:p>
        </p:txBody>
      </p:sp>
      <p:sp>
        <p:nvSpPr>
          <p:cNvPr id="9" name="object 2">
            <a:extLst>
              <a:ext uri="{FF2B5EF4-FFF2-40B4-BE49-F238E27FC236}">
                <a16:creationId xmlns:a16="http://schemas.microsoft.com/office/drawing/2014/main" id="{7D5BDDFC-918D-FEF2-9FC5-6A5379894BE6}"/>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extLst>
      <p:ext uri="{BB962C8B-B14F-4D97-AF65-F5344CB8AC3E}">
        <p14:creationId xmlns:p14="http://schemas.microsoft.com/office/powerpoint/2010/main" val="7771628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861</TotalTime>
  <Words>1369</Words>
  <Application>Microsoft Office PowerPoint</Application>
  <PresentationFormat>Widescreen</PresentationFormat>
  <Paragraphs>145</Paragraphs>
  <Slides>12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Calibri</vt:lpstr>
      <vt:lpstr>Lucida Sans Unicode</vt:lpstr>
      <vt:lpstr>Times New Roman</vt:lpstr>
      <vt:lpstr>Wingdings</vt:lpstr>
      <vt:lpstr>Office Theme</vt:lpstr>
      <vt:lpstr>AI-Based Personal Finance Manager with Smart Expense Prediction System</vt:lpstr>
      <vt:lpstr>Contents</vt:lpstr>
      <vt:lpstr>Title Justification</vt:lpstr>
      <vt:lpstr>Abstract</vt:lpstr>
      <vt:lpstr>Problem Statement</vt:lpstr>
      <vt:lpstr>Objectives of Project</vt:lpstr>
      <vt:lpstr>PowerPoint Presentation</vt:lpstr>
      <vt:lpstr>Proposed System</vt:lpstr>
      <vt:lpstr>References</vt:lpstr>
      <vt:lpstr>Git Hub Dashboards of each student</vt:lpstr>
      <vt:lpstr>Any Queries?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Hemanth Kumar</dc:creator>
  <cp:lastModifiedBy>Hemanth Kumar</cp:lastModifiedBy>
  <cp:revision>42</cp:revision>
  <dcterms:created xsi:type="dcterms:W3CDTF">2025-12-04T07:04:46Z</dcterms:created>
  <dcterms:modified xsi:type="dcterms:W3CDTF">2025-12-12T14:15:20Z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2025-12-04T00:00:00Z</vt:filetime>
  </property>
  <property fmtid="{D5CDD505-2E9C-101B-9397-08002B2CF9AE}" pid="3" name="Creator">
    <vt:lpwstr>Google</vt:lpwstr>
  </property>
  <property fmtid="{D5CDD505-2E9C-101B-9397-08002B2CF9AE}" pid="4" name="LastSaved">
    <vt:filetime>2025-12-04T00:00:00Z</vt:filetime>
  </property>
</Properties>
</file>