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9" r:id="rId4"/>
    <p:sldId id="260" r:id="rId5"/>
    <p:sldId id="261" r:id="rId6"/>
    <p:sldId id="262" r:id="rId7"/>
    <p:sldId id="263" r:id="rId8"/>
    <p:sldId id="274" r:id="rId9"/>
    <p:sldId id="277" r:id="rId10"/>
    <p:sldId id="264" r:id="rId11"/>
    <p:sldId id="278" r:id="rId12"/>
    <p:sldId id="279" r:id="rId13"/>
    <p:sldId id="280" r:id="rId14"/>
    <p:sldId id="281" r:id="rId15"/>
    <p:sldId id="282" r:id="rId16"/>
    <p:sldId id="265" r:id="rId17"/>
    <p:sldId id="268" r:id="rId18"/>
    <p:sldId id="308" r:id="rId19"/>
    <p:sldId id="271" r:id="rId20"/>
    <p:sldId id="307" r:id="rId21"/>
    <p:sldId id="273" r:id="rId22"/>
    <p:sldId id="309" r:id="rId23"/>
    <p:sldId id="267" r:id="rId24"/>
    <p:sldId id="266"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p:cViewPr varScale="1">
        <p:scale>
          <a:sx n="82" d="100"/>
          <a:sy n="82" d="100"/>
        </p:scale>
        <p:origin x="691"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22486BD-0CDD-4D05-BE6D-30FDC2FD2F34}" type="datetimeFigureOut">
              <a:rPr lang="en-IN" smtClean="0"/>
              <a:t>11-07-2026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22DD3BB-8524-40C8-A9B6-19FD676231C9}" type="slidenum">
              <a:rPr lang="en-IN" smtClean="0"/>
              <a:t>‹#›</a:t>
            </a:fld>
            <a:endParaRPr lang="en-IN"/>
          </a:p>
        </p:txBody>
      </p:sp>
    </p:spTree>
    <p:extLst>
      <p:ext uri="{BB962C8B-B14F-4D97-AF65-F5344CB8AC3E}">
        <p14:creationId xmlns:p14="http://schemas.microsoft.com/office/powerpoint/2010/main" val="1161459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22DD3BB-8524-40C8-A9B6-19FD676231C9}" type="slidenum">
              <a:rPr lang="en-IN" smtClean="0"/>
              <a:t>2</a:t>
            </a:fld>
            <a:endParaRPr lang="en-IN"/>
          </a:p>
        </p:txBody>
      </p:sp>
    </p:spTree>
    <p:extLst>
      <p:ext uri="{BB962C8B-B14F-4D97-AF65-F5344CB8AC3E}">
        <p14:creationId xmlns:p14="http://schemas.microsoft.com/office/powerpoint/2010/main" val="1221796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2"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1" name="bg object 21"/>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2814" y="6642719"/>
            <a:ext cx="5498465" cy="215265"/>
          </a:xfrm>
          <a:custGeom>
            <a:avLst/>
            <a:gdLst/>
            <a:ahLst/>
            <a:cxnLst/>
            <a:rect l="l" t="t" r="r" b="b"/>
            <a:pathLst>
              <a:path w="5498465" h="215265">
                <a:moveTo>
                  <a:pt x="0" y="214919"/>
                </a:moveTo>
                <a:lnTo>
                  <a:pt x="5498224" y="214919"/>
                </a:lnTo>
                <a:lnTo>
                  <a:pt x="5498224" y="0"/>
                </a:lnTo>
                <a:lnTo>
                  <a:pt x="0" y="0"/>
                </a:lnTo>
                <a:lnTo>
                  <a:pt x="0" y="214919"/>
                </a:lnTo>
                <a:close/>
              </a:path>
            </a:pathLst>
          </a:custGeom>
          <a:solidFill>
            <a:srgbClr val="002060"/>
          </a:solidFill>
        </p:spPr>
        <p:txBody>
          <a:bodyPr wrap="square" lIns="0" tIns="0" rIns="0" bIns="0" rtlCol="0"/>
          <a:lstStyle/>
          <a:p>
            <a:endParaRPr/>
          </a:p>
        </p:txBody>
      </p:sp>
      <p:sp>
        <p:nvSpPr>
          <p:cNvPr id="17" name="bg object 17"/>
          <p:cNvSpPr/>
          <p:nvPr/>
        </p:nvSpPr>
        <p:spPr>
          <a:xfrm>
            <a:off x="6431400" y="6641999"/>
            <a:ext cx="5191760" cy="215900"/>
          </a:xfrm>
          <a:custGeom>
            <a:avLst/>
            <a:gdLst/>
            <a:ahLst/>
            <a:cxnLst/>
            <a:rect l="l" t="t" r="r" b="b"/>
            <a:pathLst>
              <a:path w="5191759" h="215900">
                <a:moveTo>
                  <a:pt x="0" y="215639"/>
                </a:moveTo>
                <a:lnTo>
                  <a:pt x="5191639" y="215639"/>
                </a:lnTo>
                <a:lnTo>
                  <a:pt x="5191639" y="0"/>
                </a:lnTo>
                <a:lnTo>
                  <a:pt x="0" y="0"/>
                </a:lnTo>
                <a:lnTo>
                  <a:pt x="0" y="215639"/>
                </a:lnTo>
                <a:close/>
              </a:path>
            </a:pathLst>
          </a:custGeom>
          <a:solidFill>
            <a:srgbClr val="008080"/>
          </a:solidFill>
        </p:spPr>
        <p:txBody>
          <a:bodyPr wrap="square" lIns="0" tIns="0" rIns="0" bIns="0" rtlCol="0"/>
          <a:lstStyle/>
          <a:p>
            <a:endParaRPr/>
          </a:p>
        </p:txBody>
      </p:sp>
      <p:sp>
        <p:nvSpPr>
          <p:cNvPr id="18" name="bg object 18"/>
          <p:cNvSpPr/>
          <p:nvPr/>
        </p:nvSpPr>
        <p:spPr>
          <a:xfrm>
            <a:off x="11623040" y="6642099"/>
            <a:ext cx="568960" cy="215900"/>
          </a:xfrm>
          <a:custGeom>
            <a:avLst/>
            <a:gdLst/>
            <a:ahLst/>
            <a:cxnLst/>
            <a:rect l="l" t="t" r="r" b="b"/>
            <a:pathLst>
              <a:path w="568959" h="215900">
                <a:moveTo>
                  <a:pt x="568959" y="215899"/>
                </a:moveTo>
                <a:lnTo>
                  <a:pt x="0" y="215899"/>
                </a:lnTo>
                <a:lnTo>
                  <a:pt x="0" y="0"/>
                </a:lnTo>
                <a:lnTo>
                  <a:pt x="568959" y="0"/>
                </a:lnTo>
                <a:lnTo>
                  <a:pt x="568959" y="215899"/>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320" y="5956200"/>
            <a:ext cx="685439" cy="681285"/>
          </a:xfrm>
          <a:prstGeom prst="rect">
            <a:avLst/>
          </a:prstGeom>
        </p:spPr>
      </p:pic>
      <p:sp>
        <p:nvSpPr>
          <p:cNvPr id="20" name="bg object 20"/>
          <p:cNvSpPr/>
          <p:nvPr/>
        </p:nvSpPr>
        <p:spPr>
          <a:xfrm>
            <a:off x="0" y="6642734"/>
            <a:ext cx="932815" cy="214629"/>
          </a:xfrm>
          <a:custGeom>
            <a:avLst/>
            <a:gdLst/>
            <a:ahLst/>
            <a:cxnLst/>
            <a:rect l="l" t="t" r="r" b="b"/>
            <a:pathLst>
              <a:path w="932815" h="214629">
                <a:moveTo>
                  <a:pt x="932814" y="214629"/>
                </a:moveTo>
                <a:lnTo>
                  <a:pt x="0" y="214629"/>
                </a:lnTo>
                <a:lnTo>
                  <a:pt x="0" y="0"/>
                </a:lnTo>
                <a:lnTo>
                  <a:pt x="932814" y="0"/>
                </a:lnTo>
                <a:lnTo>
                  <a:pt x="932814" y="214629"/>
                </a:lnTo>
                <a:close/>
              </a:path>
            </a:pathLst>
          </a:custGeom>
          <a:solidFill>
            <a:srgbClr val="C55A11"/>
          </a:solidFill>
        </p:spPr>
        <p:txBody>
          <a:bodyPr wrap="square" lIns="0" tIns="0" rIns="0" bIns="0" rtlCol="0"/>
          <a:lstStyle/>
          <a:p>
            <a:endParaRPr/>
          </a:p>
        </p:txBody>
      </p:sp>
      <p:sp>
        <p:nvSpPr>
          <p:cNvPr id="2" name="Holder 2"/>
          <p:cNvSpPr>
            <a:spLocks noGrp="1"/>
          </p:cNvSpPr>
          <p:nvPr>
            <p:ph type="title"/>
          </p:nvPr>
        </p:nvSpPr>
        <p:spPr>
          <a:xfrm>
            <a:off x="73025" y="182323"/>
            <a:ext cx="4739005"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36899" y="1074318"/>
            <a:ext cx="11346815" cy="3137535"/>
          </a:xfrm>
          <a:prstGeom prst="rect">
            <a:avLst/>
          </a:prstGeom>
        </p:spPr>
        <p:txBody>
          <a:bodyPr wrap="square" lIns="0" tIns="0" rIns="0" bIns="0">
            <a:spAutoFit/>
          </a:bodyPr>
          <a:lstStyle>
            <a:lvl1pPr>
              <a:defRPr sz="2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149031" y="6629427"/>
            <a:ext cx="63500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dirty="0"/>
              <a:t>A</a:t>
            </a:r>
            <a:r>
              <a:rPr spc="-10" dirty="0"/>
              <a:t> </a:t>
            </a:r>
            <a:r>
              <a:rPr dirty="0"/>
              <a:t>-</a:t>
            </a:r>
            <a:r>
              <a:rPr spc="-5" dirty="0"/>
              <a:t> </a:t>
            </a:r>
            <a:r>
              <a:rPr spc="-25" dirty="0"/>
              <a:t>XX</a:t>
            </a:r>
          </a:p>
        </p:txBody>
      </p:sp>
      <p:sp>
        <p:nvSpPr>
          <p:cNvPr id="5" name="Holder 5"/>
          <p:cNvSpPr>
            <a:spLocks noGrp="1"/>
          </p:cNvSpPr>
          <p:nvPr>
            <p:ph type="dt" sz="half" idx="6"/>
          </p:nvPr>
        </p:nvSpPr>
        <p:spPr>
          <a:xfrm>
            <a:off x="1773949" y="6629558"/>
            <a:ext cx="3661410"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6" name="Holder 6"/>
          <p:cNvSpPr>
            <a:spLocks noGrp="1"/>
          </p:cNvSpPr>
          <p:nvPr>
            <p:ph type="sldNum" sz="quarter" idx="7"/>
          </p:nvPr>
        </p:nvSpPr>
        <p:spPr>
          <a:xfrm>
            <a:off x="11793245" y="6629427"/>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hyperlink" Target="https://github.com/hemanthkumarsake/CSE-2022-26-Batch-A06"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40" y="6634440"/>
            <a:ext cx="11414760" cy="223520"/>
            <a:chOff x="777240" y="6634440"/>
            <a:chExt cx="11414760" cy="223520"/>
          </a:xfrm>
        </p:grpSpPr>
        <p:sp>
          <p:nvSpPr>
            <p:cNvPr id="3" name="object 3"/>
            <p:cNvSpPr/>
            <p:nvPr/>
          </p:nvSpPr>
          <p:spPr>
            <a:xfrm>
              <a:off x="777240" y="6634440"/>
              <a:ext cx="5781675" cy="220979"/>
            </a:xfrm>
            <a:custGeom>
              <a:avLst/>
              <a:gdLst/>
              <a:ahLst/>
              <a:cxnLst/>
              <a:rect l="l" t="t" r="r" b="b"/>
              <a:pathLst>
                <a:path w="5781675" h="220979">
                  <a:moveTo>
                    <a:pt x="5781599" y="220679"/>
                  </a:moveTo>
                  <a:lnTo>
                    <a:pt x="0" y="220679"/>
                  </a:lnTo>
                  <a:lnTo>
                    <a:pt x="0" y="0"/>
                  </a:lnTo>
                  <a:lnTo>
                    <a:pt x="5781599" y="0"/>
                  </a:lnTo>
                  <a:lnTo>
                    <a:pt x="5781599" y="220679"/>
                  </a:lnTo>
                  <a:close/>
                </a:path>
              </a:pathLst>
            </a:custGeom>
            <a:solidFill>
              <a:srgbClr val="002060"/>
            </a:solidFill>
          </p:spPr>
          <p:txBody>
            <a:bodyPr wrap="square" lIns="0" tIns="0" rIns="0" bIns="0" rtlCol="0"/>
            <a:lstStyle/>
            <a:p>
              <a:endParaRPr/>
            </a:p>
          </p:txBody>
        </p:sp>
        <p:sp>
          <p:nvSpPr>
            <p:cNvPr id="4" name="object 4"/>
            <p:cNvSpPr/>
            <p:nvPr/>
          </p:nvSpPr>
          <p:spPr>
            <a:xfrm>
              <a:off x="6559199" y="6634440"/>
              <a:ext cx="5194935" cy="220979"/>
            </a:xfrm>
            <a:custGeom>
              <a:avLst/>
              <a:gdLst/>
              <a:ahLst/>
              <a:cxnLst/>
              <a:rect l="l" t="t" r="r" b="b"/>
              <a:pathLst>
                <a:path w="5194934" h="220979">
                  <a:moveTo>
                    <a:pt x="5194799" y="220679"/>
                  </a:moveTo>
                  <a:lnTo>
                    <a:pt x="0" y="220679"/>
                  </a:lnTo>
                  <a:lnTo>
                    <a:pt x="0" y="0"/>
                  </a:lnTo>
                  <a:lnTo>
                    <a:pt x="5194799" y="0"/>
                  </a:lnTo>
                  <a:lnTo>
                    <a:pt x="5194799" y="220679"/>
                  </a:lnTo>
                  <a:close/>
                </a:path>
              </a:pathLst>
            </a:custGeom>
            <a:solidFill>
              <a:srgbClr val="008080"/>
            </a:solidFill>
          </p:spPr>
          <p:txBody>
            <a:bodyPr wrap="square" lIns="0" tIns="0" rIns="0" bIns="0" rtlCol="0"/>
            <a:lstStyle/>
            <a:p>
              <a:endParaRPr/>
            </a:p>
          </p:txBody>
        </p:sp>
        <p:sp>
          <p:nvSpPr>
            <p:cNvPr id="5" name="object 5"/>
            <p:cNvSpPr/>
            <p:nvPr/>
          </p:nvSpPr>
          <p:spPr>
            <a:xfrm>
              <a:off x="11754359" y="6636960"/>
              <a:ext cx="437515" cy="220979"/>
            </a:xfrm>
            <a:custGeom>
              <a:avLst/>
              <a:gdLst/>
              <a:ahLst/>
              <a:cxnLst/>
              <a:rect l="l" t="t" r="r" b="b"/>
              <a:pathLst>
                <a:path w="437515" h="220979">
                  <a:moveTo>
                    <a:pt x="437399" y="220679"/>
                  </a:moveTo>
                  <a:lnTo>
                    <a:pt x="0" y="220679"/>
                  </a:lnTo>
                  <a:lnTo>
                    <a:pt x="0" y="0"/>
                  </a:lnTo>
                  <a:lnTo>
                    <a:pt x="437399" y="0"/>
                  </a:lnTo>
                  <a:lnTo>
                    <a:pt x="437399" y="220679"/>
                  </a:lnTo>
                  <a:close/>
                </a:path>
              </a:pathLst>
            </a:custGeom>
            <a:solidFill>
              <a:srgbClr val="FFC000"/>
            </a:solidFill>
          </p:spPr>
          <p:txBody>
            <a:bodyPr wrap="square" lIns="0" tIns="0" rIns="0" bIns="0" rtlCol="0"/>
            <a:lstStyle/>
            <a:p>
              <a:endParaRPr/>
            </a:p>
          </p:txBody>
        </p:sp>
      </p:grpSp>
      <p:sp>
        <p:nvSpPr>
          <p:cNvPr id="6" name="object 6"/>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7" name="object 7"/>
          <p:cNvSpPr/>
          <p:nvPr/>
        </p:nvSpPr>
        <p:spPr>
          <a:xfrm>
            <a:off x="0" y="6634440"/>
            <a:ext cx="777240" cy="221615"/>
          </a:xfrm>
          <a:custGeom>
            <a:avLst/>
            <a:gdLst/>
            <a:ahLst/>
            <a:cxnLst/>
            <a:rect l="l" t="t" r="r" b="b"/>
            <a:pathLst>
              <a:path w="777240" h="221615">
                <a:moveTo>
                  <a:pt x="776879" y="221039"/>
                </a:moveTo>
                <a:lnTo>
                  <a:pt x="0" y="221039"/>
                </a:lnTo>
                <a:lnTo>
                  <a:pt x="0" y="0"/>
                </a:lnTo>
                <a:lnTo>
                  <a:pt x="776879" y="0"/>
                </a:lnTo>
                <a:lnTo>
                  <a:pt x="776879" y="221039"/>
                </a:lnTo>
                <a:close/>
              </a:path>
            </a:pathLst>
          </a:custGeom>
          <a:solidFill>
            <a:srgbClr val="C55A11"/>
          </a:solidFill>
        </p:spPr>
        <p:txBody>
          <a:bodyPr wrap="square" lIns="0" tIns="0" rIns="0" bIns="0" rtlCol="0"/>
          <a:lstStyle/>
          <a:p>
            <a:endParaRPr/>
          </a:p>
        </p:txBody>
      </p:sp>
      <p:grpSp>
        <p:nvGrpSpPr>
          <p:cNvPr id="14" name="object 14"/>
          <p:cNvGrpSpPr/>
          <p:nvPr/>
        </p:nvGrpSpPr>
        <p:grpSpPr>
          <a:xfrm>
            <a:off x="715009" y="318271"/>
            <a:ext cx="10608310" cy="937894"/>
            <a:chOff x="715009" y="318271"/>
            <a:chExt cx="10608310" cy="937894"/>
          </a:xfrm>
        </p:grpSpPr>
        <p:pic>
          <p:nvPicPr>
            <p:cNvPr id="15" name="object 15"/>
            <p:cNvPicPr/>
            <p:nvPr/>
          </p:nvPicPr>
          <p:blipFill>
            <a:blip r:embed="rId2" cstate="print"/>
            <a:stretch>
              <a:fillRect/>
            </a:stretch>
          </p:blipFill>
          <p:spPr>
            <a:xfrm>
              <a:off x="715009" y="318271"/>
              <a:ext cx="10608182" cy="937864"/>
            </a:xfrm>
            <a:prstGeom prst="rect">
              <a:avLst/>
            </a:prstGeom>
          </p:spPr>
        </p:pic>
        <p:sp>
          <p:nvSpPr>
            <p:cNvPr id="16" name="object 16"/>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8" name="object 18"/>
          <p:cNvSpPr txBox="1"/>
          <p:nvPr/>
        </p:nvSpPr>
        <p:spPr>
          <a:xfrm>
            <a:off x="5987420" y="1278968"/>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dirty="0">
              <a:latin typeface="Times New Roman"/>
              <a:cs typeface="Times New Roman"/>
            </a:endParaRPr>
          </a:p>
        </p:txBody>
      </p:sp>
      <p:sp>
        <p:nvSpPr>
          <p:cNvPr id="22" name="object 8">
            <a:extLst>
              <a:ext uri="{FF2B5EF4-FFF2-40B4-BE49-F238E27FC236}">
                <a16:creationId xmlns:a16="http://schemas.microsoft.com/office/drawing/2014/main" id="{FEE95ADA-7FE8-42A2-741D-DF6198D01670}"/>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23" name="object 9">
            <a:extLst>
              <a:ext uri="{FF2B5EF4-FFF2-40B4-BE49-F238E27FC236}">
                <a16:creationId xmlns:a16="http://schemas.microsoft.com/office/drawing/2014/main" id="{92DC7436-16E1-998A-2673-3CD60CBA08DA}"/>
              </a:ext>
            </a:extLst>
          </p:cNvPr>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lang="en-US" cap="small" spc="-75" dirty="0"/>
              <a:t>Dept.</a:t>
            </a:r>
            <a:r>
              <a:rPr lang="en-US" cap="small" spc="-10" dirty="0"/>
              <a:t> </a:t>
            </a:r>
            <a:r>
              <a:rPr lang="en-US" cap="small" spc="-100" dirty="0"/>
              <a:t>of</a:t>
            </a:r>
            <a:r>
              <a:rPr lang="en-US" cap="small" spc="50" dirty="0"/>
              <a:t> </a:t>
            </a:r>
            <a:r>
              <a:rPr lang="en-US" cap="small" spc="-114" dirty="0"/>
              <a:t>Computer</a:t>
            </a:r>
            <a:r>
              <a:rPr lang="en-US" cap="small" spc="60" dirty="0"/>
              <a:t> </a:t>
            </a:r>
            <a:r>
              <a:rPr lang="en-US" cap="small" spc="-95" dirty="0"/>
              <a:t>Science</a:t>
            </a:r>
            <a:r>
              <a:rPr lang="en-US" cap="small" spc="55" dirty="0"/>
              <a:t> </a:t>
            </a:r>
            <a:r>
              <a:rPr lang="en-US" cap="small" spc="-130" dirty="0"/>
              <a:t>and</a:t>
            </a:r>
            <a:r>
              <a:rPr lang="en-US" cap="small" spc="55" dirty="0"/>
              <a:t> </a:t>
            </a:r>
            <a:r>
              <a:rPr lang="en-US" cap="small" spc="-130" dirty="0"/>
              <a:t>Engineering</a:t>
            </a:r>
          </a:p>
        </p:txBody>
      </p:sp>
      <p:sp>
        <p:nvSpPr>
          <p:cNvPr id="24" name="object 10">
            <a:extLst>
              <a:ext uri="{FF2B5EF4-FFF2-40B4-BE49-F238E27FC236}">
                <a16:creationId xmlns:a16="http://schemas.microsoft.com/office/drawing/2014/main" id="{FE8984DC-A1BF-E526-76FD-E9A0AAB77F19}"/>
              </a:ext>
            </a:extLst>
          </p:cNvPr>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25" name="object 11">
            <a:extLst>
              <a:ext uri="{FF2B5EF4-FFF2-40B4-BE49-F238E27FC236}">
                <a16:creationId xmlns:a16="http://schemas.microsoft.com/office/drawing/2014/main" id="{D8B793AA-916F-2AFA-5718-0EEB95EE9ECA}"/>
              </a:ext>
            </a:extLst>
          </p:cNvPr>
          <p:cNvSpPr txBox="1">
            <a:spLocks noGrp="1"/>
          </p:cNvSpPr>
          <p:nvPr>
            <p:ph type="sldNum" sz="quarter" idx="7"/>
          </p:nvPr>
        </p:nvSpPr>
        <p:spPr>
          <a:xfrm>
            <a:off x="11793245" y="6629427"/>
            <a:ext cx="228600" cy="250825"/>
          </a:xfrm>
          <a:prstGeom prst="rect">
            <a:avLst/>
          </a:prstGeom>
        </p:spPr>
        <p:txBody>
          <a:bodyPr vert="horz" wrap="square" lIns="0" tIns="0" rIns="0" bIns="0" rtlCol="0">
            <a:spAutoFit/>
          </a:bodyPr>
          <a:lstStyle/>
          <a:p>
            <a:pPr marL="12700">
              <a:lnSpc>
                <a:spcPts val="1845"/>
              </a:lnSpc>
            </a:pPr>
            <a:fld id="{81D60167-4931-47E6-BA6A-407CBD079E47}" type="slidenum">
              <a:rPr spc="-25" dirty="0"/>
              <a:t>1</a:t>
            </a:fld>
            <a:endParaRPr spc="-25" dirty="0"/>
          </a:p>
        </p:txBody>
      </p:sp>
      <p:sp>
        <p:nvSpPr>
          <p:cNvPr id="62" name="Subtitle 11">
            <a:extLst>
              <a:ext uri="{FF2B5EF4-FFF2-40B4-BE49-F238E27FC236}">
                <a16:creationId xmlns:a16="http://schemas.microsoft.com/office/drawing/2014/main" id="{AE46F034-2FA5-B71D-AE1D-689D51B413F6}"/>
              </a:ext>
            </a:extLst>
          </p:cNvPr>
          <p:cNvSpPr txBox="1"/>
          <p:nvPr/>
        </p:nvSpPr>
        <p:spPr>
          <a:xfrm>
            <a:off x="8796432" y="1724002"/>
            <a:ext cx="2486876" cy="584534"/>
          </a:xfrm>
          <a:prstGeom prst="rect">
            <a:avLst/>
          </a:prstGeom>
        </p:spPr>
        <p:txBody>
          <a:bodyPr vert="horz" lIns="91440" tIns="45720" rIns="91440" bIns="45720" rtlCol="0">
            <a:normAutofit fontScale="4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5400" b="0" dirty="0">
                <a:effectLst>
                  <a:outerShdw blurRad="38100" dist="38100" dir="2700000" algn="tl">
                    <a:srgbClr val="000000">
                      <a:alpha val="43137"/>
                    </a:srgbClr>
                  </a:outerShdw>
                </a:effectLst>
              </a:rPr>
              <a:t>T. PAVAN</a:t>
            </a:r>
            <a:endParaRPr lang="en-US" sz="5400" b="0" dirty="0">
              <a:effectLst>
                <a:outerShdw blurRad="38100" dist="38100" dir="2700000" algn="tl">
                  <a:srgbClr val="000000">
                    <a:alpha val="43137"/>
                  </a:srgbClr>
                </a:outerShdw>
              </a:effectLst>
            </a:endParaRPr>
          </a:p>
          <a:p>
            <a:pPr>
              <a:spcBef>
                <a:spcPts val="300"/>
              </a:spcBef>
            </a:pPr>
            <a:r>
              <a:rPr lang="en-US" sz="2800" b="0" dirty="0"/>
              <a:t>Roll No. 224G1A0567</a:t>
            </a:r>
          </a:p>
        </p:txBody>
      </p:sp>
      <p:sp>
        <p:nvSpPr>
          <p:cNvPr id="63" name="Subtitle 11">
            <a:extLst>
              <a:ext uri="{FF2B5EF4-FFF2-40B4-BE49-F238E27FC236}">
                <a16:creationId xmlns:a16="http://schemas.microsoft.com/office/drawing/2014/main" id="{7C64BAD6-6DD6-A618-D8E3-7C30A6E200CF}"/>
              </a:ext>
            </a:extLst>
          </p:cNvPr>
          <p:cNvSpPr txBox="1"/>
          <p:nvPr/>
        </p:nvSpPr>
        <p:spPr>
          <a:xfrm>
            <a:off x="4304502" y="1724002"/>
            <a:ext cx="4477934" cy="584534"/>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IN" sz="4700" b="0" dirty="0">
                <a:effectLst>
                  <a:outerShdw blurRad="38100" dist="38100" dir="2700000" algn="tl">
                    <a:srgbClr val="000000">
                      <a:alpha val="43137"/>
                    </a:srgbClr>
                  </a:outerShdw>
                </a:effectLst>
              </a:rPr>
              <a:t>B. JAHNAV ARJUN GOWD</a:t>
            </a:r>
            <a:endParaRPr lang="en-US" sz="4700" b="0" dirty="0">
              <a:effectLst>
                <a:outerShdw blurRad="38100" dist="38100" dir="2700000" algn="tl">
                  <a:srgbClr val="000000">
                    <a:alpha val="43137"/>
                  </a:srgbClr>
                </a:outerShdw>
              </a:effectLst>
            </a:endParaRPr>
          </a:p>
          <a:p>
            <a:pPr>
              <a:spcBef>
                <a:spcPts val="300"/>
              </a:spcBef>
            </a:pPr>
            <a:r>
              <a:rPr lang="en-US" sz="2400" b="0" dirty="0"/>
              <a:t>Roll No. 224G1A0532</a:t>
            </a:r>
          </a:p>
        </p:txBody>
      </p:sp>
      <p:sp>
        <p:nvSpPr>
          <p:cNvPr id="64" name="Subtitle 11">
            <a:extLst>
              <a:ext uri="{FF2B5EF4-FFF2-40B4-BE49-F238E27FC236}">
                <a16:creationId xmlns:a16="http://schemas.microsoft.com/office/drawing/2014/main" id="{358C0517-8B9B-8C10-D9E5-B4307188048F}"/>
              </a:ext>
            </a:extLst>
          </p:cNvPr>
          <p:cNvSpPr txBox="1"/>
          <p:nvPr/>
        </p:nvSpPr>
        <p:spPr>
          <a:xfrm>
            <a:off x="755009" y="1724002"/>
            <a:ext cx="3549493" cy="584534"/>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4200" b="0" dirty="0">
                <a:effectLst>
                  <a:outerShdw blurRad="38100" dist="38100" dir="2700000" algn="tl">
                    <a:srgbClr val="000000">
                      <a:alpha val="43137"/>
                    </a:srgbClr>
                  </a:outerShdw>
                </a:effectLst>
              </a:rPr>
              <a:t>S. HEMANTH KUMAR</a:t>
            </a:r>
          </a:p>
          <a:p>
            <a:pPr>
              <a:spcBef>
                <a:spcPts val="300"/>
              </a:spcBef>
            </a:pPr>
            <a:r>
              <a:rPr lang="en-US" sz="2100" b="0" dirty="0"/>
              <a:t>Roll No. 224G1A0528</a:t>
            </a:r>
          </a:p>
        </p:txBody>
      </p:sp>
      <p:sp>
        <p:nvSpPr>
          <p:cNvPr id="67" name="Rectangle: Rounded Corners 16">
            <a:extLst>
              <a:ext uri="{FF2B5EF4-FFF2-40B4-BE49-F238E27FC236}">
                <a16:creationId xmlns:a16="http://schemas.microsoft.com/office/drawing/2014/main" id="{EF7C6A9A-9945-36C7-9B78-17BE5EF0B588}"/>
              </a:ext>
            </a:extLst>
          </p:cNvPr>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2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AI-BASED PERSONAL FINANCE MANAGER WITH SMART EXPENSE PREDICTION SYSTEM</a:t>
            </a:r>
          </a:p>
        </p:txBody>
      </p:sp>
      <p:sp>
        <p:nvSpPr>
          <p:cNvPr id="68" name="Subtitle 11">
            <a:extLst>
              <a:ext uri="{FF2B5EF4-FFF2-40B4-BE49-F238E27FC236}">
                <a16:creationId xmlns:a16="http://schemas.microsoft.com/office/drawing/2014/main" id="{2341B15D-6560-1D5B-9983-67B78C920CB8}"/>
              </a:ext>
            </a:extLst>
          </p:cNvPr>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IN" sz="2400" b="0" dirty="0">
                <a:effectLst>
                  <a:outerShdw blurRad="38100" dist="38100" dir="2700000" algn="tl">
                    <a:srgbClr val="000000">
                      <a:alpha val="43137"/>
                    </a:srgbClr>
                  </a:outerShdw>
                </a:effectLst>
              </a:rPr>
              <a:t>Mr. P. SHAJAHAN, </a:t>
            </a:r>
            <a:r>
              <a:rPr lang="en-IN" sz="1400" b="0" dirty="0" err="1">
                <a:effectLst>
                  <a:outerShdw blurRad="38100" dist="38100" dir="2700000" algn="tl">
                    <a:srgbClr val="000000">
                      <a:alpha val="43137"/>
                    </a:srgbClr>
                  </a:outerShdw>
                </a:effectLst>
              </a:rPr>
              <a:t>M.Tech</a:t>
            </a:r>
            <a:r>
              <a:rPr lang="en-IN" sz="1400" b="0" dirty="0">
                <a:effectLst>
                  <a:outerShdw blurRad="38100" dist="38100" dir="2700000" algn="tl">
                    <a:srgbClr val="000000">
                      <a:alpha val="43137"/>
                    </a:srgbClr>
                  </a:outerShdw>
                </a:effectLst>
              </a:rPr>
              <a:t>.</a:t>
            </a:r>
          </a:p>
          <a:p>
            <a:pPr>
              <a:spcBef>
                <a:spcPts val="200"/>
              </a:spcBef>
            </a:pPr>
            <a:r>
              <a:rPr lang="en-IN" sz="1800" b="0" dirty="0">
                <a:effectLst>
                  <a:outerShdw blurRad="38100" dist="38100" dir="2700000" algn="tl">
                    <a:srgbClr val="000000">
                      <a:alpha val="43137"/>
                    </a:srgbClr>
                  </a:outerShdw>
                </a:effectLst>
              </a:rPr>
              <a:t>Assistant Professor</a:t>
            </a:r>
            <a:endParaRPr lang="en-IN" sz="1800" b="0" dirty="0"/>
          </a:p>
        </p:txBody>
      </p:sp>
      <p:sp>
        <p:nvSpPr>
          <p:cNvPr id="69" name="Subtitle 11">
            <a:extLst>
              <a:ext uri="{FF2B5EF4-FFF2-40B4-BE49-F238E27FC236}">
                <a16:creationId xmlns:a16="http://schemas.microsoft.com/office/drawing/2014/main" id="{2231FEB1-657A-7BE3-891E-021B3E996D1E}"/>
              </a:ext>
            </a:extLst>
          </p:cNvPr>
          <p:cNvSpPr txBox="1"/>
          <p:nvPr/>
        </p:nvSpPr>
        <p:spPr>
          <a:xfrm>
            <a:off x="1514475" y="5162533"/>
            <a:ext cx="9163049" cy="1427181"/>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3400" dirty="0">
                <a:effectLst/>
                <a:ea typeface="Times New Roman" panose="02020603050405020304" pitchFamily="18" charset="0"/>
              </a:rPr>
              <a:t>Autonomous</a:t>
            </a:r>
            <a:endParaRPr lang="en-US" sz="3400" b="0" dirty="0"/>
          </a:p>
          <a:p>
            <a:pPr>
              <a:spcBef>
                <a:spcPts val="300"/>
              </a:spcBef>
            </a:pPr>
            <a:r>
              <a:rPr lang="en-US" sz="2770" dirty="0" err="1"/>
              <a:t>Rotarypuram</a:t>
            </a:r>
            <a:r>
              <a:rPr lang="en-US" sz="2770" dirty="0"/>
              <a:t> Village, B K </a:t>
            </a:r>
            <a:r>
              <a:rPr lang="en-US" sz="2770" dirty="0" err="1"/>
              <a:t>Samudram</a:t>
            </a:r>
            <a:r>
              <a:rPr lang="en-US" sz="2770" dirty="0"/>
              <a:t> Mandal, </a:t>
            </a:r>
            <a:r>
              <a:rPr lang="en-US" sz="2770" dirty="0" err="1"/>
              <a:t>Ananthapuramu</a:t>
            </a:r>
            <a:r>
              <a:rPr lang="en-US" sz="2770" dirty="0"/>
              <a:t> – 515701.</a:t>
            </a:r>
          </a:p>
          <a:p>
            <a:pPr>
              <a:spcBef>
                <a:spcPts val="300"/>
              </a:spcBef>
            </a:pPr>
            <a:r>
              <a:rPr lang="en-IN" altLang="en-US" sz="2770" dirty="0"/>
              <a:t>Accredited by NBA &amp; NAAC with “A” Grade, Affiliated to JNTUA,Ananthapuramu</a:t>
            </a:r>
            <a:endParaRPr lang="en-US" sz="2770" dirty="0"/>
          </a:p>
          <a:p>
            <a:pPr>
              <a:spcAft>
                <a:spcPts val="100"/>
              </a:spcAft>
            </a:pPr>
            <a:r>
              <a:rPr lang="en-US" sz="2770" dirty="0">
                <a:solidFill>
                  <a:schemeClr val="accent1">
                    <a:lumMod val="50000"/>
                  </a:schemeClr>
                </a:solidFill>
              </a:rPr>
              <a:t>202</a:t>
            </a:r>
            <a:r>
              <a:rPr lang="en-IN" altLang="en-US" sz="2770" dirty="0">
                <a:solidFill>
                  <a:schemeClr val="accent1">
                    <a:lumMod val="50000"/>
                  </a:schemeClr>
                </a:solidFill>
              </a:rPr>
              <a:t>5</a:t>
            </a:r>
            <a:r>
              <a:rPr lang="en-US" sz="2770" dirty="0">
                <a:solidFill>
                  <a:schemeClr val="accent1">
                    <a:lumMod val="50000"/>
                  </a:schemeClr>
                </a:solidFill>
              </a:rPr>
              <a:t>-202</a:t>
            </a:r>
            <a:r>
              <a:rPr lang="en-IN" altLang="en-US" sz="2770" dirty="0">
                <a:solidFill>
                  <a:schemeClr val="accent1">
                    <a:lumMod val="50000"/>
                  </a:schemeClr>
                </a:solidFill>
              </a:rPr>
              <a:t>6</a:t>
            </a:r>
            <a:endParaRPr lang="en-US" sz="2770" b="0" dirty="0"/>
          </a:p>
          <a:p>
            <a:endParaRPr lang="en-IN" sz="2770" b="0" dirty="0"/>
          </a:p>
        </p:txBody>
      </p:sp>
      <p:pic>
        <p:nvPicPr>
          <p:cNvPr id="70" name="Picture 69">
            <a:extLst>
              <a:ext uri="{FF2B5EF4-FFF2-40B4-BE49-F238E27FC236}">
                <a16:creationId xmlns:a16="http://schemas.microsoft.com/office/drawing/2014/main" id="{220076A7-6A68-5DA1-4936-177D13FE61C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32301" y="3477046"/>
            <a:ext cx="1527379"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grpSp>
        <p:nvGrpSpPr>
          <p:cNvPr id="3" name="object 3"/>
          <p:cNvGrpSpPr/>
          <p:nvPr/>
        </p:nvGrpSpPr>
        <p:grpSpPr>
          <a:xfrm>
            <a:off x="0" y="212399"/>
            <a:ext cx="12192000" cy="803275"/>
            <a:chOff x="0" y="212399"/>
            <a:chExt cx="12192000" cy="803275"/>
          </a:xfrm>
        </p:grpSpPr>
        <p:pic>
          <p:nvPicPr>
            <p:cNvPr id="4" name="object 4"/>
            <p:cNvPicPr/>
            <p:nvPr/>
          </p:nvPicPr>
          <p:blipFill>
            <a:blip r:embed="rId3" cstate="print"/>
            <a:stretch>
              <a:fillRect/>
            </a:stretch>
          </p:blipFill>
          <p:spPr>
            <a:xfrm>
              <a:off x="0" y="212399"/>
              <a:ext cx="12192000" cy="803160"/>
            </a:xfrm>
            <a:prstGeom prst="rect">
              <a:avLst/>
            </a:prstGeom>
          </p:spPr>
        </p:pic>
        <p:sp>
          <p:nvSpPr>
            <p:cNvPr id="5" name="object 5"/>
            <p:cNvSpPr/>
            <p:nvPr/>
          </p:nvSpPr>
          <p:spPr>
            <a:xfrm>
              <a:off x="239" y="228599"/>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239" y="182323"/>
            <a:ext cx="12192000" cy="1367041"/>
          </a:xfrm>
          <a:prstGeom prst="rect">
            <a:avLst/>
          </a:prstGeom>
        </p:spPr>
        <p:txBody>
          <a:bodyPr vert="horz" wrap="square" lIns="0" tIns="12700" rIns="0" bIns="0" rtlCol="0">
            <a:spAutoFit/>
          </a:bodyPr>
          <a:lstStyle/>
          <a:p>
            <a:pPr marL="12700" algn="ctr">
              <a:spcBef>
                <a:spcPts val="100"/>
              </a:spcBef>
            </a:pPr>
            <a:r>
              <a:rPr lang="en-US" dirty="0">
                <a:latin typeface="Times New Roman" panose="02020603050405020304" pitchFamily="18" charset="0"/>
                <a:cs typeface="Times New Roman" panose="02020603050405020304" pitchFamily="18" charset="0"/>
              </a:rPr>
              <a:t>Comments</a:t>
            </a:r>
            <a:br>
              <a:rPr lang="en-IN" dirty="0">
                <a:latin typeface="Times New Roman" panose="02020603050405020304" pitchFamily="18" charset="0"/>
                <a:cs typeface="Times New Roman" panose="02020603050405020304" pitchFamily="18" charset="0"/>
              </a:rPr>
            </a:br>
            <a:endParaRPr spc="-10"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325786" y="989990"/>
            <a:ext cx="10037414" cy="2103140"/>
          </a:xfrm>
          <a:prstGeom prst="rect">
            <a:avLst/>
          </a:prstGeom>
        </p:spPr>
        <p:txBody>
          <a:bodyPr vert="horz" wrap="square" lIns="0" tIns="96520" rIns="0" bIns="0" rtlCol="0">
            <a:spAutoFit/>
          </a:bodyPr>
          <a:lstStyle/>
          <a:p>
            <a:pPr marL="421005" indent="-408305">
              <a:spcBef>
                <a:spcPts val="760"/>
              </a:spcBef>
              <a:buFontTx/>
              <a:buChar char="•"/>
              <a:tabLst>
                <a:tab pos="421005" algn="l"/>
              </a:tabLst>
            </a:pPr>
            <a:r>
              <a:rPr lang="en-US" sz="2800" dirty="0">
                <a:latin typeface="Times New Roman" panose="02020603050405020304" pitchFamily="18" charset="0"/>
                <a:cs typeface="Times New Roman" panose="02020603050405020304" pitchFamily="18" charset="0"/>
              </a:rPr>
              <a:t>What if a user enters incorrect expense data?</a:t>
            </a:r>
          </a:p>
          <a:p>
            <a:pPr marL="421005" indent="-408305">
              <a:lnSpc>
                <a:spcPct val="100000"/>
              </a:lnSpc>
              <a:spcBef>
                <a:spcPts val="760"/>
              </a:spcBef>
              <a:buChar char="•"/>
              <a:tabLst>
                <a:tab pos="421005" algn="l"/>
              </a:tabLst>
            </a:pPr>
            <a:r>
              <a:rPr lang="en-US" sz="2800" dirty="0">
                <a:latin typeface="Times New Roman" panose="02020603050405020304" pitchFamily="18" charset="0"/>
                <a:cs typeface="Times New Roman" panose="02020603050405020304" pitchFamily="18" charset="0"/>
              </a:rPr>
              <a:t>How does the system predict future expenses?</a:t>
            </a:r>
            <a:endParaRPr sz="2800" dirty="0">
              <a:latin typeface="Times New Roman"/>
              <a:cs typeface="Times New Roman"/>
            </a:endParaRPr>
          </a:p>
          <a:p>
            <a:pPr marL="421005" indent="-408305">
              <a:lnSpc>
                <a:spcPct val="100000"/>
              </a:lnSpc>
              <a:spcBef>
                <a:spcPts val="665"/>
              </a:spcBef>
              <a:buChar char="•"/>
              <a:tabLst>
                <a:tab pos="421005" algn="l"/>
              </a:tabLst>
            </a:pPr>
            <a:r>
              <a:rPr lang="en-US" sz="2800" dirty="0">
                <a:latin typeface="Times New Roman" panose="02020603050405020304" pitchFamily="18" charset="0"/>
                <a:cs typeface="Times New Roman" panose="02020603050405020304" pitchFamily="18" charset="0"/>
              </a:rPr>
              <a:t>How does the system show spending trends?</a:t>
            </a:r>
          </a:p>
          <a:p>
            <a:pPr marL="421005" indent="-408305">
              <a:lnSpc>
                <a:spcPct val="100000"/>
              </a:lnSpc>
              <a:spcBef>
                <a:spcPts val="665"/>
              </a:spcBef>
              <a:buChar char="•"/>
              <a:tabLst>
                <a:tab pos="421005" algn="l"/>
              </a:tabLst>
            </a:pPr>
            <a:r>
              <a:rPr lang="en-US" sz="2800" dirty="0">
                <a:latin typeface="Times New Roman" panose="02020603050405020304" pitchFamily="18" charset="0"/>
                <a:cs typeface="Times New Roman" panose="02020603050405020304" pitchFamily="18" charset="0"/>
              </a:rPr>
              <a:t>What happens if a user spends more than their budget?</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9030" y="245459"/>
            <a:ext cx="2670369" cy="1367041"/>
          </a:xfrm>
          <a:prstGeom prst="rect">
            <a:avLst/>
          </a:prstGeom>
        </p:spPr>
        <p:txBody>
          <a:bodyPr vert="horz" wrap="square" lIns="0" tIns="12700" rIns="0" bIns="0" rtlCol="0">
            <a:spAutoFit/>
          </a:bodyPr>
          <a:lstStyle/>
          <a:p>
            <a:pPr marL="12700">
              <a:spcBef>
                <a:spcPts val="100"/>
              </a:spcBef>
            </a:pPr>
            <a:r>
              <a:rPr lang="en-IN" dirty="0">
                <a:latin typeface="Times New Roman" panose="02020603050405020304" pitchFamily="18" charset="0"/>
                <a:cs typeface="Times New Roman" panose="02020603050405020304" pitchFamily="18" charset="0"/>
              </a:rPr>
              <a:t>Contents</a:t>
            </a:r>
            <a:br>
              <a:rPr lang="en-IN" dirty="0">
                <a:latin typeface="Times New Roman" panose="02020603050405020304" pitchFamily="18" charset="0"/>
                <a:cs typeface="Times New Roman" panose="02020603050405020304" pitchFamily="18" charset="0"/>
              </a:rPr>
            </a:br>
            <a:endParaRPr dirty="0"/>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0538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3</a:t>
            </a:fld>
            <a:endParaRPr spc="-25" dirty="0"/>
          </a:p>
        </p:txBody>
      </p:sp>
      <p:sp>
        <p:nvSpPr>
          <p:cNvPr id="7" name="object 2">
            <a:extLst>
              <a:ext uri="{FF2B5EF4-FFF2-40B4-BE49-F238E27FC236}">
                <a16:creationId xmlns:a16="http://schemas.microsoft.com/office/drawing/2014/main" id="{85B157D4-B5AD-AEDD-C57B-B9212F9250C1}"/>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Content Placeholder 2">
            <a:extLst>
              <a:ext uri="{FF2B5EF4-FFF2-40B4-BE49-F238E27FC236}">
                <a16:creationId xmlns:a16="http://schemas.microsoft.com/office/drawing/2014/main" id="{C86A2162-B9FF-9A19-46A0-F64A446E13B6}"/>
              </a:ext>
            </a:extLst>
          </p:cNvPr>
          <p:cNvSpPr txBox="1">
            <a:spLocks/>
          </p:cNvSpPr>
          <p:nvPr/>
        </p:nvSpPr>
        <p:spPr>
          <a:xfrm>
            <a:off x="199505" y="1097279"/>
            <a:ext cx="11779135" cy="5394960"/>
          </a:xfrm>
          <a:prstGeom prst="rect">
            <a:avLst/>
          </a:prstGeom>
        </p:spPr>
        <p:txBody>
          <a:bodyPr wrap="square" lIns="0" tIns="0" rIns="0" bIns="0">
            <a:normAutofit/>
          </a:bodyPr>
          <a:lstStyle>
            <a:lvl1pPr marL="0">
              <a:defRPr sz="2800" b="0"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62280" indent="-462280">
              <a:buFontTx/>
              <a:buBlip>
                <a:blip>
                  <a:extLst>
                    <a:ext uri="{96DAC541-7B7A-43D3-8B79-37D633B846F1}">
                      <asvg:svgBlip xmlns:asvg="http://schemas.microsoft.com/office/drawing/2016/SVG/main" r:embed="rId3"/>
                    </a:ext>
                  </a:extLst>
                </a:blip>
              </a:buBlip>
            </a:pPr>
            <a:r>
              <a:rPr lang="en-US" dirty="0"/>
              <a:t>Abstract</a:t>
            </a:r>
          </a:p>
          <a:p>
            <a:pPr marL="462280" indent="-462280">
              <a:buFontTx/>
              <a:buBlip>
                <a:blip>
                  <a:extLst>
                    <a:ext uri="{96DAC541-7B7A-43D3-8B79-37D633B846F1}">
                      <asvg:svgBlip xmlns:asvg="http://schemas.microsoft.com/office/drawing/2016/SVG/main" r:embed="rId3"/>
                    </a:ext>
                  </a:extLst>
                </a:blip>
              </a:buBlip>
            </a:pPr>
            <a:r>
              <a:rPr lang="en-US" dirty="0"/>
              <a:t>Introduction</a:t>
            </a:r>
          </a:p>
          <a:p>
            <a:pPr marL="462280" indent="-462280">
              <a:buFontTx/>
              <a:buBlip>
                <a:blip>
                  <a:extLst>
                    <a:ext uri="{96DAC541-7B7A-43D3-8B79-37D633B846F1}">
                      <asvg:svgBlip xmlns:asvg="http://schemas.microsoft.com/office/drawing/2016/SVG/main" r:embed="rId3"/>
                    </a:ext>
                  </a:extLst>
                </a:blip>
              </a:buBlip>
            </a:pPr>
            <a:r>
              <a:rPr lang="en-US" altLang="en-IN" dirty="0"/>
              <a:t>Literature Survey</a:t>
            </a:r>
          </a:p>
          <a:p>
            <a:pPr marL="462280" indent="-462280">
              <a:buFontTx/>
              <a:buBlip>
                <a:blip>
                  <a:extLst>
                    <a:ext uri="{96DAC541-7B7A-43D3-8B79-37D633B846F1}">
                      <asvg:svgBlip xmlns:asvg="http://schemas.microsoft.com/office/drawing/2016/SVG/main" r:embed="rId3"/>
                    </a:ext>
                  </a:extLst>
                </a:blip>
              </a:buBlip>
            </a:pPr>
            <a:r>
              <a:rPr lang="en-US" dirty="0"/>
              <a:t>Existing System</a:t>
            </a:r>
          </a:p>
          <a:p>
            <a:pPr marL="462280" indent="-462280">
              <a:buFontTx/>
              <a:buBlip>
                <a:blip>
                  <a:extLst>
                    <a:ext uri="{96DAC541-7B7A-43D3-8B79-37D633B846F1}">
                      <asvg:svgBlip xmlns:asvg="http://schemas.microsoft.com/office/drawing/2016/SVG/main" r:embed="rId3"/>
                    </a:ext>
                  </a:extLst>
                </a:blip>
              </a:buBlip>
            </a:pPr>
            <a:r>
              <a:rPr lang="en-US" dirty="0"/>
              <a:t>Proposed System</a:t>
            </a:r>
          </a:p>
          <a:p>
            <a:pPr marL="462280" indent="-462280">
              <a:buFontTx/>
              <a:buBlip>
                <a:blip>
                  <a:extLst>
                    <a:ext uri="{96DAC541-7B7A-43D3-8B79-37D633B846F1}">
                      <asvg:svgBlip xmlns:asvg="http://schemas.microsoft.com/office/drawing/2016/SVG/main" r:embed="rId3"/>
                    </a:ext>
                  </a:extLst>
                </a:blip>
              </a:buBlip>
            </a:pPr>
            <a:r>
              <a:rPr lang="en-US" dirty="0"/>
              <a:t>Planning</a:t>
            </a:r>
          </a:p>
          <a:p>
            <a:pPr marL="462280" indent="-462280">
              <a:buFontTx/>
              <a:buBlip>
                <a:blip>
                  <a:extLst>
                    <a:ext uri="{96DAC541-7B7A-43D3-8B79-37D633B846F1}">
                      <asvg:svgBlip xmlns:asvg="http://schemas.microsoft.com/office/drawing/2016/SVG/main" r:embed="rId3"/>
                    </a:ext>
                  </a:extLst>
                </a:blip>
              </a:buBlip>
            </a:pPr>
            <a:r>
              <a:rPr lang="en-US" dirty="0"/>
              <a:t>Design</a:t>
            </a:r>
          </a:p>
          <a:p>
            <a:pPr marL="462280" indent="-462280">
              <a:buFontTx/>
              <a:buBlip>
                <a:blip>
                  <a:extLst>
                    <a:ext uri="{96DAC541-7B7A-43D3-8B79-37D633B846F1}">
                      <asvg:svgBlip xmlns:asvg="http://schemas.microsoft.com/office/drawing/2016/SVG/main" r:embed="rId3"/>
                    </a:ext>
                  </a:extLst>
                </a:blip>
              </a:buBlip>
            </a:pPr>
            <a:r>
              <a:rPr lang="en-US" dirty="0"/>
              <a:t>Implementation</a:t>
            </a:r>
          </a:p>
          <a:p>
            <a:pPr marL="462280" indent="-462280">
              <a:buFontTx/>
              <a:buBlip>
                <a:blip>
                  <a:extLst>
                    <a:ext uri="{96DAC541-7B7A-43D3-8B79-37D633B846F1}">
                      <asvg:svgBlip xmlns:asvg="http://schemas.microsoft.com/office/drawing/2016/SVG/main" r:embed="rId3"/>
                    </a:ext>
                  </a:extLst>
                </a:blip>
              </a:buBlip>
            </a:pPr>
            <a:r>
              <a:rPr lang="en-US" dirty="0"/>
              <a:t>Research Paper</a:t>
            </a:r>
            <a:endParaRPr lang="en-IN" dirty="0"/>
          </a:p>
          <a:p>
            <a:pPr marL="462280" indent="-462280">
              <a:buFontTx/>
              <a:buBlip>
                <a:blip>
                  <a:extLst>
                    <a:ext uri="{96DAC541-7B7A-43D3-8B79-37D633B846F1}">
                      <asvg:svgBlip xmlns:asvg="http://schemas.microsoft.com/office/drawing/2016/SVG/main" r:embed="rId3"/>
                    </a:ext>
                  </a:extLst>
                </a:blip>
              </a:buBlip>
            </a:pPr>
            <a:r>
              <a:rPr lang="en-IN" dirty="0"/>
              <a:t>References</a:t>
            </a:r>
          </a:p>
          <a:p>
            <a:pPr marL="462280" indent="-462280">
              <a:buFontTx/>
              <a:buBlip>
                <a:blip>
                  <a:extLst>
                    <a:ext uri="{96DAC541-7B7A-43D3-8B79-37D633B846F1}">
                      <asvg:svgBlip xmlns:asvg="http://schemas.microsoft.com/office/drawing/2016/SVG/main" r:embed="rId3"/>
                    </a:ext>
                  </a:extLst>
                </a:blip>
              </a:buBlip>
            </a:pPr>
            <a:r>
              <a:rPr lang="en-IN" dirty="0"/>
              <a:t>GitHub Link</a:t>
            </a:r>
            <a:endParaRPr lang="en-US"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r>
              <a:rPr lang="en-US" dirty="0">
                <a:solidFill>
                  <a:prstClr val="white"/>
                </a:solidFill>
                <a:sym typeface="+mn-ea"/>
              </a:rPr>
              <a:t>Abstract</a:t>
            </a:r>
            <a:endParaRPr lang="en-IN" sz="4000" dirty="0">
              <a:latin typeface="Times New Roman" panose="02020603050405020304" pitchFamily="18" charset="0"/>
              <a:cs typeface="Times New Roman" panose="02020603050405020304" pitchFamily="18" charset="0"/>
            </a:endParaRP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8" y="6629559"/>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7" name="object 2">
            <a:extLst>
              <a:ext uri="{FF2B5EF4-FFF2-40B4-BE49-F238E27FC236}">
                <a16:creationId xmlns:a16="http://schemas.microsoft.com/office/drawing/2014/main" id="{A56B9614-B502-B532-A454-AD5004FB3034}"/>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TextBox 6">
            <a:extLst>
              <a:ext uri="{FF2B5EF4-FFF2-40B4-BE49-F238E27FC236}">
                <a16:creationId xmlns:a16="http://schemas.microsoft.com/office/drawing/2014/main" id="{1FD2DFDC-755A-0DFF-79A3-B41CDCE907B2}"/>
              </a:ext>
            </a:extLst>
          </p:cNvPr>
          <p:cNvSpPr txBox="1"/>
          <p:nvPr/>
        </p:nvSpPr>
        <p:spPr>
          <a:xfrm>
            <a:off x="292611" y="1417258"/>
            <a:ext cx="11606777" cy="40421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spcBef>
                <a:spcPts val="1000"/>
              </a:spcBef>
              <a:buClr>
                <a:prstClr val="black"/>
              </a:buClr>
              <a:buSzPts val="2800"/>
              <a:buFont typeface="Arial" panose="020B0604020202020204" pitchFamily="34" charset="0"/>
              <a:buChar char="•"/>
              <a:defRPr/>
            </a:pPr>
            <a:r>
              <a:rPr lang="en-US" sz="2400" kern="0" dirty="0">
                <a:solidFill>
                  <a:prstClr val="black"/>
                </a:solidFill>
                <a:latin typeface="Times New Roman" panose="02020603050405020304" pitchFamily="18" charset="0"/>
                <a:cs typeface="Times New Roman" panose="02020603050405020304" pitchFamily="18" charset="0"/>
                <a:sym typeface="Times New Roman" panose="02020603050405020304"/>
              </a:rPr>
              <a:t>The AI-Based Personal Finance Manager with Smart Expense Prediction System is designed to help users manage their personal finances more effectively. Traditional expense tracking methods mainly record past transactions and provide limited support for financial planning.</a:t>
            </a:r>
          </a:p>
          <a:p>
            <a:pPr marL="342900" indent="-342900" algn="just">
              <a:spcBef>
                <a:spcPts val="1000"/>
              </a:spcBef>
              <a:buClr>
                <a:prstClr val="black"/>
              </a:buClr>
              <a:buSzPts val="2800"/>
              <a:buFont typeface="Arial" panose="020B0604020202020204" pitchFamily="34" charset="0"/>
              <a:buChar char="•"/>
              <a:defRPr/>
            </a:pPr>
            <a:r>
              <a:rPr lang="en-US" sz="2400" kern="0" dirty="0">
                <a:solidFill>
                  <a:prstClr val="black"/>
                </a:solidFill>
                <a:latin typeface="Times New Roman" panose="02020603050405020304" pitchFamily="18" charset="0"/>
                <a:cs typeface="Times New Roman" panose="02020603050405020304" pitchFamily="18" charset="0"/>
                <a:sym typeface="Times New Roman" panose="02020603050405020304"/>
              </a:rPr>
              <a:t>To overcome this limitation, the proposed system provides a web-based platform where users can track daily expenses, manage budgets, and monitor savings goals. The system analyzes historical spending data and predicts future expenses using the Linear Regression algorithm.</a:t>
            </a:r>
          </a:p>
          <a:p>
            <a:pPr marL="342900" indent="-342900" algn="just">
              <a:spcBef>
                <a:spcPts val="1000"/>
              </a:spcBef>
              <a:buClr>
                <a:prstClr val="black"/>
              </a:buClr>
              <a:buSzPts val="2800"/>
              <a:buFont typeface="Arial" panose="020B0604020202020204" pitchFamily="34" charset="0"/>
              <a:buChar char="•"/>
              <a:defRPr/>
            </a:pPr>
            <a:r>
              <a:rPr lang="en-US" sz="2400" kern="0" dirty="0">
                <a:solidFill>
                  <a:prstClr val="black"/>
                </a:solidFill>
                <a:latin typeface="Times New Roman" panose="02020603050405020304" pitchFamily="18" charset="0"/>
                <a:cs typeface="Times New Roman" panose="02020603050405020304" pitchFamily="18" charset="0"/>
                <a:sym typeface="Times New Roman" panose="02020603050405020304"/>
              </a:rPr>
              <a:t>The application also provides expense analysis and budget alerts, helping users understand their spending behavior and avoid overspending.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12700" rIns="0" bIns="0" rtlCol="0">
            <a:spAutoFit/>
          </a:bodyPr>
          <a:lstStyle/>
          <a:p>
            <a:r>
              <a:rPr lang="en-US" dirty="0">
                <a:solidFill>
                  <a:prstClr val="white"/>
                </a:solidFill>
                <a:sym typeface="+mn-ea"/>
              </a:rPr>
              <a:t>Introduction</a:t>
            </a:r>
            <a:endParaRPr lang="en-IN" sz="4000" dirty="0">
              <a:latin typeface="Times New Roman" panose="02020603050405020304" pitchFamily="18" charset="0"/>
              <a:cs typeface="Times New Roman" panose="02020603050405020304" pitchFamily="18" charset="0"/>
            </a:endParaRP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2824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7" name="object 2">
            <a:extLst>
              <a:ext uri="{FF2B5EF4-FFF2-40B4-BE49-F238E27FC236}">
                <a16:creationId xmlns:a16="http://schemas.microsoft.com/office/drawing/2014/main" id="{74ACF158-DE06-EDE9-EEAE-2A4D2D0E1769}"/>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TextBox 1">
            <a:extLst>
              <a:ext uri="{FF2B5EF4-FFF2-40B4-BE49-F238E27FC236}">
                <a16:creationId xmlns:a16="http://schemas.microsoft.com/office/drawing/2014/main" id="{262DDCAD-E4E2-6620-AD44-A3AE6EAEC494}"/>
              </a:ext>
            </a:extLst>
          </p:cNvPr>
          <p:cNvSpPr txBox="1"/>
          <p:nvPr/>
        </p:nvSpPr>
        <p:spPr>
          <a:xfrm>
            <a:off x="73025" y="964130"/>
            <a:ext cx="11887200" cy="5632311"/>
          </a:xfrm>
          <a:prstGeom prst="rect">
            <a:avLst/>
          </a:prstGeom>
          <a:noFill/>
        </p:spPr>
        <p:txBody>
          <a:bodyPr wrap="square" rtlCol="0">
            <a:spAutoFit/>
          </a:bodyPr>
          <a:lstStyle/>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AI-Based Personal Finance Manager with Smart Expense Prediction System is a web-based platform designed to help users manage their personal finances efficiently. It allows users to record daily expenses, categorize transactions, set budgets, and monitor savings goals. The system also analyzes financial data and predicts future expenses using machine learning techniques.</a:t>
            </a: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project addresses the problems of traditional expense tracking methods such as manual record keeping, lack of financial insights, and difficulty in analyzing spending patterns. Many existing tools only store past transaction data and do not provide intelligent predictions or recommendations for financial planning.</a:t>
            </a:r>
          </a:p>
          <a:p>
            <a:pPr marL="457200" indent="-4572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project is chosen to help users manage their finances more effectively by using a centralized digital platform. By integrating machine learning-based expense prediction and financial analysis, the system supports better budgeting, spending control, and informed financial decision-making.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p:nvPr/>
        </p:nvSpPr>
        <p:spPr>
          <a:xfrm>
            <a:off x="136599" y="221612"/>
            <a:ext cx="7165975" cy="1551707"/>
          </a:xfrm>
          <a:prstGeom prst="rect">
            <a:avLst/>
          </a:prstGeom>
        </p:spPr>
        <p:txBody>
          <a:bodyPr vert="horz" wrap="square" lIns="0" tIns="12700" rIns="0" bIns="0" rtlCol="0">
            <a:spAutoFit/>
          </a:bodyPr>
          <a:lstStyle/>
          <a:p>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Literature Survey</a:t>
            </a:r>
          </a:p>
          <a:p>
            <a:endParaRPr sz="2800" dirty="0">
              <a:latin typeface="Times New Roman"/>
              <a:cs typeface="Times New Roman"/>
            </a:endParaRPr>
          </a:p>
          <a:p>
            <a:pPr marL="176530">
              <a:lnSpc>
                <a:spcPct val="100000"/>
              </a:lnSpc>
            </a:pPr>
            <a:endParaRPr sz="2800" dirty="0">
              <a:latin typeface="Lucida Sans Unicode"/>
              <a:cs typeface="Lucida Sans Unicode"/>
            </a:endParaRPr>
          </a:p>
        </p:txBody>
      </p:sp>
      <p:sp>
        <p:nvSpPr>
          <p:cNvPr id="7" name="object 7"/>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8" name="object 8"/>
          <p:cNvSpPr txBox="1">
            <a:spLocks noGrp="1"/>
          </p:cNvSpPr>
          <p:nvPr>
            <p:ph type="dt" sz="half" idx="6"/>
          </p:nvPr>
        </p:nvSpPr>
        <p:spPr>
          <a:xfrm>
            <a:off x="1773948" y="6629558"/>
            <a:ext cx="3891279"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9" name="object 9"/>
          <p:cNvSpPr txBox="1"/>
          <p:nvPr/>
        </p:nvSpPr>
        <p:spPr>
          <a:xfrm>
            <a:off x="7147541" y="6629197"/>
            <a:ext cx="40538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a:latin typeface="Times New Roman"/>
              <a:cs typeface="Times New Roman"/>
            </a:endParaRP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2" name="object 2">
            <a:extLst>
              <a:ext uri="{FF2B5EF4-FFF2-40B4-BE49-F238E27FC236}">
                <a16:creationId xmlns:a16="http://schemas.microsoft.com/office/drawing/2014/main" id="{1B07E8F8-9C4B-AD4B-1A8F-1B16E532DCFB}"/>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15" name="Rectangle 14">
            <a:extLst>
              <a:ext uri="{FF2B5EF4-FFF2-40B4-BE49-F238E27FC236}">
                <a16:creationId xmlns:a16="http://schemas.microsoft.com/office/drawing/2014/main" id="{9329FE6B-6F32-FBCE-F237-3B6FBF2422D5}"/>
              </a:ext>
            </a:extLst>
          </p:cNvPr>
          <p:cNvSpPr/>
          <p:nvPr/>
        </p:nvSpPr>
        <p:spPr>
          <a:xfrm>
            <a:off x="9174470" y="5390329"/>
            <a:ext cx="2971800" cy="1219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6" name="object 7">
            <a:extLst>
              <a:ext uri="{FF2B5EF4-FFF2-40B4-BE49-F238E27FC236}">
                <a16:creationId xmlns:a16="http://schemas.microsoft.com/office/drawing/2014/main" id="{16F031DC-2E06-40B3-9489-5D9657C6C1AC}"/>
              </a:ext>
            </a:extLst>
          </p:cNvPr>
          <p:cNvGraphicFramePr>
            <a:graphicFrameLocks noGrp="1"/>
          </p:cNvGraphicFramePr>
          <p:nvPr>
            <p:extLst>
              <p:ext uri="{D42A27DB-BD31-4B8C-83A1-F6EECF244321}">
                <p14:modId xmlns:p14="http://schemas.microsoft.com/office/powerpoint/2010/main" val="1505987254"/>
              </p:ext>
            </p:extLst>
          </p:nvPr>
        </p:nvGraphicFramePr>
        <p:xfrm>
          <a:off x="397933" y="1168187"/>
          <a:ext cx="11489268" cy="5294325"/>
        </p:xfrm>
        <a:graphic>
          <a:graphicData uri="http://schemas.openxmlformats.org/drawingml/2006/table">
            <a:tbl>
              <a:tblPr firstRow="1" bandRow="1">
                <a:tableStyleId>{2D5ABB26-0587-4C30-8999-92F81FD0307C}</a:tableStyleId>
              </a:tblPr>
              <a:tblGrid>
                <a:gridCol w="508903">
                  <a:extLst>
                    <a:ext uri="{9D8B030D-6E8A-4147-A177-3AD203B41FA5}">
                      <a16:colId xmlns:a16="http://schemas.microsoft.com/office/drawing/2014/main" val="20000"/>
                    </a:ext>
                  </a:extLst>
                </a:gridCol>
                <a:gridCol w="1984907">
                  <a:extLst>
                    <a:ext uri="{9D8B030D-6E8A-4147-A177-3AD203B41FA5}">
                      <a16:colId xmlns:a16="http://schemas.microsoft.com/office/drawing/2014/main" val="20001"/>
                    </a:ext>
                  </a:extLst>
                </a:gridCol>
                <a:gridCol w="1500722">
                  <a:extLst>
                    <a:ext uri="{9D8B030D-6E8A-4147-A177-3AD203B41FA5}">
                      <a16:colId xmlns:a16="http://schemas.microsoft.com/office/drawing/2014/main" val="20002"/>
                    </a:ext>
                  </a:extLst>
                </a:gridCol>
                <a:gridCol w="1521002">
                  <a:extLst>
                    <a:ext uri="{9D8B030D-6E8A-4147-A177-3AD203B41FA5}">
                      <a16:colId xmlns:a16="http://schemas.microsoft.com/office/drawing/2014/main" val="20003"/>
                    </a:ext>
                  </a:extLst>
                </a:gridCol>
                <a:gridCol w="1800159">
                  <a:extLst>
                    <a:ext uri="{9D8B030D-6E8A-4147-A177-3AD203B41FA5}">
                      <a16:colId xmlns:a16="http://schemas.microsoft.com/office/drawing/2014/main" val="20004"/>
                    </a:ext>
                  </a:extLst>
                </a:gridCol>
                <a:gridCol w="2246973">
                  <a:extLst>
                    <a:ext uri="{9D8B030D-6E8A-4147-A177-3AD203B41FA5}">
                      <a16:colId xmlns:a16="http://schemas.microsoft.com/office/drawing/2014/main" val="20005"/>
                    </a:ext>
                  </a:extLst>
                </a:gridCol>
                <a:gridCol w="1926602">
                  <a:extLst>
                    <a:ext uri="{9D8B030D-6E8A-4147-A177-3AD203B41FA5}">
                      <a16:colId xmlns:a16="http://schemas.microsoft.com/office/drawing/2014/main" val="20006"/>
                    </a:ext>
                  </a:extLst>
                </a:gridCol>
              </a:tblGrid>
              <a:tr h="568026">
                <a:tc>
                  <a:txBody>
                    <a:bodyPr/>
                    <a:lstStyle/>
                    <a:p>
                      <a:pPr marL="85090">
                        <a:lnSpc>
                          <a:spcPts val="2150"/>
                        </a:lnSpc>
                      </a:pPr>
                      <a:r>
                        <a:rPr sz="1800" b="1" spc="-25" dirty="0">
                          <a:solidFill>
                            <a:srgbClr val="FFFFFF"/>
                          </a:solidFill>
                          <a:latin typeface="Calibri"/>
                          <a:cs typeface="Calibri"/>
                        </a:rPr>
                        <a:t>No</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090">
                        <a:lnSpc>
                          <a:spcPts val="2150"/>
                        </a:lnSpc>
                      </a:pPr>
                      <a:r>
                        <a:rPr sz="1800" b="1" spc="-10" dirty="0">
                          <a:solidFill>
                            <a:srgbClr val="FFFFFF"/>
                          </a:solidFill>
                          <a:latin typeface="Calibri"/>
                          <a:cs typeface="Calibri"/>
                        </a:rPr>
                        <a:t>Title</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090">
                        <a:lnSpc>
                          <a:spcPts val="2150"/>
                        </a:lnSpc>
                      </a:pPr>
                      <a:r>
                        <a:rPr sz="1800" b="1" spc="-10" dirty="0">
                          <a:solidFill>
                            <a:srgbClr val="FFFFFF"/>
                          </a:solidFill>
                          <a:latin typeface="Calibri"/>
                          <a:cs typeface="Calibri"/>
                        </a:rPr>
                        <a:t>Author</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marR="137795">
                        <a:lnSpc>
                          <a:spcPts val="2160"/>
                        </a:lnSpc>
                        <a:spcBef>
                          <a:spcPts val="60"/>
                        </a:spcBef>
                      </a:pPr>
                      <a:r>
                        <a:rPr sz="1800" b="1" spc="-20" dirty="0">
                          <a:solidFill>
                            <a:srgbClr val="FFFFFF"/>
                          </a:solidFill>
                          <a:latin typeface="Calibri"/>
                          <a:cs typeface="Calibri"/>
                        </a:rPr>
                        <a:t>Year</a:t>
                      </a:r>
                      <a:endParaRPr sz="1800" dirty="0">
                        <a:latin typeface="Calibri"/>
                        <a:cs typeface="Calibri"/>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marR="513715">
                        <a:lnSpc>
                          <a:spcPts val="2160"/>
                        </a:lnSpc>
                        <a:spcBef>
                          <a:spcPts val="60"/>
                        </a:spcBef>
                      </a:pPr>
                      <a:r>
                        <a:rPr sz="1800" b="1" spc="-10" dirty="0">
                          <a:solidFill>
                            <a:srgbClr val="FFFFFF"/>
                          </a:solidFill>
                          <a:latin typeface="Calibri"/>
                          <a:cs typeface="Calibri"/>
                        </a:rPr>
                        <a:t>Methodology Adapted</a:t>
                      </a:r>
                      <a:endParaRPr sz="1800" dirty="0">
                        <a:latin typeface="Calibri"/>
                        <a:cs typeface="Calibri"/>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5725">
                        <a:lnSpc>
                          <a:spcPts val="2150"/>
                        </a:lnSpc>
                      </a:pPr>
                      <a:r>
                        <a:rPr sz="1800" b="1" dirty="0">
                          <a:solidFill>
                            <a:srgbClr val="FFFFFF"/>
                          </a:solidFill>
                          <a:latin typeface="Calibri"/>
                          <a:cs typeface="Calibri"/>
                        </a:rPr>
                        <a:t>Key</a:t>
                      </a:r>
                      <a:r>
                        <a:rPr sz="1800" b="1" spc="-40" dirty="0">
                          <a:solidFill>
                            <a:srgbClr val="FFFFFF"/>
                          </a:solidFill>
                          <a:latin typeface="Calibri"/>
                          <a:cs typeface="Calibri"/>
                        </a:rPr>
                        <a:t> </a:t>
                      </a:r>
                      <a:r>
                        <a:rPr sz="1800" b="1" spc="-10" dirty="0">
                          <a:solidFill>
                            <a:srgbClr val="FFFFFF"/>
                          </a:solidFill>
                          <a:latin typeface="Calibri"/>
                          <a:cs typeface="Calibri"/>
                        </a:rPr>
                        <a:t>Findings</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tc>
                  <a:txBody>
                    <a:bodyPr/>
                    <a:lstStyle/>
                    <a:p>
                      <a:pPr marL="87630">
                        <a:lnSpc>
                          <a:spcPts val="2150"/>
                        </a:lnSpc>
                      </a:pPr>
                      <a:r>
                        <a:rPr sz="1800" b="1" spc="-20" dirty="0">
                          <a:solidFill>
                            <a:srgbClr val="FFFFFF"/>
                          </a:solidFill>
                          <a:latin typeface="Calibri"/>
                          <a:cs typeface="Calibri"/>
                        </a:rPr>
                        <a:t>Gaps</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2"/>
                    </a:solidFill>
                  </a:tcPr>
                </a:tc>
                <a:extLst>
                  <a:ext uri="{0D108BD9-81ED-4DB2-BD59-A6C34878D82A}">
                    <a16:rowId xmlns:a16="http://schemas.microsoft.com/office/drawing/2014/main" val="10000"/>
                  </a:ext>
                </a:extLst>
              </a:tr>
              <a:tr h="1829701">
                <a:tc>
                  <a:txBody>
                    <a:bodyPr/>
                    <a:lstStyle/>
                    <a:p>
                      <a:pPr marL="85090">
                        <a:lnSpc>
                          <a:spcPts val="2155"/>
                        </a:lnSpc>
                      </a:pPr>
                      <a:r>
                        <a:rPr sz="1800" spc="-25" dirty="0">
                          <a:latin typeface="Calibri"/>
                          <a:cs typeface="Calibri"/>
                        </a:rPr>
                        <a:t>1.</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090" marR="195580">
                        <a:lnSpc>
                          <a:spcPts val="2160"/>
                        </a:lnSpc>
                        <a:spcBef>
                          <a:spcPts val="65"/>
                        </a:spcBef>
                      </a:pPr>
                      <a:r>
                        <a:rPr lang="en-US" dirty="0"/>
                        <a:t>AI-Powered Personal Finance Management: Predictive Analytics for Expense Forecasting</a:t>
                      </a:r>
                      <a:endParaRPr sz="1800" dirty="0">
                        <a:latin typeface="Calibri"/>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090" marR="629285">
                        <a:lnSpc>
                          <a:spcPts val="2160"/>
                        </a:lnSpc>
                        <a:spcBef>
                          <a:spcPts val="65"/>
                        </a:spcBef>
                      </a:pPr>
                      <a:r>
                        <a:rPr lang="en-IN" sz="1800" dirty="0">
                          <a:latin typeface="+mn-lt"/>
                          <a:cs typeface="Calibri"/>
                        </a:rPr>
                        <a:t>Sharma&amp; Patel</a:t>
                      </a:r>
                      <a:endParaRPr sz="1800" dirty="0">
                        <a:latin typeface="Calibri"/>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0" lvl="0" indent="0" defTabSz="914400" eaLnBrk="1" fontAlgn="auto" latinLnBrk="0" hangingPunct="1">
                        <a:lnSpc>
                          <a:spcPts val="2155"/>
                        </a:lnSpc>
                        <a:spcBef>
                          <a:spcPts val="0"/>
                        </a:spcBef>
                        <a:spcAft>
                          <a:spcPts val="0"/>
                        </a:spcAft>
                        <a:buClrTx/>
                        <a:buSzTx/>
                        <a:buFontTx/>
                        <a:buNone/>
                        <a:tabLst/>
                        <a:defRPr/>
                      </a:pPr>
                      <a:r>
                        <a:rPr lang="en-IN" sz="1800" dirty="0">
                          <a:latin typeface="+mn-lt"/>
                          <a:cs typeface="Calibri"/>
                        </a:rPr>
                        <a:t>2023</a:t>
                      </a:r>
                    </a:p>
                    <a:p>
                      <a:pPr marL="85725">
                        <a:lnSpc>
                          <a:spcPts val="2155"/>
                        </a:lnSpc>
                      </a:pP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471170">
                        <a:lnSpc>
                          <a:spcPts val="2160"/>
                        </a:lnSpc>
                        <a:spcBef>
                          <a:spcPts val="65"/>
                        </a:spcBef>
                      </a:pPr>
                      <a:r>
                        <a:rPr lang="en-US" sz="1800" dirty="0">
                          <a:latin typeface="+mn-lt"/>
                          <a:cs typeface="Calibri"/>
                        </a:rPr>
                        <a:t>Machine learning models for expense prediction using financial data analysis</a:t>
                      </a:r>
                      <a:endParaRPr sz="1800" dirty="0">
                        <a:latin typeface="Calibri"/>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5725" marR="450850">
                        <a:lnSpc>
                          <a:spcPts val="2160"/>
                        </a:lnSpc>
                        <a:spcBef>
                          <a:spcPts val="65"/>
                        </a:spcBef>
                      </a:pPr>
                      <a:r>
                        <a:rPr lang="en-US" dirty="0"/>
                        <a:t>Predicts monthly expenses with high accuracy using historical spending patterns</a:t>
                      </a:r>
                      <a:endParaRPr lang="en-US" sz="1800" dirty="0">
                        <a:latin typeface="+mn-lt"/>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tc>
                  <a:txBody>
                    <a:bodyPr/>
                    <a:lstStyle/>
                    <a:p>
                      <a:pPr marL="87630" marR="459740">
                        <a:lnSpc>
                          <a:spcPts val="2160"/>
                        </a:lnSpc>
                        <a:spcBef>
                          <a:spcPts val="65"/>
                        </a:spcBef>
                      </a:pPr>
                      <a:r>
                        <a:rPr lang="en-US" dirty="0"/>
                        <a:t>Does not include full expense management and budgeting features</a:t>
                      </a:r>
                      <a:endParaRPr sz="1800" dirty="0">
                        <a:latin typeface="Calibri"/>
                        <a:cs typeface="Calibri"/>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C"/>
                    </a:solidFill>
                  </a:tcPr>
                </a:tc>
                <a:extLst>
                  <a:ext uri="{0D108BD9-81ED-4DB2-BD59-A6C34878D82A}">
                    <a16:rowId xmlns:a16="http://schemas.microsoft.com/office/drawing/2014/main" val="10001"/>
                  </a:ext>
                </a:extLst>
              </a:tr>
              <a:tr h="1135257">
                <a:tc>
                  <a:txBody>
                    <a:bodyPr/>
                    <a:lstStyle/>
                    <a:p>
                      <a:pPr marL="85090">
                        <a:lnSpc>
                          <a:spcPts val="2155"/>
                        </a:lnSpc>
                      </a:pPr>
                      <a:r>
                        <a:rPr sz="1800" spc="-50" dirty="0">
                          <a:latin typeface="Calibri"/>
                          <a:cs typeface="Calibri"/>
                        </a:rPr>
                        <a:t>2</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a:lnSpc>
                          <a:spcPts val="2045"/>
                        </a:lnSpc>
                      </a:pPr>
                      <a:r>
                        <a:rPr lang="en-US" dirty="0"/>
                        <a:t>Intelligent Budget Optimization Using Machine Learning Algorithms</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1435">
                        <a:lnSpc>
                          <a:spcPts val="2045"/>
                        </a:lnSpc>
                      </a:pPr>
                      <a:r>
                        <a:rPr lang="en-IN" dirty="0"/>
                        <a:t>Chen, L., &amp; Williams, R.</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52069">
                        <a:lnSpc>
                          <a:spcPts val="2045"/>
                        </a:lnSpc>
                      </a:pPr>
                      <a:r>
                        <a:rPr lang="en-US" dirty="0"/>
                        <a:t>2022</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sz="1800" dirty="0">
                          <a:latin typeface="+mn-lt"/>
                          <a:cs typeface="Calibri"/>
                        </a:rPr>
                        <a:t>Machine learning techniques for dynamic budget optimization</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sz="1800" dirty="0">
                          <a:latin typeface="+mn-lt"/>
                          <a:cs typeface="Calibri"/>
                        </a:rPr>
                        <a:t>Improves budget planning by analyzing user spending behavior</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tc>
                  <a:txBody>
                    <a:bodyPr/>
                    <a:lstStyle/>
                    <a:p>
                      <a:pPr marL="635">
                        <a:lnSpc>
                          <a:spcPts val="2045"/>
                        </a:lnSpc>
                      </a:pPr>
                      <a:r>
                        <a:rPr lang="en-US" dirty="0"/>
                        <a:t>Limited focus on user-friendly personal finance tracking</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6"/>
                    </a:solidFill>
                  </a:tcPr>
                </a:tc>
                <a:extLst>
                  <a:ext uri="{0D108BD9-81ED-4DB2-BD59-A6C34878D82A}">
                    <a16:rowId xmlns:a16="http://schemas.microsoft.com/office/drawing/2014/main" val="10002"/>
                  </a:ext>
                </a:extLst>
              </a:tr>
              <a:tr h="1357112">
                <a:tc>
                  <a:txBody>
                    <a:bodyPr/>
                    <a:lstStyle/>
                    <a:p>
                      <a:pPr marL="85090">
                        <a:lnSpc>
                          <a:spcPts val="2150"/>
                        </a:lnSpc>
                      </a:pPr>
                      <a:r>
                        <a:rPr sz="1800" spc="-50" dirty="0">
                          <a:latin typeface="Calibri"/>
                          <a:cs typeface="Calibri"/>
                        </a:rPr>
                        <a:t>3</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a:lnSpc>
                          <a:spcPts val="2050"/>
                        </a:lnSpc>
                      </a:pPr>
                      <a:r>
                        <a:rPr lang="en-US" dirty="0"/>
                        <a:t>NLP-Based Automated Expense Categorization in Financial Applications</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51435">
                        <a:lnSpc>
                          <a:spcPts val="2050"/>
                        </a:lnSpc>
                      </a:pPr>
                      <a:r>
                        <a:rPr lang="en-IN" dirty="0"/>
                        <a:t>Rodriguez, M., &amp; Kim, J.</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85725">
                        <a:lnSpc>
                          <a:spcPts val="2155"/>
                        </a:lnSpc>
                      </a:pPr>
                      <a:r>
                        <a:rPr lang="en-IN" dirty="0"/>
                        <a:t>2021</a:t>
                      </a: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635">
                        <a:lnSpc>
                          <a:spcPts val="2050"/>
                        </a:lnSpc>
                      </a:pPr>
                      <a:r>
                        <a:rPr lang="en-US" dirty="0"/>
                        <a:t>Natural Language Processing for automatic transaction categorization</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635">
                        <a:lnSpc>
                          <a:spcPts val="2050"/>
                        </a:lnSpc>
                      </a:pPr>
                      <a:r>
                        <a:rPr lang="en-US" dirty="0"/>
                        <a:t>Automatically categorizes expenses and improves financial data organization</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EEC"/>
                    </a:solidFill>
                  </a:tcPr>
                </a:tc>
                <a:tc>
                  <a:txBody>
                    <a:bodyPr/>
                    <a:lstStyle/>
                    <a:p>
                      <a:pPr marL="635">
                        <a:lnSpc>
                          <a:spcPts val="2050"/>
                        </a:lnSpc>
                      </a:pPr>
                      <a:r>
                        <a:rPr lang="en-US" dirty="0"/>
                        <a:t>Does not provide expense prediction</a:t>
                      </a:r>
                      <a:endParaRPr sz="1800" dirty="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cap="flat" cmpd="sng" algn="ctr">
                      <a:solidFill>
                        <a:srgbClr val="FFFFFF"/>
                      </a:solidFill>
                      <a:prstDash val="solid"/>
                      <a:round/>
                      <a:headEnd type="none" w="med" len="med"/>
                      <a:tailEnd type="none" w="med" len="med"/>
                    </a:lnB>
                    <a:solidFill>
                      <a:srgbClr val="D0DEE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0" y="216720"/>
            <a:ext cx="12192000" cy="803275"/>
            <a:chOff x="0" y="216720"/>
            <a:chExt cx="12192000" cy="803275"/>
          </a:xfrm>
        </p:grpSpPr>
        <p:pic>
          <p:nvPicPr>
            <p:cNvPr id="5" name="object 5"/>
            <p:cNvPicPr/>
            <p:nvPr/>
          </p:nvPicPr>
          <p:blipFill>
            <a:blip r:embed="rId2" cstate="print"/>
            <a:stretch>
              <a:fillRect/>
            </a:stretch>
          </p:blipFill>
          <p:spPr>
            <a:xfrm>
              <a:off x="0" y="216720"/>
              <a:ext cx="12192000" cy="803160"/>
            </a:xfrm>
            <a:prstGeom prst="rect">
              <a:avLst/>
            </a:prstGeom>
          </p:spPr>
        </p:pic>
        <p:sp>
          <p:nvSpPr>
            <p:cNvPr id="6" name="object 6"/>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p:cNvSpPr txBox="1">
            <a:spLocks noGrp="1"/>
          </p:cNvSpPr>
          <p:nvPr>
            <p:ph type="title"/>
          </p:nvPr>
        </p:nvSpPr>
        <p:spPr>
          <a:xfrm>
            <a:off x="73025" y="182323"/>
            <a:ext cx="3888104" cy="689932"/>
          </a:xfrm>
          <a:prstGeom prst="rect">
            <a:avLst/>
          </a:prstGeom>
        </p:spPr>
        <p:txBody>
          <a:bodyPr vert="horz" wrap="square" lIns="0" tIns="12700" rIns="0" bIns="0" rtlCol="0">
            <a:spAutoFit/>
          </a:bodyPr>
          <a:lstStyle/>
          <a:p>
            <a:r>
              <a:rPr lang="en-US" dirty="0">
                <a:solidFill>
                  <a:prstClr val="white"/>
                </a:solidFill>
                <a:sym typeface="+mn-ea"/>
              </a:rPr>
              <a:t>Existing System</a:t>
            </a:r>
            <a:endParaRPr lang="en-IN" sz="4000" dirty="0">
              <a:latin typeface="Times New Roman" panose="02020603050405020304" pitchFamily="18" charset="0"/>
              <a:cs typeface="Times New Roman" panose="02020603050405020304" pitchFamily="18" charset="0"/>
            </a:endParaRPr>
          </a:p>
        </p:txBody>
      </p:sp>
      <p:sp>
        <p:nvSpPr>
          <p:cNvPr id="8" name="object 8"/>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sp>
        <p:nvSpPr>
          <p:cNvPr id="3" name="object 2">
            <a:extLst>
              <a:ext uri="{FF2B5EF4-FFF2-40B4-BE49-F238E27FC236}">
                <a16:creationId xmlns:a16="http://schemas.microsoft.com/office/drawing/2014/main" id="{472A052D-21F1-2542-F7FA-CDD37594DE72}"/>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TextBox 1">
            <a:extLst>
              <a:ext uri="{FF2B5EF4-FFF2-40B4-BE49-F238E27FC236}">
                <a16:creationId xmlns:a16="http://schemas.microsoft.com/office/drawing/2014/main" id="{F40A146B-F5D4-8406-EF1F-628F5B0BBB77}"/>
              </a:ext>
            </a:extLst>
          </p:cNvPr>
          <p:cNvSpPr txBox="1"/>
          <p:nvPr/>
        </p:nvSpPr>
        <p:spPr>
          <a:xfrm>
            <a:off x="304800" y="1191188"/>
            <a:ext cx="11625468" cy="5257850"/>
          </a:xfrm>
          <a:prstGeom prst="rect">
            <a:avLst/>
          </a:prstGeom>
          <a:noFill/>
        </p:spPr>
        <p:txBody>
          <a:bodyPr wrap="square" rtlCol="0">
            <a:spAutoFit/>
          </a:bodyPr>
          <a:lstStyle/>
          <a:p>
            <a:pPr marL="50800" lvl="0" algn="just">
              <a:lnSpc>
                <a:spcPct val="90000"/>
              </a:lnSpc>
              <a:spcBef>
                <a:spcPts val="1000"/>
              </a:spcBef>
              <a:buClr>
                <a:prstClr val="black"/>
              </a:buClr>
              <a:buSzPts val="2800"/>
              <a:defRPr/>
            </a:pPr>
            <a:r>
              <a:rPr lang="en-US" sz="2200" dirty="0">
                <a:latin typeface="Times New Roman" panose="02020603050405020304" pitchFamily="18" charset="0"/>
                <a:cs typeface="Times New Roman" panose="02020603050405020304" pitchFamily="18" charset="0"/>
              </a:rPr>
              <a:t>Currently, many people manage their personal finances using manual methods such as notebooks, spreadsheets, or basic expense tracking applications. These systems mainly focus on recording past transactions but do not provide intelligent analysis or future expense prediction.</a:t>
            </a:r>
          </a:p>
          <a:p>
            <a:pPr marL="50800" lvl="0" algn="just">
              <a:lnSpc>
                <a:spcPct val="90000"/>
              </a:lnSpc>
              <a:spcBef>
                <a:spcPts val="1000"/>
              </a:spcBef>
              <a:buClr>
                <a:prstClr val="black"/>
              </a:buClr>
              <a:buSzPts val="2800"/>
              <a:defRPr/>
            </a:pPr>
            <a:r>
              <a:rPr kumimoji="0" lang="en-US" sz="22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rPr>
              <a:t>Key Features: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Manual recording of daily expenses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Basic expense tracking using spreadsheets or simple applications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Manual categorization of expenses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Simple financial reports showing past spending</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Budget planning done manually by users</a:t>
            </a:r>
          </a:p>
          <a:p>
            <a:pPr marL="50800" lvl="0" algn="just">
              <a:lnSpc>
                <a:spcPct val="90000"/>
              </a:lnSpc>
              <a:spcBef>
                <a:spcPts val="1000"/>
              </a:spcBef>
              <a:buClr>
                <a:prstClr val="black"/>
              </a:buClr>
              <a:buSzPts val="2800"/>
              <a:defRPr/>
            </a:pPr>
            <a:r>
              <a:rPr kumimoji="0" lang="en-US" sz="22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rPr>
              <a:t>Limitations: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No prediction of future expenses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Lack of intelligent financial analysis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Difficult to track long-term spending patterns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High chances of human error in manual records</a:t>
            </a:r>
          </a:p>
          <a:p>
            <a:pPr lvl="0" eaLnBrk="0" fontAlgn="base" hangingPunct="0">
              <a:spcBef>
                <a:spcPct val="0"/>
              </a:spcBef>
              <a:spcAft>
                <a:spcPct val="0"/>
              </a:spcAft>
              <a:buFontTx/>
              <a:buChar char="•"/>
            </a:pPr>
            <a:r>
              <a:rPr lang="en-US" altLang="en-US" sz="2200" dirty="0">
                <a:latin typeface="Times New Roman" panose="02020603050405020304" pitchFamily="18" charset="0"/>
                <a:cs typeface="Times New Roman" panose="02020603050405020304" pitchFamily="18" charset="0"/>
              </a:rPr>
              <a:t> No automated alerts for overspending or budget limits</a:t>
            </a:r>
            <a:endParaRPr kumimoji="0" lang="en-US" sz="24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255FE-AE9F-8B2E-76F1-1E062AA7702C}"/>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0E8B817D-8F26-56FD-F7AC-435A50E60B50}"/>
              </a:ext>
            </a:extLst>
          </p:cNvPr>
          <p:cNvGrpSpPr/>
          <p:nvPr/>
        </p:nvGrpSpPr>
        <p:grpSpPr>
          <a:xfrm>
            <a:off x="0" y="216720"/>
            <a:ext cx="12192000" cy="803275"/>
            <a:chOff x="0" y="216720"/>
            <a:chExt cx="12192000" cy="803275"/>
          </a:xfrm>
        </p:grpSpPr>
        <p:pic>
          <p:nvPicPr>
            <p:cNvPr id="5" name="object 5">
              <a:extLst>
                <a:ext uri="{FF2B5EF4-FFF2-40B4-BE49-F238E27FC236}">
                  <a16:creationId xmlns:a16="http://schemas.microsoft.com/office/drawing/2014/main" id="{4D2DFB73-701F-95C7-421A-3F6320BA013F}"/>
                </a:ext>
              </a:extLst>
            </p:cNvPr>
            <p:cNvPicPr/>
            <p:nvPr/>
          </p:nvPicPr>
          <p:blipFill>
            <a:blip r:embed="rId2" cstate="print"/>
            <a:stretch>
              <a:fillRect/>
            </a:stretch>
          </p:blipFill>
          <p:spPr>
            <a:xfrm>
              <a:off x="0" y="216720"/>
              <a:ext cx="12192000" cy="803160"/>
            </a:xfrm>
            <a:prstGeom prst="rect">
              <a:avLst/>
            </a:prstGeom>
          </p:spPr>
        </p:pic>
        <p:sp>
          <p:nvSpPr>
            <p:cNvPr id="6" name="object 6">
              <a:extLst>
                <a:ext uri="{FF2B5EF4-FFF2-40B4-BE49-F238E27FC236}">
                  <a16:creationId xmlns:a16="http://schemas.microsoft.com/office/drawing/2014/main" id="{54EF3A74-09AE-C228-1853-CC13AA72FAA4}"/>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a:extLst>
              <a:ext uri="{FF2B5EF4-FFF2-40B4-BE49-F238E27FC236}">
                <a16:creationId xmlns:a16="http://schemas.microsoft.com/office/drawing/2014/main" id="{DD95A507-1E95-6D60-A3CC-70E70EC7F41A}"/>
              </a:ext>
            </a:extLst>
          </p:cNvPr>
          <p:cNvSpPr txBox="1">
            <a:spLocks noGrp="1"/>
          </p:cNvSpPr>
          <p:nvPr>
            <p:ph type="title"/>
          </p:nvPr>
        </p:nvSpPr>
        <p:spPr>
          <a:xfrm>
            <a:off x="73025" y="182323"/>
            <a:ext cx="3888104" cy="689932"/>
          </a:xfrm>
          <a:prstGeom prst="rect">
            <a:avLst/>
          </a:prstGeom>
        </p:spPr>
        <p:txBody>
          <a:bodyPr vert="horz" wrap="square" lIns="0" tIns="12700" rIns="0" bIns="0" rtlCol="0">
            <a:spAutoFit/>
          </a:bodyPr>
          <a:lstStyle/>
          <a:p>
            <a:r>
              <a:rPr lang="en-US" dirty="0">
                <a:solidFill>
                  <a:prstClr val="white"/>
                </a:solidFill>
                <a:sym typeface="+mn-ea"/>
              </a:rPr>
              <a:t>Proposed System</a:t>
            </a:r>
            <a:endParaRPr lang="en-IN" sz="4000" dirty="0">
              <a:latin typeface="Times New Roman" panose="02020603050405020304" pitchFamily="18" charset="0"/>
              <a:cs typeface="Times New Roman" panose="02020603050405020304" pitchFamily="18" charset="0"/>
            </a:endParaRPr>
          </a:p>
        </p:txBody>
      </p:sp>
      <p:sp>
        <p:nvSpPr>
          <p:cNvPr id="8" name="object 8">
            <a:extLst>
              <a:ext uri="{FF2B5EF4-FFF2-40B4-BE49-F238E27FC236}">
                <a16:creationId xmlns:a16="http://schemas.microsoft.com/office/drawing/2014/main" id="{45B92848-287C-5105-9E61-C49868C142BA}"/>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a:extLst>
              <a:ext uri="{FF2B5EF4-FFF2-40B4-BE49-F238E27FC236}">
                <a16:creationId xmlns:a16="http://schemas.microsoft.com/office/drawing/2014/main" id="{9BF94955-4AFA-07D0-7C1A-38B5DDA349A6}"/>
              </a:ext>
            </a:extLst>
          </p:cNvPr>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a:extLst>
              <a:ext uri="{FF2B5EF4-FFF2-40B4-BE49-F238E27FC236}">
                <a16:creationId xmlns:a16="http://schemas.microsoft.com/office/drawing/2014/main" id="{5810E3EF-CF98-4B60-9D23-D074363296DD}"/>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00DFB4C9-24BD-F3F3-FC85-A475ED3C98F3}"/>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8</a:t>
            </a:fld>
            <a:endParaRPr spc="-25" dirty="0"/>
          </a:p>
        </p:txBody>
      </p:sp>
      <p:sp>
        <p:nvSpPr>
          <p:cNvPr id="3" name="object 2">
            <a:extLst>
              <a:ext uri="{FF2B5EF4-FFF2-40B4-BE49-F238E27FC236}">
                <a16:creationId xmlns:a16="http://schemas.microsoft.com/office/drawing/2014/main" id="{08C4A53E-2ADE-087C-6063-1F3DDA48B102}"/>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TextBox 1">
            <a:extLst>
              <a:ext uri="{FF2B5EF4-FFF2-40B4-BE49-F238E27FC236}">
                <a16:creationId xmlns:a16="http://schemas.microsoft.com/office/drawing/2014/main" id="{70DC290E-F828-2741-44C8-37A41E1ED916}"/>
              </a:ext>
            </a:extLst>
          </p:cNvPr>
          <p:cNvSpPr txBox="1"/>
          <p:nvPr/>
        </p:nvSpPr>
        <p:spPr>
          <a:xfrm>
            <a:off x="304800" y="1248025"/>
            <a:ext cx="11518389" cy="4314001"/>
          </a:xfrm>
          <a:prstGeom prst="rect">
            <a:avLst/>
          </a:prstGeom>
          <a:noFill/>
        </p:spPr>
        <p:txBody>
          <a:bodyPr wrap="square" rtlCol="0">
            <a:spAutoFit/>
          </a:bodyPr>
          <a:lstStyle/>
          <a:p>
            <a:pPr marL="50800" lvl="0" algn="just">
              <a:lnSpc>
                <a:spcPct val="90000"/>
              </a:lnSpc>
              <a:spcBef>
                <a:spcPts val="1000"/>
              </a:spcBef>
              <a:buClr>
                <a:prstClr val="black"/>
              </a:buClr>
              <a:buSzPts val="2800"/>
              <a:defRPr/>
            </a:pPr>
            <a:r>
              <a:rPr lang="en-US" sz="2400" dirty="0">
                <a:latin typeface="Times New Roman" panose="02020603050405020304" pitchFamily="18" charset="0"/>
                <a:cs typeface="Times New Roman" panose="02020603050405020304" pitchFamily="18" charset="0"/>
              </a:rPr>
              <a:t>The proposed system introduces an </a:t>
            </a:r>
            <a:r>
              <a:rPr lang="en-US" sz="2400" b="1" dirty="0">
                <a:latin typeface="Times New Roman" panose="02020603050405020304" pitchFamily="18" charset="0"/>
                <a:cs typeface="Times New Roman" panose="02020603050405020304" pitchFamily="18" charset="0"/>
              </a:rPr>
              <a:t>AI-Based Personal Finance Manager with Smart Expense Prediction</a:t>
            </a:r>
            <a:r>
              <a:rPr lang="en-US" sz="2400" dirty="0">
                <a:latin typeface="Times New Roman" panose="02020603050405020304" pitchFamily="18" charset="0"/>
                <a:cs typeface="Times New Roman" panose="02020603050405020304" pitchFamily="18" charset="0"/>
              </a:rPr>
              <a:t>, a web-based platform designed to help users manage their finances efficiently and predict future expenses using machine learning techniques.</a:t>
            </a:r>
          </a:p>
          <a:p>
            <a:pPr marL="50800" lvl="0" algn="just">
              <a:lnSpc>
                <a:spcPct val="90000"/>
              </a:lnSpc>
              <a:spcBef>
                <a:spcPts val="1000"/>
              </a:spcBef>
              <a:buClr>
                <a:prstClr val="black"/>
              </a:buClr>
              <a:buSzPts val="2800"/>
              <a:defRPr/>
            </a:pPr>
            <a:r>
              <a:rPr lang="en-US" sz="2400" b="1" dirty="0">
                <a:latin typeface="Times New Roman" panose="02020603050405020304" pitchFamily="18" charset="0"/>
                <a:cs typeface="Times New Roman" panose="02020603050405020304" pitchFamily="18" charset="0"/>
              </a:rPr>
              <a:t>Key Features:</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Web-based platform for managing personal financial activities</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Secure user registration and login system</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Recording and categorizing daily expenses</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Budget management and savings goal tracking</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Centralized database for storing financial records</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Visual reports and dashboards for expense analysis</a:t>
            </a:r>
          </a:p>
        </p:txBody>
      </p:sp>
    </p:spTree>
    <p:extLst>
      <p:ext uri="{BB962C8B-B14F-4D97-AF65-F5344CB8AC3E}">
        <p14:creationId xmlns:p14="http://schemas.microsoft.com/office/powerpoint/2010/main" val="18374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4169A-BDB5-8258-B692-8F7C90F308BD}"/>
            </a:ext>
          </a:extLst>
        </p:cNvPr>
        <p:cNvGrpSpPr/>
        <p:nvPr/>
      </p:nvGrpSpPr>
      <p:grpSpPr>
        <a:xfrm>
          <a:off x="0" y="0"/>
          <a:ext cx="0" cy="0"/>
          <a:chOff x="0" y="0"/>
          <a:chExt cx="0" cy="0"/>
        </a:xfrm>
      </p:grpSpPr>
      <p:grpSp>
        <p:nvGrpSpPr>
          <p:cNvPr id="4" name="object 4">
            <a:extLst>
              <a:ext uri="{FF2B5EF4-FFF2-40B4-BE49-F238E27FC236}">
                <a16:creationId xmlns:a16="http://schemas.microsoft.com/office/drawing/2014/main" id="{F03932A7-059C-CA8C-DFDB-3E2C6BCCBB3B}"/>
              </a:ext>
            </a:extLst>
          </p:cNvPr>
          <p:cNvGrpSpPr/>
          <p:nvPr/>
        </p:nvGrpSpPr>
        <p:grpSpPr>
          <a:xfrm>
            <a:off x="0" y="216720"/>
            <a:ext cx="12192000" cy="803275"/>
            <a:chOff x="0" y="216720"/>
            <a:chExt cx="12192000" cy="803275"/>
          </a:xfrm>
        </p:grpSpPr>
        <p:pic>
          <p:nvPicPr>
            <p:cNvPr id="5" name="object 5">
              <a:extLst>
                <a:ext uri="{FF2B5EF4-FFF2-40B4-BE49-F238E27FC236}">
                  <a16:creationId xmlns:a16="http://schemas.microsoft.com/office/drawing/2014/main" id="{26669FB0-BBC9-ECC9-8667-3E880E9DF905}"/>
                </a:ext>
              </a:extLst>
            </p:cNvPr>
            <p:cNvPicPr/>
            <p:nvPr/>
          </p:nvPicPr>
          <p:blipFill>
            <a:blip r:embed="rId2" cstate="print"/>
            <a:stretch>
              <a:fillRect/>
            </a:stretch>
          </p:blipFill>
          <p:spPr>
            <a:xfrm>
              <a:off x="0" y="216720"/>
              <a:ext cx="12192000" cy="803160"/>
            </a:xfrm>
            <a:prstGeom prst="rect">
              <a:avLst/>
            </a:prstGeom>
          </p:spPr>
        </p:pic>
        <p:sp>
          <p:nvSpPr>
            <p:cNvPr id="6" name="object 6">
              <a:extLst>
                <a:ext uri="{FF2B5EF4-FFF2-40B4-BE49-F238E27FC236}">
                  <a16:creationId xmlns:a16="http://schemas.microsoft.com/office/drawing/2014/main" id="{7D33356C-1D45-9018-60C5-40F7B4F97C2F}"/>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7" name="object 7">
            <a:extLst>
              <a:ext uri="{FF2B5EF4-FFF2-40B4-BE49-F238E27FC236}">
                <a16:creationId xmlns:a16="http://schemas.microsoft.com/office/drawing/2014/main" id="{F66AFBA3-4462-889D-57A4-73CF1207D271}"/>
              </a:ext>
            </a:extLst>
          </p:cNvPr>
          <p:cNvSpPr txBox="1">
            <a:spLocks noGrp="1"/>
          </p:cNvSpPr>
          <p:nvPr>
            <p:ph type="title"/>
          </p:nvPr>
        </p:nvSpPr>
        <p:spPr>
          <a:xfrm>
            <a:off x="73025" y="182323"/>
            <a:ext cx="3888104" cy="689932"/>
          </a:xfrm>
          <a:prstGeom prst="rect">
            <a:avLst/>
          </a:prstGeom>
        </p:spPr>
        <p:txBody>
          <a:bodyPr vert="horz" wrap="square" lIns="0" tIns="12700" rIns="0" bIns="0" rtlCol="0">
            <a:spAutoFit/>
          </a:bodyPr>
          <a:lstStyle/>
          <a:p>
            <a:r>
              <a:rPr lang="en-US" dirty="0">
                <a:solidFill>
                  <a:prstClr val="white"/>
                </a:solidFill>
                <a:sym typeface="+mn-ea"/>
              </a:rPr>
              <a:t>Proposed System</a:t>
            </a:r>
            <a:endParaRPr lang="en-IN" sz="4000" dirty="0">
              <a:latin typeface="Times New Roman" panose="02020603050405020304" pitchFamily="18" charset="0"/>
              <a:cs typeface="Times New Roman" panose="02020603050405020304" pitchFamily="18" charset="0"/>
            </a:endParaRPr>
          </a:p>
        </p:txBody>
      </p:sp>
      <p:sp>
        <p:nvSpPr>
          <p:cNvPr id="8" name="object 8">
            <a:extLst>
              <a:ext uri="{FF2B5EF4-FFF2-40B4-BE49-F238E27FC236}">
                <a16:creationId xmlns:a16="http://schemas.microsoft.com/office/drawing/2014/main" id="{345A22A0-91F2-EEA7-B872-03AB1E6BC9B1}"/>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9" name="object 9">
            <a:extLst>
              <a:ext uri="{FF2B5EF4-FFF2-40B4-BE49-F238E27FC236}">
                <a16:creationId xmlns:a16="http://schemas.microsoft.com/office/drawing/2014/main" id="{546FBAD4-579C-F069-645F-A27B4CB0577E}"/>
              </a:ext>
            </a:extLst>
          </p:cNvPr>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0" name="object 10">
            <a:extLst>
              <a:ext uri="{FF2B5EF4-FFF2-40B4-BE49-F238E27FC236}">
                <a16:creationId xmlns:a16="http://schemas.microsoft.com/office/drawing/2014/main" id="{DEFC93E4-7B92-E723-9D8C-C8A4CBD75B79}"/>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6D9B9161-923F-47B7-73DC-9879F120F7C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3" name="object 2">
            <a:extLst>
              <a:ext uri="{FF2B5EF4-FFF2-40B4-BE49-F238E27FC236}">
                <a16:creationId xmlns:a16="http://schemas.microsoft.com/office/drawing/2014/main" id="{0BB3A1B2-3C4E-FDAB-6D98-5FACEEAF2A27}"/>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12" name="TextBox 11">
            <a:extLst>
              <a:ext uri="{FF2B5EF4-FFF2-40B4-BE49-F238E27FC236}">
                <a16:creationId xmlns:a16="http://schemas.microsoft.com/office/drawing/2014/main" id="{53CD9B0B-506B-68CC-9CF3-7AA9117A3A92}"/>
              </a:ext>
            </a:extLst>
          </p:cNvPr>
          <p:cNvSpPr txBox="1"/>
          <p:nvPr/>
        </p:nvSpPr>
        <p:spPr>
          <a:xfrm>
            <a:off x="304800" y="1248025"/>
            <a:ext cx="11518389" cy="3503523"/>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Machine Learning-Based Expense Prediction</a:t>
            </a:r>
          </a:p>
          <a:p>
            <a:r>
              <a:rPr lang="en-US" sz="2400" dirty="0">
                <a:latin typeface="Times New Roman" panose="02020603050405020304" pitchFamily="18" charset="0"/>
                <a:cs typeface="Times New Roman" panose="02020603050405020304" pitchFamily="18" charset="0"/>
              </a:rPr>
              <a:t>The system uses the Linear Regression algorithm to analyze historical spending data and predict future expenses.</a:t>
            </a:r>
          </a:p>
          <a:p>
            <a:pPr marL="50800" lvl="0" algn="just">
              <a:lnSpc>
                <a:spcPct val="90000"/>
              </a:lnSpc>
              <a:spcBef>
                <a:spcPts val="1000"/>
              </a:spcBef>
              <a:buClr>
                <a:prstClr val="black"/>
              </a:buClr>
              <a:buSzPts val="2800"/>
              <a:defRPr/>
            </a:pPr>
            <a:r>
              <a:rPr lang="en-US" sz="2400" b="1" dirty="0">
                <a:latin typeface="Times New Roman" panose="02020603050405020304" pitchFamily="18" charset="0"/>
                <a:cs typeface="Times New Roman" panose="02020603050405020304" pitchFamily="18" charset="0"/>
              </a:rPr>
              <a:t>Benefits of the Proposed System</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Helps users plan budgets effectively</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Provides insights into spending behavior</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Generates alerts when expenses approach budget limits</a:t>
            </a:r>
          </a:p>
          <a:p>
            <a:pPr marL="393700" lvl="0" indent="-342900" algn="just">
              <a:lnSpc>
                <a:spcPct val="90000"/>
              </a:lnSpc>
              <a:spcBef>
                <a:spcPts val="1000"/>
              </a:spcBef>
              <a:buClr>
                <a:prstClr val="black"/>
              </a:buClr>
              <a:buSzPts val="2800"/>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Supports better financial decision-making</a:t>
            </a:r>
          </a:p>
        </p:txBody>
      </p:sp>
    </p:spTree>
    <p:extLst>
      <p:ext uri="{BB962C8B-B14F-4D97-AF65-F5344CB8AC3E}">
        <p14:creationId xmlns:p14="http://schemas.microsoft.com/office/powerpoint/2010/main" val="3612129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0" y="216720"/>
            <a:ext cx="12192000" cy="803275"/>
            <a:chOff x="0" y="216720"/>
            <a:chExt cx="12192000" cy="803275"/>
          </a:xfrm>
        </p:grpSpPr>
        <p:pic>
          <p:nvPicPr>
            <p:cNvPr id="4" name="object 4"/>
            <p:cNvPicPr/>
            <p:nvPr/>
          </p:nvPicPr>
          <p:blipFill>
            <a:blip r:embed="rId2" cstate="print"/>
            <a:stretch>
              <a:fillRect/>
            </a:stretch>
          </p:blipFill>
          <p:spPr>
            <a:xfrm>
              <a:off x="0" y="216720"/>
              <a:ext cx="12192000" cy="803160"/>
            </a:xfrm>
            <a:prstGeom prst="rect">
              <a:avLst/>
            </a:prstGeom>
          </p:spPr>
        </p:pic>
        <p:sp>
          <p:nvSpPr>
            <p:cNvPr id="5" name="object 5"/>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73025" y="182323"/>
            <a:ext cx="4739005" cy="689932"/>
          </a:xfrm>
          <a:prstGeom prst="rect">
            <a:avLst/>
          </a:prstGeom>
        </p:spPr>
        <p:txBody>
          <a:bodyPr vert="horz" wrap="square" lIns="0" tIns="12700" rIns="0" bIns="0" rtlCol="0">
            <a:spAutoFit/>
          </a:bodyPr>
          <a:lstStyle/>
          <a:p>
            <a:r>
              <a:rPr lang="en-US" dirty="0">
                <a:solidFill>
                  <a:prstClr val="white"/>
                </a:solidFill>
                <a:sym typeface="+mn-ea"/>
              </a:rPr>
              <a:t>Planning</a:t>
            </a:r>
            <a:endParaRPr lang="en-IN" sz="4000" dirty="0">
              <a:latin typeface="Times New Roman" panose="02020603050405020304" pitchFamily="18" charset="0"/>
              <a:cs typeface="Times New Roman" panose="02020603050405020304" pitchFamily="18" charset="0"/>
            </a:endParaRPr>
          </a:p>
        </p:txBody>
      </p:sp>
      <p:sp>
        <p:nvSpPr>
          <p:cNvPr id="9" name="object 9"/>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0" name="object 10"/>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7" name="object 2">
            <a:extLst>
              <a:ext uri="{FF2B5EF4-FFF2-40B4-BE49-F238E27FC236}">
                <a16:creationId xmlns:a16="http://schemas.microsoft.com/office/drawing/2014/main" id="{07F0E128-56BB-D1A1-1DC4-BCBD8590181E}"/>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TextBox 1">
            <a:extLst>
              <a:ext uri="{FF2B5EF4-FFF2-40B4-BE49-F238E27FC236}">
                <a16:creationId xmlns:a16="http://schemas.microsoft.com/office/drawing/2014/main" id="{87C39E6F-D639-4045-C221-E30E71FC97D9}"/>
              </a:ext>
            </a:extLst>
          </p:cNvPr>
          <p:cNvSpPr txBox="1"/>
          <p:nvPr/>
        </p:nvSpPr>
        <p:spPr>
          <a:xfrm>
            <a:off x="436877" y="1042045"/>
            <a:ext cx="10982530"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planning phase of the </a:t>
            </a:r>
            <a:r>
              <a:rPr lang="en-US" sz="2400" b="1" dirty="0">
                <a:latin typeface="Times New Roman" panose="02020603050405020304" pitchFamily="18" charset="0"/>
                <a:cs typeface="Times New Roman" panose="02020603050405020304" pitchFamily="18" charset="0"/>
              </a:rPr>
              <a:t>AI-Based Personal Finance Manager with Smart Expense Prediction System</a:t>
            </a:r>
            <a:r>
              <a:rPr lang="en-US" sz="2400" dirty="0">
                <a:latin typeface="Times New Roman" panose="02020603050405020304" pitchFamily="18" charset="0"/>
                <a:cs typeface="Times New Roman" panose="02020603050405020304" pitchFamily="18" charset="0"/>
              </a:rPr>
              <a:t> focused on identifying the challenges in traditional personal finance management and designing an intelligent solution to help users manage their expenses effectively.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During this stage, </a:t>
            </a:r>
            <a:r>
              <a:rPr lang="en-US" sz="2400" b="1" dirty="0">
                <a:latin typeface="Times New Roman" panose="02020603050405020304" pitchFamily="18" charset="0"/>
                <a:cs typeface="Times New Roman" panose="02020603050405020304" pitchFamily="18" charset="0"/>
              </a:rPr>
              <a:t>requirement analysis</a:t>
            </a:r>
            <a:r>
              <a:rPr lang="en-US" sz="2400" dirty="0">
                <a:latin typeface="Times New Roman" panose="02020603050405020304" pitchFamily="18" charset="0"/>
                <a:cs typeface="Times New Roman" panose="02020603050405020304" pitchFamily="18" charset="0"/>
              </a:rPr>
              <a:t> was conducted to understand the needs of users such as recording daily expenses, managing budgets, tracking savings goals, and analyzing spending patterns.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system workflow</a:t>
            </a:r>
            <a:r>
              <a:rPr lang="en-US" sz="2400" dirty="0">
                <a:latin typeface="Times New Roman" panose="02020603050405020304" pitchFamily="18" charset="0"/>
                <a:cs typeface="Times New Roman" panose="02020603050405020304" pitchFamily="18" charset="0"/>
              </a:rPr>
              <a:t> was then planned to allow users to securely log in, add and categorize expenses, view financial summaries, and monitor their spending through a centralized web-based platform.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addition, </a:t>
            </a:r>
            <a:r>
              <a:rPr lang="en-US" sz="2400" b="1" dirty="0">
                <a:latin typeface="Times New Roman" panose="02020603050405020304" pitchFamily="18" charset="0"/>
                <a:cs typeface="Times New Roman" panose="02020603050405020304" pitchFamily="18" charset="0"/>
              </a:rPr>
              <a:t>machine learning integration planning</a:t>
            </a:r>
            <a:r>
              <a:rPr lang="en-US" sz="2400" dirty="0">
                <a:latin typeface="Times New Roman" panose="02020603050405020304" pitchFamily="18" charset="0"/>
                <a:cs typeface="Times New Roman" panose="02020603050405020304" pitchFamily="18" charset="0"/>
              </a:rPr>
              <a:t> was included to analyze historical spending data and predict future expenses using a </a:t>
            </a:r>
            <a:r>
              <a:rPr lang="en-US" sz="2400" b="1" dirty="0">
                <a:latin typeface="Times New Roman" panose="02020603050405020304" pitchFamily="18" charset="0"/>
                <a:cs typeface="Times New Roman" panose="02020603050405020304" pitchFamily="18" charset="0"/>
              </a:rPr>
              <a:t>machine learning algorithm</a:t>
            </a:r>
            <a:r>
              <a:rPr lang="en-US" sz="2400" dirty="0">
                <a:latin typeface="Times New Roman" panose="02020603050405020304" pitchFamily="18" charset="0"/>
                <a:cs typeface="Times New Roman" panose="02020603050405020304" pitchFamily="18" charset="0"/>
              </a:rPr>
              <a:t>, helping users plan their finances more effectively.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1F016-B763-42F3-99A5-C517EA498457}"/>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EAA1FDCB-41A6-596B-6F84-7ED3D659FBA6}"/>
              </a:ext>
            </a:extLst>
          </p:cNvPr>
          <p:cNvSpPr/>
          <p:nvPr/>
        </p:nvSpPr>
        <p:spPr>
          <a:xfrm>
            <a:off x="9185988" y="5552060"/>
            <a:ext cx="2971800" cy="106680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8" name="Picture 17">
            <a:extLst>
              <a:ext uri="{FF2B5EF4-FFF2-40B4-BE49-F238E27FC236}">
                <a16:creationId xmlns:a16="http://schemas.microsoft.com/office/drawing/2014/main" id="{846D8953-5C70-B2B0-68E5-C192A89AA73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8247" y="1393963"/>
            <a:ext cx="5862086" cy="4817608"/>
          </a:xfrm>
          <a:prstGeom prst="rect">
            <a:avLst/>
          </a:prstGeom>
          <a:noFill/>
          <a:ln>
            <a:noFill/>
          </a:ln>
        </p:spPr>
      </p:pic>
      <p:grpSp>
        <p:nvGrpSpPr>
          <p:cNvPr id="3" name="object 3">
            <a:extLst>
              <a:ext uri="{FF2B5EF4-FFF2-40B4-BE49-F238E27FC236}">
                <a16:creationId xmlns:a16="http://schemas.microsoft.com/office/drawing/2014/main" id="{74869B48-6C68-B771-9AA3-5FDF3A417671}"/>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4786634B-A842-8AA1-4D2F-3862A7C3CA2E}"/>
                </a:ext>
              </a:extLst>
            </p:cNvPr>
            <p:cNvPicPr/>
            <p:nvPr/>
          </p:nvPicPr>
          <p:blipFill>
            <a:blip r:embed="rId3"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4FD4CA1C-0379-9B26-05D2-38ACB8112418}"/>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0C0990B6-5519-AB76-7EAC-D539276ABA26}"/>
              </a:ext>
            </a:extLst>
          </p:cNvPr>
          <p:cNvSpPr txBox="1">
            <a:spLocks noGrp="1"/>
          </p:cNvSpPr>
          <p:nvPr>
            <p:ph type="title"/>
          </p:nvPr>
        </p:nvSpPr>
        <p:spPr>
          <a:xfrm>
            <a:off x="73025" y="182323"/>
            <a:ext cx="4739005" cy="1243930"/>
          </a:xfrm>
          <a:prstGeom prst="rect">
            <a:avLst/>
          </a:prstGeom>
        </p:spPr>
        <p:txBody>
          <a:bodyPr vert="horz" wrap="square" lIns="0" tIns="12700" rIns="0" bIns="0" rtlCol="0">
            <a:spAutoFit/>
          </a:bodyPr>
          <a:lstStyle/>
          <a:p>
            <a:r>
              <a:rPr lang="en-US" sz="4000" dirty="0">
                <a:solidFill>
                  <a:prstClr val="white"/>
                </a:solidFill>
                <a:sym typeface="+mn-ea"/>
              </a:rPr>
              <a:t>Design</a:t>
            </a:r>
            <a:br>
              <a:rPr lang="en-IN" sz="36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B3EC4CDE-57BA-F8AD-1511-12737B92B908}"/>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0" name="object 10">
            <a:extLst>
              <a:ext uri="{FF2B5EF4-FFF2-40B4-BE49-F238E27FC236}">
                <a16:creationId xmlns:a16="http://schemas.microsoft.com/office/drawing/2014/main" id="{B6B5532A-69E4-06DD-0616-04472A05D025}"/>
              </a:ext>
            </a:extLst>
          </p:cNvPr>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a:extLst>
              <a:ext uri="{FF2B5EF4-FFF2-40B4-BE49-F238E27FC236}">
                <a16:creationId xmlns:a16="http://schemas.microsoft.com/office/drawing/2014/main" id="{B1D77D4A-FEB4-6FB6-6CE7-AC49CC2C2665}"/>
              </a:ext>
            </a:extLst>
          </p:cNvPr>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A5D4F17E-ABB6-353B-A29F-3C27CF7BDD28}"/>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7" name="object 2">
            <a:extLst>
              <a:ext uri="{FF2B5EF4-FFF2-40B4-BE49-F238E27FC236}">
                <a16:creationId xmlns:a16="http://schemas.microsoft.com/office/drawing/2014/main" id="{B57AB30E-D61C-F086-8916-1DA95205E838}"/>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8" name="TextBox 7">
            <a:extLst>
              <a:ext uri="{FF2B5EF4-FFF2-40B4-BE49-F238E27FC236}">
                <a16:creationId xmlns:a16="http://schemas.microsoft.com/office/drawing/2014/main" id="{D5FF9F79-E29B-8092-0573-D2FF24E233BD}"/>
              </a:ext>
            </a:extLst>
          </p:cNvPr>
          <p:cNvSpPr txBox="1"/>
          <p:nvPr/>
        </p:nvSpPr>
        <p:spPr>
          <a:xfrm>
            <a:off x="211667" y="1086049"/>
            <a:ext cx="6036733" cy="5786199"/>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AI-Based Personal Finance Manager with Smart Expense Prediction System</a:t>
            </a:r>
            <a:r>
              <a:rPr lang="en-US" sz="2200" dirty="0">
                <a:latin typeface="Times New Roman" panose="02020603050405020304" pitchFamily="18" charset="0"/>
                <a:cs typeface="Times New Roman" panose="02020603050405020304" pitchFamily="18" charset="0"/>
              </a:rPr>
              <a:t> is designed as a web-based platform that helps users manage personal and group expenses efficiently. The system allows users to track daily expenses, manage budgets, and analyze spending patterns. It also supports group expense management where multiple members can share and monitor expenses within a group. The system uses machine learning techniques to analyze historical spending data and predict future expenses.</a:t>
            </a:r>
          </a:p>
          <a:p>
            <a:r>
              <a:rPr lang="en-US" sz="2200" b="1" dirty="0">
                <a:latin typeface="Times New Roman" panose="02020603050405020304" pitchFamily="18" charset="0"/>
                <a:cs typeface="Times New Roman" panose="02020603050405020304" pitchFamily="18" charset="0"/>
              </a:rPr>
              <a:t>1. System Architecture Design</a:t>
            </a:r>
          </a:p>
          <a:p>
            <a:pPr>
              <a:buNone/>
            </a:pPr>
            <a:r>
              <a:rPr lang="en-US" sz="2200" dirty="0">
                <a:latin typeface="Times New Roman" panose="02020603050405020304" pitchFamily="18" charset="0"/>
                <a:cs typeface="Times New Roman" panose="02020603050405020304" pitchFamily="18" charset="0"/>
              </a:rPr>
              <a:t>The system mainly consists of three types of users: </a:t>
            </a:r>
            <a:r>
              <a:rPr lang="en-US" sz="2200" b="1" dirty="0">
                <a:latin typeface="Times New Roman" panose="02020603050405020304" pitchFamily="18" charset="0"/>
                <a:cs typeface="Times New Roman" panose="02020603050405020304" pitchFamily="18" charset="0"/>
              </a:rPr>
              <a:t>Admin (Group Admin), Members, and Individual Users.</a:t>
            </a:r>
          </a:p>
          <a:p>
            <a:pPr>
              <a:buNone/>
            </a:pPr>
            <a:endParaRPr lang="en-US" sz="22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056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C99B6-0F9F-BB45-636E-B471F6699258}"/>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3C9E6E05-2BE5-C41E-C76F-7337F5183432}"/>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EA398811-3792-C670-D1C7-CDD19C6D9A66}"/>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48B2D3A3-D5E8-D1E5-6761-632617FE7F07}"/>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EBFBC56-5757-02B6-B34B-ADA1517AEEA6}"/>
              </a:ext>
            </a:extLst>
          </p:cNvPr>
          <p:cNvSpPr txBox="1">
            <a:spLocks noGrp="1"/>
          </p:cNvSpPr>
          <p:nvPr>
            <p:ph type="title"/>
          </p:nvPr>
        </p:nvSpPr>
        <p:spPr>
          <a:xfrm>
            <a:off x="73025" y="182323"/>
            <a:ext cx="4739005" cy="1243930"/>
          </a:xfrm>
          <a:prstGeom prst="rect">
            <a:avLst/>
          </a:prstGeom>
        </p:spPr>
        <p:txBody>
          <a:bodyPr vert="horz" wrap="square" lIns="0" tIns="12700" rIns="0" bIns="0" rtlCol="0">
            <a:spAutoFit/>
          </a:bodyPr>
          <a:lstStyle/>
          <a:p>
            <a:r>
              <a:rPr lang="en-US" sz="4000" dirty="0">
                <a:solidFill>
                  <a:prstClr val="white"/>
                </a:solidFill>
                <a:sym typeface="+mn-ea"/>
              </a:rPr>
              <a:t>Design</a:t>
            </a:r>
            <a:br>
              <a:rPr lang="en-IN" sz="36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05F34EF9-7F94-C905-636A-A2C531904B1A}"/>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0" name="object 10">
            <a:extLst>
              <a:ext uri="{FF2B5EF4-FFF2-40B4-BE49-F238E27FC236}">
                <a16:creationId xmlns:a16="http://schemas.microsoft.com/office/drawing/2014/main" id="{63DE8455-7F6F-ED33-B2B3-C4A2C451A8FB}"/>
              </a:ext>
            </a:extLst>
          </p:cNvPr>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a:extLst>
              <a:ext uri="{FF2B5EF4-FFF2-40B4-BE49-F238E27FC236}">
                <a16:creationId xmlns:a16="http://schemas.microsoft.com/office/drawing/2014/main" id="{389801E7-F574-7786-3D9C-B5ADDCC11C4D}"/>
              </a:ext>
            </a:extLst>
          </p:cNvPr>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67E8004E-77D2-6422-2D97-8B6DBA5F61C8}"/>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12</a:t>
            </a:fld>
            <a:endParaRPr spc="-25" dirty="0"/>
          </a:p>
        </p:txBody>
      </p:sp>
      <p:sp>
        <p:nvSpPr>
          <p:cNvPr id="7" name="object 2">
            <a:extLst>
              <a:ext uri="{FF2B5EF4-FFF2-40B4-BE49-F238E27FC236}">
                <a16:creationId xmlns:a16="http://schemas.microsoft.com/office/drawing/2014/main" id="{DEC75697-4163-B781-E003-605BAE9F68C9}"/>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TextBox 1">
            <a:extLst>
              <a:ext uri="{FF2B5EF4-FFF2-40B4-BE49-F238E27FC236}">
                <a16:creationId xmlns:a16="http://schemas.microsoft.com/office/drawing/2014/main" id="{3DE658C5-7EE9-4E67-2A96-05C2C0DE62C0}"/>
              </a:ext>
            </a:extLst>
          </p:cNvPr>
          <p:cNvSpPr txBox="1"/>
          <p:nvPr/>
        </p:nvSpPr>
        <p:spPr>
          <a:xfrm>
            <a:off x="375325" y="1107020"/>
            <a:ext cx="11441349" cy="5170646"/>
          </a:xfrm>
          <a:prstGeom prst="rect">
            <a:avLst/>
          </a:prstGeom>
          <a:noFill/>
        </p:spPr>
        <p:txBody>
          <a:bodyPr wrap="square" rtlCol="0">
            <a:spAutoFit/>
          </a:bodyPr>
          <a:lstStyle/>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Admin (Group Admin)</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Creates and manages expense groups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Adds members to the group</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Records and manages group expenses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Monitors total group spending and expense summaries</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Members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View shared group expenses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Track their individual contributions in the group</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Monitor spending records within the group</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Individual Users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Register and log in to the system</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Record and categorize personal expenses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Set personal budgets and savings goals</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View expense summaries and predictions</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9299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1B040-1425-3E66-A62D-8E8B0F811E8C}"/>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7A05BFFD-87D4-F778-F5D8-71F62C934B0C}"/>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B245CB38-1C38-8419-2058-CD384A200175}"/>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8B56FD23-9950-8E42-1EEC-45A69042DAF5}"/>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504E82C9-3839-3349-A76B-2C3A4BBFDB06}"/>
              </a:ext>
            </a:extLst>
          </p:cNvPr>
          <p:cNvSpPr txBox="1">
            <a:spLocks noGrp="1"/>
          </p:cNvSpPr>
          <p:nvPr>
            <p:ph type="title"/>
          </p:nvPr>
        </p:nvSpPr>
        <p:spPr>
          <a:xfrm>
            <a:off x="73025" y="182323"/>
            <a:ext cx="4739005" cy="1243930"/>
          </a:xfrm>
          <a:prstGeom prst="rect">
            <a:avLst/>
          </a:prstGeom>
        </p:spPr>
        <p:txBody>
          <a:bodyPr vert="horz" wrap="square" lIns="0" tIns="12700" rIns="0" bIns="0" rtlCol="0">
            <a:spAutoFit/>
          </a:bodyPr>
          <a:lstStyle/>
          <a:p>
            <a:r>
              <a:rPr lang="en-US" sz="4000" dirty="0">
                <a:solidFill>
                  <a:prstClr val="white"/>
                </a:solidFill>
                <a:sym typeface="+mn-ea"/>
              </a:rPr>
              <a:t>Design</a:t>
            </a:r>
            <a:br>
              <a:rPr lang="en-IN" sz="36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FAF13235-BAE1-A0C4-0580-5D16EFEFC1B0}"/>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0" name="object 10">
            <a:extLst>
              <a:ext uri="{FF2B5EF4-FFF2-40B4-BE49-F238E27FC236}">
                <a16:creationId xmlns:a16="http://schemas.microsoft.com/office/drawing/2014/main" id="{E71A95D1-7D5B-7EF4-FF45-B57957DAB8D4}"/>
              </a:ext>
            </a:extLst>
          </p:cNvPr>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a:extLst>
              <a:ext uri="{FF2B5EF4-FFF2-40B4-BE49-F238E27FC236}">
                <a16:creationId xmlns:a16="http://schemas.microsoft.com/office/drawing/2014/main" id="{158F52F5-9104-B17D-EF49-F37066753CC5}"/>
              </a:ext>
            </a:extLst>
          </p:cNvPr>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84DEE6E6-06E5-5C57-61B9-B9FF1C50BF3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13</a:t>
            </a:fld>
            <a:endParaRPr spc="-25" dirty="0"/>
          </a:p>
        </p:txBody>
      </p:sp>
      <p:sp>
        <p:nvSpPr>
          <p:cNvPr id="7" name="object 2">
            <a:extLst>
              <a:ext uri="{FF2B5EF4-FFF2-40B4-BE49-F238E27FC236}">
                <a16:creationId xmlns:a16="http://schemas.microsoft.com/office/drawing/2014/main" id="{F0CCBB04-D9A2-B5E8-5046-72744E2F616A}"/>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8" name="TextBox 7">
            <a:extLst>
              <a:ext uri="{FF2B5EF4-FFF2-40B4-BE49-F238E27FC236}">
                <a16:creationId xmlns:a16="http://schemas.microsoft.com/office/drawing/2014/main" id="{6DE62CB6-6DF0-2B27-9DE8-34E898DAD7F3}"/>
              </a:ext>
            </a:extLst>
          </p:cNvPr>
          <p:cNvSpPr txBox="1"/>
          <p:nvPr/>
        </p:nvSpPr>
        <p:spPr>
          <a:xfrm>
            <a:off x="400817" y="947930"/>
            <a:ext cx="10982530" cy="4832092"/>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2. Module Design</a:t>
            </a:r>
          </a:p>
          <a:p>
            <a:r>
              <a:rPr lang="en-US" sz="2200" dirty="0">
                <a:latin typeface="Times New Roman" panose="02020603050405020304" pitchFamily="18" charset="0"/>
                <a:cs typeface="Times New Roman" panose="02020603050405020304" pitchFamily="18" charset="0"/>
              </a:rPr>
              <a:t>The system is divided into several functional modules:</a:t>
            </a:r>
          </a:p>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 Registration </a:t>
            </a:r>
            <a:r>
              <a:rPr lang="en-IN" sz="2200" b="1" dirty="0">
                <a:latin typeface="Times New Roman" panose="02020603050405020304" pitchFamily="18" charset="0"/>
                <a:cs typeface="Times New Roman" panose="02020603050405020304" pitchFamily="18" charset="0"/>
              </a:rPr>
              <a:t>and Authentication </a:t>
            </a:r>
            <a:r>
              <a:rPr lang="en-US" sz="2200" b="1" dirty="0">
                <a:latin typeface="Times New Roman" panose="02020603050405020304" pitchFamily="18" charset="0"/>
                <a:cs typeface="Times New Roman" panose="02020603050405020304" pitchFamily="18" charset="0"/>
              </a:rPr>
              <a:t>Module</a:t>
            </a:r>
          </a:p>
          <a:p>
            <a:pPr marL="8001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Handles user registration and login</a:t>
            </a:r>
          </a:p>
          <a:p>
            <a:pPr marL="8001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Verifies user credentials</a:t>
            </a:r>
            <a:endParaRPr lang="en-US" sz="2200"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Stores user information securely in the database</a:t>
            </a:r>
          </a:p>
          <a:p>
            <a:pPr marL="342900" indent="-342900">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Expense Management Module</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Allows users to add, edit, and delete expenses</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Categorizes expenses such as food, travel, bills, and shopping</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Maintains records of daily financial transactions</a:t>
            </a:r>
          </a:p>
          <a:p>
            <a:pPr marL="342900" indent="-342900">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Budget Management Module</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Allows users to set monthly budgets</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Tracks spending against the planned budget</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Notifies users when spending exceeds limits</a:t>
            </a:r>
          </a:p>
        </p:txBody>
      </p:sp>
    </p:spTree>
    <p:extLst>
      <p:ext uri="{BB962C8B-B14F-4D97-AF65-F5344CB8AC3E}">
        <p14:creationId xmlns:p14="http://schemas.microsoft.com/office/powerpoint/2010/main" val="4087035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B10C5-5E6E-D360-5FD0-C1DDBDD28B8F}"/>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25972F64-6D3B-44D3-BFA5-2608275110E3}"/>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1BFAFD34-3891-EE20-9592-7FD472B1158D}"/>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DF3112F4-20EA-A008-4AC7-6CFBC4AD9D23}"/>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5913F070-5255-614E-6EA1-0007327AA6D0}"/>
              </a:ext>
            </a:extLst>
          </p:cNvPr>
          <p:cNvSpPr txBox="1">
            <a:spLocks noGrp="1"/>
          </p:cNvSpPr>
          <p:nvPr>
            <p:ph type="title"/>
          </p:nvPr>
        </p:nvSpPr>
        <p:spPr>
          <a:xfrm>
            <a:off x="73025" y="182323"/>
            <a:ext cx="4739005" cy="1243930"/>
          </a:xfrm>
          <a:prstGeom prst="rect">
            <a:avLst/>
          </a:prstGeom>
        </p:spPr>
        <p:txBody>
          <a:bodyPr vert="horz" wrap="square" lIns="0" tIns="12700" rIns="0" bIns="0" rtlCol="0">
            <a:spAutoFit/>
          </a:bodyPr>
          <a:lstStyle/>
          <a:p>
            <a:r>
              <a:rPr lang="en-US" sz="4000" dirty="0">
                <a:solidFill>
                  <a:prstClr val="white"/>
                </a:solidFill>
                <a:sym typeface="+mn-ea"/>
              </a:rPr>
              <a:t>Design</a:t>
            </a:r>
            <a:br>
              <a:rPr lang="en-IN" sz="36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1A98FC07-4305-9863-4C95-C5DE13B39C4E}"/>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0" name="object 10">
            <a:extLst>
              <a:ext uri="{FF2B5EF4-FFF2-40B4-BE49-F238E27FC236}">
                <a16:creationId xmlns:a16="http://schemas.microsoft.com/office/drawing/2014/main" id="{9ACE40F8-A745-C726-16A5-D00ECB2257F6}"/>
              </a:ext>
            </a:extLst>
          </p:cNvPr>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a:extLst>
              <a:ext uri="{FF2B5EF4-FFF2-40B4-BE49-F238E27FC236}">
                <a16:creationId xmlns:a16="http://schemas.microsoft.com/office/drawing/2014/main" id="{B5AD8B05-B575-E4A2-2C36-5578FE21154B}"/>
              </a:ext>
            </a:extLst>
          </p:cNvPr>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BCE673A6-F5B8-02F9-895B-68291E0C3D9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14</a:t>
            </a:fld>
            <a:endParaRPr spc="-25" dirty="0"/>
          </a:p>
        </p:txBody>
      </p:sp>
      <p:sp>
        <p:nvSpPr>
          <p:cNvPr id="7" name="object 2">
            <a:extLst>
              <a:ext uri="{FF2B5EF4-FFF2-40B4-BE49-F238E27FC236}">
                <a16:creationId xmlns:a16="http://schemas.microsoft.com/office/drawing/2014/main" id="{F86482B8-824C-FB2B-F993-C7BFC222147E}"/>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8" name="TextBox 7">
            <a:extLst>
              <a:ext uri="{FF2B5EF4-FFF2-40B4-BE49-F238E27FC236}">
                <a16:creationId xmlns:a16="http://schemas.microsoft.com/office/drawing/2014/main" id="{1FCA37E9-01C4-BDC4-0445-D2146CD7181E}"/>
              </a:ext>
            </a:extLst>
          </p:cNvPr>
          <p:cNvSpPr txBox="1"/>
          <p:nvPr/>
        </p:nvSpPr>
        <p:spPr>
          <a:xfrm>
            <a:off x="400817" y="947930"/>
            <a:ext cx="10982530" cy="5324535"/>
          </a:xfrm>
          <a:prstGeom prst="rect">
            <a:avLst/>
          </a:prstGeom>
          <a:noFill/>
        </p:spPr>
        <p:txBody>
          <a:bodyPr wrap="square" rtlCol="0">
            <a:spAutoFit/>
          </a:bodyPr>
          <a:lstStyle/>
          <a:p>
            <a:pPr marL="342900" indent="-342900">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Expense Prediction Module</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Uses a machine learning algorithm to analyze historical expense data</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Identifies spending patterns and trends</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Predicts future expenses to help users plan finances more effectively</a:t>
            </a:r>
          </a:p>
          <a:p>
            <a:pPr marL="342900" indent="-342900">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Dashboard and Reporting Module</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Displays financial summaries and expense statistics</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Provides graphical reports of spending patterns</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Helps users monitor their financial behavior over time</a:t>
            </a:r>
          </a:p>
          <a:p>
            <a:r>
              <a:rPr lang="en-IN" sz="2200" b="1" dirty="0">
                <a:latin typeface="Times New Roman" panose="02020603050405020304" pitchFamily="18" charset="0"/>
                <a:cs typeface="Times New Roman" panose="02020603050405020304" pitchFamily="18" charset="0"/>
              </a:rPr>
              <a:t>3. Database Design</a:t>
            </a:r>
          </a:p>
          <a:p>
            <a:pPr marL="800100" lvl="1"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centralized database is used to store all system information</a:t>
            </a:r>
            <a:r>
              <a:rPr lang="en-IN" sz="2200" dirty="0">
                <a:latin typeface="Times New Roman" panose="02020603050405020304" pitchFamily="18" charset="0"/>
                <a:cs typeface="Times New Roman" panose="02020603050405020304" pitchFamily="18" charset="0"/>
              </a:rPr>
              <a:t>:</a:t>
            </a:r>
          </a:p>
          <a:p>
            <a:pPr marL="1257300" lvl="2"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User Profiles</a:t>
            </a:r>
          </a:p>
          <a:p>
            <a:pPr marL="1257300" lvl="2"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Budget Details</a:t>
            </a:r>
          </a:p>
          <a:p>
            <a:pPr marL="1257300" lvl="2"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Expense Categories</a:t>
            </a:r>
          </a:p>
          <a:p>
            <a:pPr marL="1257300" lvl="2"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Prediction Results</a:t>
            </a:r>
          </a:p>
          <a:p>
            <a:pPr marL="1257300" lvl="2"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Financial Reports</a:t>
            </a:r>
          </a:p>
        </p:txBody>
      </p:sp>
    </p:spTree>
    <p:extLst>
      <p:ext uri="{BB962C8B-B14F-4D97-AF65-F5344CB8AC3E}">
        <p14:creationId xmlns:p14="http://schemas.microsoft.com/office/powerpoint/2010/main" val="855486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C2D96-BB1C-4E73-FF56-B80DD7923922}"/>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D30CE252-5A76-9556-194F-D3D587738E68}"/>
              </a:ext>
            </a:extLst>
          </p:cNvPr>
          <p:cNvGrpSpPr/>
          <p:nvPr/>
        </p:nvGrpSpPr>
        <p:grpSpPr>
          <a:xfrm>
            <a:off x="0" y="216720"/>
            <a:ext cx="12192000" cy="803275"/>
            <a:chOff x="0" y="216720"/>
            <a:chExt cx="12192000" cy="803275"/>
          </a:xfrm>
        </p:grpSpPr>
        <p:pic>
          <p:nvPicPr>
            <p:cNvPr id="4" name="object 4">
              <a:extLst>
                <a:ext uri="{FF2B5EF4-FFF2-40B4-BE49-F238E27FC236}">
                  <a16:creationId xmlns:a16="http://schemas.microsoft.com/office/drawing/2014/main" id="{C1E29ACF-E0FA-08D9-FEEF-FE5B5CEDBAB2}"/>
                </a:ext>
              </a:extLst>
            </p:cNvPr>
            <p:cNvPicPr/>
            <p:nvPr/>
          </p:nvPicPr>
          <p:blipFill>
            <a:blip r:embed="rId2" cstate="print"/>
            <a:stretch>
              <a:fillRect/>
            </a:stretch>
          </p:blipFill>
          <p:spPr>
            <a:xfrm>
              <a:off x="0" y="216720"/>
              <a:ext cx="12192000" cy="803160"/>
            </a:xfrm>
            <a:prstGeom prst="rect">
              <a:avLst/>
            </a:prstGeom>
          </p:spPr>
        </p:pic>
        <p:sp>
          <p:nvSpPr>
            <p:cNvPr id="5" name="object 5">
              <a:extLst>
                <a:ext uri="{FF2B5EF4-FFF2-40B4-BE49-F238E27FC236}">
                  <a16:creationId xmlns:a16="http://schemas.microsoft.com/office/drawing/2014/main" id="{497CEA6F-664B-DEE8-29F2-11FD90156AC0}"/>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5E44BA3A-ADA2-AFF5-D80D-122FFE86A3A9}"/>
              </a:ext>
            </a:extLst>
          </p:cNvPr>
          <p:cNvSpPr txBox="1">
            <a:spLocks noGrp="1"/>
          </p:cNvSpPr>
          <p:nvPr>
            <p:ph type="title"/>
          </p:nvPr>
        </p:nvSpPr>
        <p:spPr>
          <a:xfrm>
            <a:off x="73025" y="182323"/>
            <a:ext cx="4739005" cy="1243930"/>
          </a:xfrm>
          <a:prstGeom prst="rect">
            <a:avLst/>
          </a:prstGeom>
        </p:spPr>
        <p:txBody>
          <a:bodyPr vert="horz" wrap="square" lIns="0" tIns="12700" rIns="0" bIns="0" rtlCol="0">
            <a:spAutoFit/>
          </a:bodyPr>
          <a:lstStyle/>
          <a:p>
            <a:r>
              <a:rPr lang="en-US" sz="4000" dirty="0">
                <a:solidFill>
                  <a:prstClr val="white"/>
                </a:solidFill>
                <a:sym typeface="+mn-ea"/>
              </a:rPr>
              <a:t>Design</a:t>
            </a:r>
            <a:br>
              <a:rPr lang="en-IN" sz="36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8650B5DD-C2B9-0A0C-0B21-90010278D6E7}"/>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0" name="object 10">
            <a:extLst>
              <a:ext uri="{FF2B5EF4-FFF2-40B4-BE49-F238E27FC236}">
                <a16:creationId xmlns:a16="http://schemas.microsoft.com/office/drawing/2014/main" id="{52FCAD57-F99E-AFC9-F302-FF2D92448E9D}"/>
              </a:ext>
            </a:extLst>
          </p:cNvPr>
          <p:cNvSpPr txBox="1">
            <a:spLocks noGrp="1"/>
          </p:cNvSpPr>
          <p:nvPr>
            <p:ph type="dt" sz="half" idx="6"/>
          </p:nvPr>
        </p:nvSpPr>
        <p:spPr>
          <a:xfrm>
            <a:off x="1773948" y="6629559"/>
            <a:ext cx="39410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1" name="object 11">
            <a:extLst>
              <a:ext uri="{FF2B5EF4-FFF2-40B4-BE49-F238E27FC236}">
                <a16:creationId xmlns:a16="http://schemas.microsoft.com/office/drawing/2014/main" id="{3107CEAE-4D11-BEB5-92EF-B16DBC06AA63}"/>
              </a:ext>
            </a:extLst>
          </p:cNvPr>
          <p:cNvSpPr txBox="1"/>
          <p:nvPr/>
        </p:nvSpPr>
        <p:spPr>
          <a:xfrm>
            <a:off x="7147541" y="6629197"/>
            <a:ext cx="42062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2A638E52-50C1-E79C-43B9-80A6244366C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15</a:t>
            </a:fld>
            <a:endParaRPr spc="-25" dirty="0"/>
          </a:p>
        </p:txBody>
      </p:sp>
      <p:sp>
        <p:nvSpPr>
          <p:cNvPr id="7" name="object 2">
            <a:extLst>
              <a:ext uri="{FF2B5EF4-FFF2-40B4-BE49-F238E27FC236}">
                <a16:creationId xmlns:a16="http://schemas.microsoft.com/office/drawing/2014/main" id="{FEBE6FFF-3816-57B6-5845-456AD865BBEF}"/>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8" name="TextBox 7">
            <a:extLst>
              <a:ext uri="{FF2B5EF4-FFF2-40B4-BE49-F238E27FC236}">
                <a16:creationId xmlns:a16="http://schemas.microsoft.com/office/drawing/2014/main" id="{3AE7D66D-B320-A4AE-7688-0B8C29F7FF32}"/>
              </a:ext>
            </a:extLst>
          </p:cNvPr>
          <p:cNvSpPr txBox="1"/>
          <p:nvPr/>
        </p:nvSpPr>
        <p:spPr>
          <a:xfrm>
            <a:off x="400817" y="947930"/>
            <a:ext cx="10982530" cy="4154984"/>
          </a:xfrm>
          <a:prstGeom prst="rect">
            <a:avLst/>
          </a:prstGeom>
          <a:noFill/>
        </p:spPr>
        <p:txBody>
          <a:bodyPr wrap="square" rtlCol="0">
            <a:spAutoFit/>
          </a:bodyPr>
          <a:lstStyle/>
          <a:p>
            <a:pPr marL="8001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centralized database ensures:</a:t>
            </a:r>
          </a:p>
          <a:p>
            <a:pPr marL="1257300" lvl="2"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Secure storage of financial data</a:t>
            </a:r>
          </a:p>
          <a:p>
            <a:pPr marL="1257300" lvl="2" indent="-342900">
              <a:buFont typeface="Wingdings" panose="05000000000000000000" pitchFamily="2" charset="2"/>
              <a:buChar char="§"/>
            </a:pPr>
            <a:r>
              <a:rPr lang="en-IN" sz="2200" dirty="0">
                <a:latin typeface="Times New Roman" panose="02020603050405020304" pitchFamily="18" charset="0"/>
                <a:cs typeface="Times New Roman" panose="02020603050405020304" pitchFamily="18" charset="0"/>
              </a:rPr>
              <a:t>Efficient data retrieval and management</a:t>
            </a:r>
          </a:p>
          <a:p>
            <a:pPr marL="1257300" lvl="2"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Long-term tracking of user financial activities</a:t>
            </a:r>
          </a:p>
          <a:p>
            <a:r>
              <a:rPr lang="en-US" sz="2200" b="1" dirty="0">
                <a:latin typeface="Times New Roman" panose="02020603050405020304" pitchFamily="18" charset="0"/>
                <a:cs typeface="Times New Roman" panose="02020603050405020304" pitchFamily="18" charset="0"/>
              </a:rPr>
              <a:t>4. </a:t>
            </a:r>
            <a:r>
              <a:rPr lang="en-IN" sz="2200" b="1" dirty="0">
                <a:latin typeface="Times New Roman" panose="02020603050405020304" pitchFamily="18" charset="0"/>
                <a:cs typeface="Times New Roman" panose="02020603050405020304" pitchFamily="18" charset="0"/>
              </a:rPr>
              <a:t>Expense Prediction Process</a:t>
            </a:r>
            <a:endParaRPr lang="en-US" sz="22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expense prediction module performs automated financial analysis and prediction.</a:t>
            </a:r>
          </a:p>
          <a:p>
            <a:r>
              <a:rPr lang="en-US" sz="2200" dirty="0">
                <a:latin typeface="Times New Roman" panose="02020603050405020304" pitchFamily="18" charset="0"/>
                <a:cs typeface="Times New Roman" panose="02020603050405020304" pitchFamily="18" charset="0"/>
              </a:rPr>
              <a:t>Steps involved:</a:t>
            </a:r>
            <a:endParaRPr lang="en-IN"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Users enter daily expenses into the system.</a:t>
            </a:r>
          </a:p>
          <a:p>
            <a:pPr marL="342900"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system stores historical expense data in the database.</a:t>
            </a:r>
          </a:p>
          <a:p>
            <a:pPr marL="342900"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The machine learning algorithm analyzes past spending patterns.</a:t>
            </a:r>
          </a:p>
          <a:p>
            <a:pPr marL="342900"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Future expense values are predicted based on historical trends.</a:t>
            </a:r>
          </a:p>
          <a:p>
            <a:pPr marL="342900"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Predicted results are displayed on the user dashboard for financial planning.</a:t>
            </a:r>
          </a:p>
        </p:txBody>
      </p:sp>
    </p:spTree>
    <p:extLst>
      <p:ext uri="{BB962C8B-B14F-4D97-AF65-F5344CB8AC3E}">
        <p14:creationId xmlns:p14="http://schemas.microsoft.com/office/powerpoint/2010/main" val="1299088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19784B8-30A9-9392-B75B-18A174CB115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66800" y="1031191"/>
            <a:ext cx="4949457" cy="5335941"/>
          </a:xfrm>
          <a:prstGeom prst="rect">
            <a:avLst/>
          </a:prstGeom>
        </p:spPr>
      </p:pic>
      <p:sp>
        <p:nvSpPr>
          <p:cNvPr id="3" name="object 3"/>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5" name="object 5"/>
          <p:cNvGrpSpPr/>
          <p:nvPr/>
        </p:nvGrpSpPr>
        <p:grpSpPr>
          <a:xfrm>
            <a:off x="0" y="216720"/>
            <a:ext cx="12192000" cy="803275"/>
            <a:chOff x="0" y="216720"/>
            <a:chExt cx="12192000" cy="803275"/>
          </a:xfrm>
        </p:grpSpPr>
        <p:pic>
          <p:nvPicPr>
            <p:cNvPr id="6" name="object 6"/>
            <p:cNvPicPr/>
            <p:nvPr/>
          </p:nvPicPr>
          <p:blipFill>
            <a:blip r:embed="rId3" cstate="print"/>
            <a:stretch>
              <a:fillRect/>
            </a:stretch>
          </p:blipFill>
          <p:spPr>
            <a:xfrm>
              <a:off x="0" y="216720"/>
              <a:ext cx="12192000" cy="803160"/>
            </a:xfrm>
            <a:prstGeom prst="rect">
              <a:avLst/>
            </a:prstGeom>
          </p:spPr>
        </p:pic>
        <p:sp>
          <p:nvSpPr>
            <p:cNvPr id="7" name="object 7"/>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pPr>
            <a:r>
              <a:rPr lang="en-US" dirty="0">
                <a:solidFill>
                  <a:prstClr val="white"/>
                </a:solidFill>
                <a:sym typeface="+mn-ea"/>
              </a:rPr>
              <a:t>UML diagram of Use Case</a:t>
            </a:r>
            <a:endParaRPr lang="en-IN" dirty="0"/>
          </a:p>
        </p:txBody>
      </p:sp>
      <p:sp>
        <p:nvSpPr>
          <p:cNvPr id="10" name="object 10"/>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1" name="object 11"/>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16</a:t>
            </a:fld>
            <a:endParaRPr spc="-25" dirty="0"/>
          </a:p>
        </p:txBody>
      </p:sp>
      <p:sp>
        <p:nvSpPr>
          <p:cNvPr id="14" name="object 2">
            <a:extLst>
              <a:ext uri="{FF2B5EF4-FFF2-40B4-BE49-F238E27FC236}">
                <a16:creationId xmlns:a16="http://schemas.microsoft.com/office/drawing/2014/main" id="{531969D9-679C-1AB3-033D-75458D134BD0}"/>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2" name="TextBox 5">
            <a:extLst>
              <a:ext uri="{FF2B5EF4-FFF2-40B4-BE49-F238E27FC236}">
                <a16:creationId xmlns:a16="http://schemas.microsoft.com/office/drawing/2014/main" id="{449FF7B2-C8CC-D719-E960-9630CCB08E88}"/>
              </a:ext>
            </a:extLst>
          </p:cNvPr>
          <p:cNvSpPr txBox="1"/>
          <p:nvPr/>
        </p:nvSpPr>
        <p:spPr>
          <a:xfrm>
            <a:off x="6175745" y="1752600"/>
            <a:ext cx="5775159" cy="369331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None/>
            </a:pPr>
            <a:r>
              <a:rPr lang="en-US" sz="2400" dirty="0"/>
              <a:t>Actors: User (manage expenses, view reports, receive predictions) and Admin (manage groups and members)</a:t>
            </a:r>
          </a:p>
          <a:p>
            <a:pPr>
              <a:buNone/>
            </a:pPr>
            <a:endParaRPr lang="en-US" b="1" dirty="0"/>
          </a:p>
          <a:p>
            <a:pPr>
              <a:buNone/>
            </a:pPr>
            <a:r>
              <a:rPr lang="en-US" b="1" dirty="0"/>
              <a:t>1. User (End User)</a:t>
            </a:r>
            <a:r>
              <a:rPr lang="en-US" dirty="0"/>
              <a:t> The person who uses the AI-Based Personal Finance Manager system to record expenses, set budgets and savings goals, view financial reports, and receive AI-based expense predictions.</a:t>
            </a:r>
          </a:p>
          <a:p>
            <a:pPr>
              <a:buNone/>
            </a:pPr>
            <a:r>
              <a:rPr lang="en-US" b="1" dirty="0"/>
              <a:t>2. </a:t>
            </a:r>
            <a:r>
              <a:rPr lang="en-IN" b="1" dirty="0"/>
              <a:t>Admin (Group Admin)</a:t>
            </a:r>
            <a:r>
              <a:rPr lang="en-US" b="1" dirty="0"/>
              <a:t> </a:t>
            </a:r>
            <a:r>
              <a:rPr lang="en-US" dirty="0"/>
              <a:t>The person who manages group expenses by creating groups, adding or removing members, tracking member expenses, and monitoring total group spending.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3653B-2FB1-BA00-E08D-D02472B45F5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33E2A95-00B2-6CFF-F4A1-66D14C633C8C}"/>
              </a:ext>
            </a:extLst>
          </p:cNvPr>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5" name="object 5">
            <a:extLst>
              <a:ext uri="{FF2B5EF4-FFF2-40B4-BE49-F238E27FC236}">
                <a16:creationId xmlns:a16="http://schemas.microsoft.com/office/drawing/2014/main" id="{6F3382E7-3123-5F99-2396-AA9651010C87}"/>
              </a:ext>
            </a:extLst>
          </p:cNvPr>
          <p:cNvGrpSpPr/>
          <p:nvPr/>
        </p:nvGrpSpPr>
        <p:grpSpPr>
          <a:xfrm>
            <a:off x="0" y="216720"/>
            <a:ext cx="12192000" cy="803275"/>
            <a:chOff x="0" y="216720"/>
            <a:chExt cx="12192000" cy="803275"/>
          </a:xfrm>
        </p:grpSpPr>
        <p:pic>
          <p:nvPicPr>
            <p:cNvPr id="6" name="object 6">
              <a:extLst>
                <a:ext uri="{FF2B5EF4-FFF2-40B4-BE49-F238E27FC236}">
                  <a16:creationId xmlns:a16="http://schemas.microsoft.com/office/drawing/2014/main" id="{2C86910F-D9E8-4F5E-3138-A47170679A55}"/>
                </a:ext>
              </a:extLst>
            </p:cNvPr>
            <p:cNvPicPr/>
            <p:nvPr/>
          </p:nvPicPr>
          <p:blipFill>
            <a:blip r:embed="rId2" cstate="print"/>
            <a:stretch>
              <a:fillRect/>
            </a:stretch>
          </p:blipFill>
          <p:spPr>
            <a:xfrm>
              <a:off x="0" y="216720"/>
              <a:ext cx="12192000" cy="803160"/>
            </a:xfrm>
            <a:prstGeom prst="rect">
              <a:avLst/>
            </a:prstGeom>
          </p:spPr>
        </p:pic>
        <p:sp>
          <p:nvSpPr>
            <p:cNvPr id="7" name="object 7">
              <a:extLst>
                <a:ext uri="{FF2B5EF4-FFF2-40B4-BE49-F238E27FC236}">
                  <a16:creationId xmlns:a16="http://schemas.microsoft.com/office/drawing/2014/main" id="{C4A9BC98-1B72-5B70-594F-58A8F3150F26}"/>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a:extLst>
              <a:ext uri="{FF2B5EF4-FFF2-40B4-BE49-F238E27FC236}">
                <a16:creationId xmlns:a16="http://schemas.microsoft.com/office/drawing/2014/main" id="{01797D3E-E594-EF9C-A0B6-00E0C396C960}"/>
              </a:ext>
            </a:extLst>
          </p:cNvPr>
          <p:cNvSpPr txBox="1">
            <a:spLocks noGrp="1"/>
          </p:cNvSpPr>
          <p:nvPr>
            <p:ph type="title"/>
          </p:nvPr>
        </p:nvSpPr>
        <p:spPr>
          <a:xfrm>
            <a:off x="73025" y="182323"/>
            <a:ext cx="8136255" cy="695960"/>
          </a:xfrm>
          <a:prstGeom prst="rect">
            <a:avLst/>
          </a:prstGeom>
        </p:spPr>
        <p:txBody>
          <a:bodyPr vert="horz" wrap="square" lIns="0" tIns="12700" rIns="0" bIns="0" rtlCol="0">
            <a:spAutoFit/>
          </a:bodyPr>
          <a:lstStyle/>
          <a:p>
            <a:pPr marL="12700">
              <a:lnSpc>
                <a:spcPct val="100000"/>
              </a:lnSpc>
              <a:spcBef>
                <a:spcPts val="100"/>
              </a:spcBef>
            </a:pPr>
            <a:r>
              <a:rPr lang="en-US" dirty="0">
                <a:solidFill>
                  <a:prstClr val="white"/>
                </a:solidFill>
                <a:sym typeface="+mn-ea"/>
              </a:rPr>
              <a:t>UML diagram of Class</a:t>
            </a:r>
            <a:endParaRPr lang="en-IN" dirty="0"/>
          </a:p>
        </p:txBody>
      </p:sp>
      <p:sp>
        <p:nvSpPr>
          <p:cNvPr id="10" name="object 10">
            <a:extLst>
              <a:ext uri="{FF2B5EF4-FFF2-40B4-BE49-F238E27FC236}">
                <a16:creationId xmlns:a16="http://schemas.microsoft.com/office/drawing/2014/main" id="{DE96278C-B640-0B7C-A225-DC227F415AD4}"/>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1" name="object 11">
            <a:extLst>
              <a:ext uri="{FF2B5EF4-FFF2-40B4-BE49-F238E27FC236}">
                <a16:creationId xmlns:a16="http://schemas.microsoft.com/office/drawing/2014/main" id="{406CDE3D-510D-B457-B804-6F7C0309F703}"/>
              </a:ext>
            </a:extLst>
          </p:cNvPr>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a:extLst>
              <a:ext uri="{FF2B5EF4-FFF2-40B4-BE49-F238E27FC236}">
                <a16:creationId xmlns:a16="http://schemas.microsoft.com/office/drawing/2014/main" id="{71729E32-CE83-1EE4-790C-1929F1271EDD}"/>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a:extLst>
              <a:ext uri="{FF2B5EF4-FFF2-40B4-BE49-F238E27FC236}">
                <a16:creationId xmlns:a16="http://schemas.microsoft.com/office/drawing/2014/main" id="{7F74FDDA-DC5B-1FA5-132F-4BCF917D21C9}"/>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17</a:t>
            </a:fld>
            <a:endParaRPr spc="-25" dirty="0"/>
          </a:p>
        </p:txBody>
      </p:sp>
      <p:sp>
        <p:nvSpPr>
          <p:cNvPr id="14" name="object 2">
            <a:extLst>
              <a:ext uri="{FF2B5EF4-FFF2-40B4-BE49-F238E27FC236}">
                <a16:creationId xmlns:a16="http://schemas.microsoft.com/office/drawing/2014/main" id="{417C2B61-AD84-2E85-3087-720D4C9D3657}"/>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pic>
        <p:nvPicPr>
          <p:cNvPr id="15" name="Picture 14">
            <a:extLst>
              <a:ext uri="{FF2B5EF4-FFF2-40B4-BE49-F238E27FC236}">
                <a16:creationId xmlns:a16="http://schemas.microsoft.com/office/drawing/2014/main" id="{B02F65AF-3583-0052-D50E-132B25FDC16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311534" y="964130"/>
            <a:ext cx="5806460" cy="5457726"/>
          </a:xfrm>
          <a:prstGeom prst="rect">
            <a:avLst/>
          </a:prstGeom>
        </p:spPr>
      </p:pic>
      <p:sp>
        <p:nvSpPr>
          <p:cNvPr id="4" name="TextBox 9">
            <a:extLst>
              <a:ext uri="{FF2B5EF4-FFF2-40B4-BE49-F238E27FC236}">
                <a16:creationId xmlns:a16="http://schemas.microsoft.com/office/drawing/2014/main" id="{5FE57036-3E85-DA05-B55F-A7DB55B0B05C}"/>
              </a:ext>
            </a:extLst>
          </p:cNvPr>
          <p:cNvSpPr txBox="1"/>
          <p:nvPr/>
        </p:nvSpPr>
        <p:spPr>
          <a:xfrm>
            <a:off x="7612370" y="2843704"/>
            <a:ext cx="3268096"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Our class diagram has 7 classes —</a:t>
            </a:r>
            <a:r>
              <a:rPr lang="en-US" b="1" dirty="0"/>
              <a:t> User, Category, Expense, Budget, Report, Prediction, and Group.</a:t>
            </a:r>
            <a:endParaRPr lang="en-IN" dirty="0"/>
          </a:p>
        </p:txBody>
      </p:sp>
    </p:spTree>
    <p:extLst>
      <p:ext uri="{BB962C8B-B14F-4D97-AF65-F5344CB8AC3E}">
        <p14:creationId xmlns:p14="http://schemas.microsoft.com/office/powerpoint/2010/main" val="1192941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50473-0E36-E1E3-907E-54EC4CFFF53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69CD423-C731-ADBA-D536-2F9B6C9D8C2A}"/>
              </a:ext>
            </a:extLst>
          </p:cNvPr>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5" name="object 5">
            <a:extLst>
              <a:ext uri="{FF2B5EF4-FFF2-40B4-BE49-F238E27FC236}">
                <a16:creationId xmlns:a16="http://schemas.microsoft.com/office/drawing/2014/main" id="{55724D6E-7584-31C3-AD0D-2093DCD0BA6A}"/>
              </a:ext>
            </a:extLst>
          </p:cNvPr>
          <p:cNvGrpSpPr/>
          <p:nvPr/>
        </p:nvGrpSpPr>
        <p:grpSpPr>
          <a:xfrm>
            <a:off x="0" y="216720"/>
            <a:ext cx="12192000" cy="803275"/>
            <a:chOff x="0" y="216720"/>
            <a:chExt cx="12192000" cy="803275"/>
          </a:xfrm>
        </p:grpSpPr>
        <p:pic>
          <p:nvPicPr>
            <p:cNvPr id="6" name="object 6">
              <a:extLst>
                <a:ext uri="{FF2B5EF4-FFF2-40B4-BE49-F238E27FC236}">
                  <a16:creationId xmlns:a16="http://schemas.microsoft.com/office/drawing/2014/main" id="{B325B357-01BD-7076-243D-1AF83B31E3A4}"/>
                </a:ext>
              </a:extLst>
            </p:cNvPr>
            <p:cNvPicPr/>
            <p:nvPr/>
          </p:nvPicPr>
          <p:blipFill>
            <a:blip r:embed="rId2" cstate="print"/>
            <a:stretch>
              <a:fillRect/>
            </a:stretch>
          </p:blipFill>
          <p:spPr>
            <a:xfrm>
              <a:off x="0" y="216720"/>
              <a:ext cx="12192000" cy="803160"/>
            </a:xfrm>
            <a:prstGeom prst="rect">
              <a:avLst/>
            </a:prstGeom>
          </p:spPr>
        </p:pic>
        <p:sp>
          <p:nvSpPr>
            <p:cNvPr id="7" name="object 7">
              <a:extLst>
                <a:ext uri="{FF2B5EF4-FFF2-40B4-BE49-F238E27FC236}">
                  <a16:creationId xmlns:a16="http://schemas.microsoft.com/office/drawing/2014/main" id="{960AFA42-10BA-7213-EA9E-B700FBD9A216}"/>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7CA25912-B270-AF8D-A1CD-ECD8099D7A9B}"/>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1" name="object 11">
            <a:extLst>
              <a:ext uri="{FF2B5EF4-FFF2-40B4-BE49-F238E27FC236}">
                <a16:creationId xmlns:a16="http://schemas.microsoft.com/office/drawing/2014/main" id="{F9347A9C-F64B-3D16-1176-641F4F03D8AF}"/>
              </a:ext>
            </a:extLst>
          </p:cNvPr>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a:extLst>
              <a:ext uri="{FF2B5EF4-FFF2-40B4-BE49-F238E27FC236}">
                <a16:creationId xmlns:a16="http://schemas.microsoft.com/office/drawing/2014/main" id="{14707E76-AB50-D15E-2CE4-2853340A2DF1}"/>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a:extLst>
              <a:ext uri="{FF2B5EF4-FFF2-40B4-BE49-F238E27FC236}">
                <a16:creationId xmlns:a16="http://schemas.microsoft.com/office/drawing/2014/main" id="{94B14A0B-E791-EBAB-360D-17D06C87363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18</a:t>
            </a:fld>
            <a:endParaRPr spc="-25" dirty="0"/>
          </a:p>
        </p:txBody>
      </p:sp>
      <p:sp>
        <p:nvSpPr>
          <p:cNvPr id="14" name="object 2">
            <a:extLst>
              <a:ext uri="{FF2B5EF4-FFF2-40B4-BE49-F238E27FC236}">
                <a16:creationId xmlns:a16="http://schemas.microsoft.com/office/drawing/2014/main" id="{EE03EA74-865B-A227-606C-EF5F646B9447}"/>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16" name="TextBox 15">
            <a:extLst>
              <a:ext uri="{FF2B5EF4-FFF2-40B4-BE49-F238E27FC236}">
                <a16:creationId xmlns:a16="http://schemas.microsoft.com/office/drawing/2014/main" id="{9F68BBDC-ADE6-791E-BC90-C581E3E07D5F}"/>
              </a:ext>
            </a:extLst>
          </p:cNvPr>
          <p:cNvSpPr txBox="1"/>
          <p:nvPr/>
        </p:nvSpPr>
        <p:spPr>
          <a:xfrm>
            <a:off x="270076" y="199542"/>
            <a:ext cx="7315200" cy="769441"/>
          </a:xfrm>
          <a:prstGeom prst="rect">
            <a:avLst/>
          </a:prstGeom>
          <a:noFill/>
        </p:spPr>
        <p:txBody>
          <a:bodyPr wrap="square" rtlCol="0">
            <a:spAutoFit/>
          </a:bodyPr>
          <a:lstStyle/>
          <a:p>
            <a:pPr marL="12700">
              <a:lnSpc>
                <a:spcPct val="100000"/>
              </a:lnSpc>
              <a:spcBef>
                <a:spcPts val="100"/>
              </a:spcBef>
            </a:pPr>
            <a:r>
              <a:rPr kumimoji="0" lang="en-US" sz="4400" b="0" i="0" u="none" strike="noStrike" kern="0" cap="none" spc="0" normalizeH="0" baseline="0" noProof="0" dirty="0">
                <a:ln>
                  <a:noFill/>
                </a:ln>
                <a:solidFill>
                  <a:prstClr val="white"/>
                </a:solidFill>
                <a:effectLst/>
                <a:uLnTx/>
                <a:uFillTx/>
                <a:latin typeface="Times New Roman" panose="02020603050405020304"/>
                <a:cs typeface="Times New Roman" panose="02020603050405020304"/>
                <a:sym typeface="+mn-ea"/>
              </a:rPr>
              <a:t>Implementation</a:t>
            </a:r>
            <a:endParaRPr lang="en-IN" sz="4400" dirty="0">
              <a:latin typeface="Times New Roman"/>
              <a:cs typeface="Times New Roman"/>
            </a:endParaRPr>
          </a:p>
        </p:txBody>
      </p:sp>
      <p:pic>
        <p:nvPicPr>
          <p:cNvPr id="17" name="Picture 16">
            <a:extLst>
              <a:ext uri="{FF2B5EF4-FFF2-40B4-BE49-F238E27FC236}">
                <a16:creationId xmlns:a16="http://schemas.microsoft.com/office/drawing/2014/main" id="{F2F08BCF-33C4-FA7A-D27F-219DD239B8D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56930" y="1043013"/>
            <a:ext cx="5024612" cy="2672109"/>
          </a:xfrm>
          <a:prstGeom prst="rect">
            <a:avLst/>
          </a:prstGeom>
        </p:spPr>
      </p:pic>
      <p:pic>
        <p:nvPicPr>
          <p:cNvPr id="18" name="Picture 17">
            <a:extLst>
              <a:ext uri="{FF2B5EF4-FFF2-40B4-BE49-F238E27FC236}">
                <a16:creationId xmlns:a16="http://schemas.microsoft.com/office/drawing/2014/main" id="{113450D0-F7C2-26BD-5AAD-338552BA0B00}"/>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910671" y="1040507"/>
            <a:ext cx="5192608" cy="2672109"/>
          </a:xfrm>
          <a:prstGeom prst="rect">
            <a:avLst/>
          </a:prstGeom>
        </p:spPr>
      </p:pic>
      <p:pic>
        <p:nvPicPr>
          <p:cNvPr id="19" name="Picture 18">
            <a:extLst>
              <a:ext uri="{FF2B5EF4-FFF2-40B4-BE49-F238E27FC236}">
                <a16:creationId xmlns:a16="http://schemas.microsoft.com/office/drawing/2014/main" id="{069E47D9-4C98-C15D-A353-999BE897549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56930" y="3901126"/>
            <a:ext cx="5024612" cy="2558923"/>
          </a:xfrm>
          <a:prstGeom prst="rect">
            <a:avLst/>
          </a:prstGeom>
        </p:spPr>
      </p:pic>
      <p:pic>
        <p:nvPicPr>
          <p:cNvPr id="20" name="Picture 19">
            <a:extLst>
              <a:ext uri="{FF2B5EF4-FFF2-40B4-BE49-F238E27FC236}">
                <a16:creationId xmlns:a16="http://schemas.microsoft.com/office/drawing/2014/main" id="{16EEBD99-9836-BE70-8212-0917CF0030E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5910670" y="3901126"/>
            <a:ext cx="5192607" cy="2558923"/>
          </a:xfrm>
          <a:prstGeom prst="rect">
            <a:avLst/>
          </a:prstGeom>
        </p:spPr>
      </p:pic>
    </p:spTree>
    <p:extLst>
      <p:ext uri="{BB962C8B-B14F-4D97-AF65-F5344CB8AC3E}">
        <p14:creationId xmlns:p14="http://schemas.microsoft.com/office/powerpoint/2010/main" val="2405889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7E670-8E69-D5F2-93B3-04A488A1FCCC}"/>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39FD115E-50A1-E86F-AE26-DF83BFCB9990}"/>
              </a:ext>
            </a:extLst>
          </p:cNvPr>
          <p:cNvSpPr/>
          <p:nvPr/>
        </p:nvSpPr>
        <p:spPr>
          <a:xfrm>
            <a:off x="9277235" y="5626085"/>
            <a:ext cx="2887981" cy="990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object 3">
            <a:extLst>
              <a:ext uri="{FF2B5EF4-FFF2-40B4-BE49-F238E27FC236}">
                <a16:creationId xmlns:a16="http://schemas.microsoft.com/office/drawing/2014/main" id="{547BDB0C-9C2F-11C9-DE09-A5396C0E0E93}"/>
              </a:ext>
            </a:extLst>
          </p:cNvPr>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5" name="object 5">
            <a:extLst>
              <a:ext uri="{FF2B5EF4-FFF2-40B4-BE49-F238E27FC236}">
                <a16:creationId xmlns:a16="http://schemas.microsoft.com/office/drawing/2014/main" id="{EDB65BB1-4731-F25B-4F30-95A1A55F2B1E}"/>
              </a:ext>
            </a:extLst>
          </p:cNvPr>
          <p:cNvGrpSpPr/>
          <p:nvPr/>
        </p:nvGrpSpPr>
        <p:grpSpPr>
          <a:xfrm>
            <a:off x="0" y="216720"/>
            <a:ext cx="12192000" cy="803275"/>
            <a:chOff x="0" y="216720"/>
            <a:chExt cx="12192000" cy="803275"/>
          </a:xfrm>
        </p:grpSpPr>
        <p:pic>
          <p:nvPicPr>
            <p:cNvPr id="6" name="object 6">
              <a:extLst>
                <a:ext uri="{FF2B5EF4-FFF2-40B4-BE49-F238E27FC236}">
                  <a16:creationId xmlns:a16="http://schemas.microsoft.com/office/drawing/2014/main" id="{61BAF141-1341-B4C1-40FD-9033B8A6B768}"/>
                </a:ext>
              </a:extLst>
            </p:cNvPr>
            <p:cNvPicPr/>
            <p:nvPr/>
          </p:nvPicPr>
          <p:blipFill>
            <a:blip r:embed="rId2" cstate="print"/>
            <a:stretch>
              <a:fillRect/>
            </a:stretch>
          </p:blipFill>
          <p:spPr>
            <a:xfrm>
              <a:off x="0" y="216720"/>
              <a:ext cx="12192000" cy="803160"/>
            </a:xfrm>
            <a:prstGeom prst="rect">
              <a:avLst/>
            </a:prstGeom>
          </p:spPr>
        </p:pic>
        <p:sp>
          <p:nvSpPr>
            <p:cNvPr id="7" name="object 7">
              <a:extLst>
                <a:ext uri="{FF2B5EF4-FFF2-40B4-BE49-F238E27FC236}">
                  <a16:creationId xmlns:a16="http://schemas.microsoft.com/office/drawing/2014/main" id="{E1DEAA90-B5FF-C992-0DB5-B072329B3865}"/>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a:extLst>
              <a:ext uri="{FF2B5EF4-FFF2-40B4-BE49-F238E27FC236}">
                <a16:creationId xmlns:a16="http://schemas.microsoft.com/office/drawing/2014/main" id="{9B468662-54CA-ECA6-B6E3-9F8BC4C44C1C}"/>
              </a:ext>
            </a:extLst>
          </p:cNvPr>
          <p:cNvSpPr txBox="1">
            <a:spLocks noGrp="1"/>
          </p:cNvSpPr>
          <p:nvPr>
            <p:ph type="title"/>
          </p:nvPr>
        </p:nvSpPr>
        <p:spPr>
          <a:xfrm>
            <a:off x="73025" y="182323"/>
            <a:ext cx="9230994" cy="689932"/>
          </a:xfrm>
          <a:prstGeom prst="rect">
            <a:avLst/>
          </a:prstGeom>
        </p:spPr>
        <p:txBody>
          <a:bodyPr vert="horz" wrap="square" lIns="0" tIns="12700" rIns="0" bIns="0" rtlCol="0">
            <a:spAutoFit/>
          </a:bodyPr>
          <a:lstStyle/>
          <a:p>
            <a:pPr marL="12700">
              <a:lnSpc>
                <a:spcPct val="100000"/>
              </a:lnSpc>
              <a:spcBef>
                <a:spcPts val="100"/>
              </a:spcBef>
            </a:pPr>
            <a:r>
              <a:rPr lang="en-US" dirty="0">
                <a:solidFill>
                  <a:prstClr val="white"/>
                </a:solidFill>
                <a:sym typeface="+mn-ea"/>
              </a:rPr>
              <a:t>Outputs</a:t>
            </a:r>
            <a:endParaRPr lang="en-IN" dirty="0"/>
          </a:p>
        </p:txBody>
      </p:sp>
      <p:sp>
        <p:nvSpPr>
          <p:cNvPr id="10" name="object 10">
            <a:extLst>
              <a:ext uri="{FF2B5EF4-FFF2-40B4-BE49-F238E27FC236}">
                <a16:creationId xmlns:a16="http://schemas.microsoft.com/office/drawing/2014/main" id="{CDA27F62-2F8F-3080-6DCC-1A18E67AF170}"/>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1" name="object 11">
            <a:extLst>
              <a:ext uri="{FF2B5EF4-FFF2-40B4-BE49-F238E27FC236}">
                <a16:creationId xmlns:a16="http://schemas.microsoft.com/office/drawing/2014/main" id="{5430D5E4-08CA-269A-D767-B5D0CA8A3DB5}"/>
              </a:ext>
            </a:extLst>
          </p:cNvPr>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a:extLst>
              <a:ext uri="{FF2B5EF4-FFF2-40B4-BE49-F238E27FC236}">
                <a16:creationId xmlns:a16="http://schemas.microsoft.com/office/drawing/2014/main" id="{7CBD91A8-7A13-4515-6AEB-851CF6670814}"/>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a:extLst>
              <a:ext uri="{FF2B5EF4-FFF2-40B4-BE49-F238E27FC236}">
                <a16:creationId xmlns:a16="http://schemas.microsoft.com/office/drawing/2014/main" id="{DFAE9AA4-7381-50A0-CF5A-BF7D88F4158D}"/>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19</a:t>
            </a:fld>
            <a:endParaRPr spc="-25" dirty="0"/>
          </a:p>
        </p:txBody>
      </p:sp>
      <p:sp>
        <p:nvSpPr>
          <p:cNvPr id="14" name="object 2">
            <a:extLst>
              <a:ext uri="{FF2B5EF4-FFF2-40B4-BE49-F238E27FC236}">
                <a16:creationId xmlns:a16="http://schemas.microsoft.com/office/drawing/2014/main" id="{CEFED2FE-EE8F-2848-30B7-BC36F959DCF4}"/>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pic>
        <p:nvPicPr>
          <p:cNvPr id="4" name="Picture 3">
            <a:extLst>
              <a:ext uri="{FF2B5EF4-FFF2-40B4-BE49-F238E27FC236}">
                <a16:creationId xmlns:a16="http://schemas.microsoft.com/office/drawing/2014/main" id="{D0D20C43-4362-3BC9-6EE6-3E886D15C36C}"/>
              </a:ext>
            </a:extLst>
          </p:cNvPr>
          <p:cNvPicPr>
            <a:picLocks noChangeAspect="1"/>
          </p:cNvPicPr>
          <p:nvPr/>
        </p:nvPicPr>
        <p:blipFill>
          <a:blip r:embed="rId3"/>
          <a:stretch>
            <a:fillRect/>
          </a:stretch>
        </p:blipFill>
        <p:spPr>
          <a:xfrm>
            <a:off x="304800" y="1088975"/>
            <a:ext cx="5791200" cy="2644825"/>
          </a:xfrm>
          <a:prstGeom prst="rect">
            <a:avLst/>
          </a:prstGeom>
        </p:spPr>
      </p:pic>
      <p:pic>
        <p:nvPicPr>
          <p:cNvPr id="9" name="Picture 8">
            <a:extLst>
              <a:ext uri="{FF2B5EF4-FFF2-40B4-BE49-F238E27FC236}">
                <a16:creationId xmlns:a16="http://schemas.microsoft.com/office/drawing/2014/main" id="{1F97773A-C0FD-EA60-2E65-1997B62B7DD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6469457" y="1090045"/>
            <a:ext cx="5486225" cy="2643755"/>
          </a:xfrm>
          <a:prstGeom prst="rect">
            <a:avLst/>
          </a:prstGeom>
        </p:spPr>
      </p:pic>
      <p:pic>
        <p:nvPicPr>
          <p:cNvPr id="17" name="Picture 16">
            <a:extLst>
              <a:ext uri="{FF2B5EF4-FFF2-40B4-BE49-F238E27FC236}">
                <a16:creationId xmlns:a16="http://schemas.microsoft.com/office/drawing/2014/main" id="{E624B1AD-009A-AFC8-C785-A1A83A07650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304800" y="3824666"/>
            <a:ext cx="5791199" cy="2644825"/>
          </a:xfrm>
          <a:prstGeom prst="rect">
            <a:avLst/>
          </a:prstGeom>
        </p:spPr>
      </p:pic>
      <p:pic>
        <p:nvPicPr>
          <p:cNvPr id="18" name="Picture 17">
            <a:extLst>
              <a:ext uri="{FF2B5EF4-FFF2-40B4-BE49-F238E27FC236}">
                <a16:creationId xmlns:a16="http://schemas.microsoft.com/office/drawing/2014/main" id="{E96F7908-55E8-92EA-D15F-EC4148FBB105}"/>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6469457" y="3824666"/>
            <a:ext cx="5486225" cy="2644825"/>
          </a:xfrm>
          <a:prstGeom prst="rect">
            <a:avLst/>
          </a:prstGeom>
        </p:spPr>
      </p:pic>
    </p:spTree>
    <p:extLst>
      <p:ext uri="{BB962C8B-B14F-4D97-AF65-F5344CB8AC3E}">
        <p14:creationId xmlns:p14="http://schemas.microsoft.com/office/powerpoint/2010/main" val="36080381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366ED-457D-455C-7365-7943ED9B137A}"/>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4B03F67C-B62E-1D1D-132C-01D849211DED}"/>
              </a:ext>
            </a:extLst>
          </p:cNvPr>
          <p:cNvSpPr/>
          <p:nvPr/>
        </p:nvSpPr>
        <p:spPr>
          <a:xfrm>
            <a:off x="9277235" y="5626085"/>
            <a:ext cx="2887981" cy="990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object 3">
            <a:extLst>
              <a:ext uri="{FF2B5EF4-FFF2-40B4-BE49-F238E27FC236}">
                <a16:creationId xmlns:a16="http://schemas.microsoft.com/office/drawing/2014/main" id="{533E0629-2E1E-E015-BC95-79A6A98D6D23}"/>
              </a:ext>
            </a:extLst>
          </p:cNvPr>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5" name="object 5">
            <a:extLst>
              <a:ext uri="{FF2B5EF4-FFF2-40B4-BE49-F238E27FC236}">
                <a16:creationId xmlns:a16="http://schemas.microsoft.com/office/drawing/2014/main" id="{C847CEDF-0979-EEE5-8FBB-73D3B527D56B}"/>
              </a:ext>
            </a:extLst>
          </p:cNvPr>
          <p:cNvGrpSpPr/>
          <p:nvPr/>
        </p:nvGrpSpPr>
        <p:grpSpPr>
          <a:xfrm>
            <a:off x="0" y="216720"/>
            <a:ext cx="12192000" cy="803275"/>
            <a:chOff x="0" y="216720"/>
            <a:chExt cx="12192000" cy="803275"/>
          </a:xfrm>
        </p:grpSpPr>
        <p:pic>
          <p:nvPicPr>
            <p:cNvPr id="6" name="object 6">
              <a:extLst>
                <a:ext uri="{FF2B5EF4-FFF2-40B4-BE49-F238E27FC236}">
                  <a16:creationId xmlns:a16="http://schemas.microsoft.com/office/drawing/2014/main" id="{1AB18364-2BE6-4D1B-EE03-6F1B5DF687E0}"/>
                </a:ext>
              </a:extLst>
            </p:cNvPr>
            <p:cNvPicPr/>
            <p:nvPr/>
          </p:nvPicPr>
          <p:blipFill>
            <a:blip r:embed="rId2" cstate="print"/>
            <a:stretch>
              <a:fillRect/>
            </a:stretch>
          </p:blipFill>
          <p:spPr>
            <a:xfrm>
              <a:off x="0" y="216720"/>
              <a:ext cx="12192000" cy="803160"/>
            </a:xfrm>
            <a:prstGeom prst="rect">
              <a:avLst/>
            </a:prstGeom>
          </p:spPr>
        </p:pic>
        <p:sp>
          <p:nvSpPr>
            <p:cNvPr id="7" name="object 7">
              <a:extLst>
                <a:ext uri="{FF2B5EF4-FFF2-40B4-BE49-F238E27FC236}">
                  <a16:creationId xmlns:a16="http://schemas.microsoft.com/office/drawing/2014/main" id="{C93C648A-DDB5-4AAD-5797-0F3DE7D98EC3}"/>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a:extLst>
              <a:ext uri="{FF2B5EF4-FFF2-40B4-BE49-F238E27FC236}">
                <a16:creationId xmlns:a16="http://schemas.microsoft.com/office/drawing/2014/main" id="{23FFB19F-12E3-B465-E521-A80DF8D408D9}"/>
              </a:ext>
            </a:extLst>
          </p:cNvPr>
          <p:cNvSpPr txBox="1">
            <a:spLocks noGrp="1"/>
          </p:cNvSpPr>
          <p:nvPr>
            <p:ph type="title"/>
          </p:nvPr>
        </p:nvSpPr>
        <p:spPr>
          <a:xfrm>
            <a:off x="73025" y="182323"/>
            <a:ext cx="9230994" cy="1367041"/>
          </a:xfrm>
          <a:prstGeom prst="rect">
            <a:avLst/>
          </a:prstGeom>
        </p:spPr>
        <p:txBody>
          <a:bodyPr vert="horz" wrap="square" lIns="0" tIns="12700" rIns="0" bIns="0" rtlCol="0">
            <a:spAutoFit/>
          </a:bodyPr>
          <a:lstStyle/>
          <a:p>
            <a:pPr marL="12700">
              <a:spcBef>
                <a:spcPts val="100"/>
              </a:spcBef>
            </a:pPr>
            <a:r>
              <a:rPr lang="en-IN" spc="-10" dirty="0">
                <a:solidFill>
                  <a:prstClr val="white"/>
                </a:solidFill>
              </a:rPr>
              <a:t>Research Paper</a:t>
            </a:r>
            <a:br>
              <a:rPr lang="en-IN" sz="4000" dirty="0">
                <a:latin typeface="Times New Roman" panose="02020603050405020304" pitchFamily="18" charset="0"/>
                <a:cs typeface="Times New Roman" panose="02020603050405020304" pitchFamily="18" charset="0"/>
              </a:rPr>
            </a:br>
            <a:endParaRPr lang="en-IN" dirty="0"/>
          </a:p>
        </p:txBody>
      </p:sp>
      <p:sp>
        <p:nvSpPr>
          <p:cNvPr id="10" name="object 10">
            <a:extLst>
              <a:ext uri="{FF2B5EF4-FFF2-40B4-BE49-F238E27FC236}">
                <a16:creationId xmlns:a16="http://schemas.microsoft.com/office/drawing/2014/main" id="{2B5397B8-14C1-AC5E-77EA-2157D1C44597}"/>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1" name="object 11">
            <a:extLst>
              <a:ext uri="{FF2B5EF4-FFF2-40B4-BE49-F238E27FC236}">
                <a16:creationId xmlns:a16="http://schemas.microsoft.com/office/drawing/2014/main" id="{30DAFC08-BB83-F5D8-267C-DF2930E1648A}"/>
              </a:ext>
            </a:extLst>
          </p:cNvPr>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a:extLst>
              <a:ext uri="{FF2B5EF4-FFF2-40B4-BE49-F238E27FC236}">
                <a16:creationId xmlns:a16="http://schemas.microsoft.com/office/drawing/2014/main" id="{CC8B93E7-F27F-83C1-7381-64DB277B0C9B}"/>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a:extLst>
              <a:ext uri="{FF2B5EF4-FFF2-40B4-BE49-F238E27FC236}">
                <a16:creationId xmlns:a16="http://schemas.microsoft.com/office/drawing/2014/main" id="{7763A9A2-D210-7524-F87F-DBFB049E8B98}"/>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20</a:t>
            </a:fld>
            <a:endParaRPr spc="-25" dirty="0"/>
          </a:p>
        </p:txBody>
      </p:sp>
      <p:sp>
        <p:nvSpPr>
          <p:cNvPr id="14" name="object 2">
            <a:extLst>
              <a:ext uri="{FF2B5EF4-FFF2-40B4-BE49-F238E27FC236}">
                <a16:creationId xmlns:a16="http://schemas.microsoft.com/office/drawing/2014/main" id="{39699EDC-0929-EEF9-4E5E-C9305F0EC09F}"/>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pic>
        <p:nvPicPr>
          <p:cNvPr id="15" name="Picture 14">
            <a:extLst>
              <a:ext uri="{FF2B5EF4-FFF2-40B4-BE49-F238E27FC236}">
                <a16:creationId xmlns:a16="http://schemas.microsoft.com/office/drawing/2014/main" id="{7DA73971-2CCB-FBFE-0F22-145EE48662EA}"/>
              </a:ext>
            </a:extLst>
          </p:cNvPr>
          <p:cNvPicPr>
            <a:picLocks noChangeAspect="1"/>
          </p:cNvPicPr>
          <p:nvPr/>
        </p:nvPicPr>
        <p:blipFill>
          <a:blip r:embed="rId3" cstate="print">
            <a:extLst>
              <a:ext uri="{28A0092B-C50C-407E-A947-70E740481C1C}">
                <a14:useLocalDpi xmlns:a14="http://schemas.microsoft.com/office/drawing/2010/main" val="0"/>
              </a:ext>
            </a:extLst>
          </a:blip>
          <a:srcRect t="1111" b="7778"/>
          <a:stretch>
            <a:fillRect/>
          </a:stretch>
        </p:blipFill>
        <p:spPr>
          <a:xfrm>
            <a:off x="3611879" y="995395"/>
            <a:ext cx="4358640" cy="5615070"/>
          </a:xfrm>
          <a:prstGeom prst="rect">
            <a:avLst/>
          </a:prstGeom>
        </p:spPr>
      </p:pic>
    </p:spTree>
    <p:extLst>
      <p:ext uri="{BB962C8B-B14F-4D97-AF65-F5344CB8AC3E}">
        <p14:creationId xmlns:p14="http://schemas.microsoft.com/office/powerpoint/2010/main" val="3581478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D1981-BE35-CCD7-93BD-F393CC66801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65C2234-FB55-ACAF-4BD0-D4B50B6D486E}"/>
              </a:ext>
            </a:extLst>
          </p:cNvPr>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5" name="object 5">
            <a:extLst>
              <a:ext uri="{FF2B5EF4-FFF2-40B4-BE49-F238E27FC236}">
                <a16:creationId xmlns:a16="http://schemas.microsoft.com/office/drawing/2014/main" id="{B553E38D-70AC-1E1D-B738-2216D14CC363}"/>
              </a:ext>
            </a:extLst>
          </p:cNvPr>
          <p:cNvGrpSpPr/>
          <p:nvPr/>
        </p:nvGrpSpPr>
        <p:grpSpPr>
          <a:xfrm>
            <a:off x="0" y="216720"/>
            <a:ext cx="12192000" cy="803275"/>
            <a:chOff x="0" y="216720"/>
            <a:chExt cx="12192000" cy="803275"/>
          </a:xfrm>
        </p:grpSpPr>
        <p:pic>
          <p:nvPicPr>
            <p:cNvPr id="6" name="object 6">
              <a:extLst>
                <a:ext uri="{FF2B5EF4-FFF2-40B4-BE49-F238E27FC236}">
                  <a16:creationId xmlns:a16="http://schemas.microsoft.com/office/drawing/2014/main" id="{7A78F214-A886-2FF0-8B78-1AA3C26700CC}"/>
                </a:ext>
              </a:extLst>
            </p:cNvPr>
            <p:cNvPicPr/>
            <p:nvPr/>
          </p:nvPicPr>
          <p:blipFill>
            <a:blip r:embed="rId2" cstate="print"/>
            <a:stretch>
              <a:fillRect/>
            </a:stretch>
          </p:blipFill>
          <p:spPr>
            <a:xfrm>
              <a:off x="0" y="216720"/>
              <a:ext cx="12192000" cy="803160"/>
            </a:xfrm>
            <a:prstGeom prst="rect">
              <a:avLst/>
            </a:prstGeom>
          </p:spPr>
        </p:pic>
        <p:sp>
          <p:nvSpPr>
            <p:cNvPr id="7" name="object 7">
              <a:extLst>
                <a:ext uri="{FF2B5EF4-FFF2-40B4-BE49-F238E27FC236}">
                  <a16:creationId xmlns:a16="http://schemas.microsoft.com/office/drawing/2014/main" id="{04A668DC-D054-5841-B473-A7D7D9E3349E}"/>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8" name="object 8">
            <a:extLst>
              <a:ext uri="{FF2B5EF4-FFF2-40B4-BE49-F238E27FC236}">
                <a16:creationId xmlns:a16="http://schemas.microsoft.com/office/drawing/2014/main" id="{383127DF-3B2E-6D0E-8199-A15DA08D3A12}"/>
              </a:ext>
            </a:extLst>
          </p:cNvPr>
          <p:cNvSpPr txBox="1">
            <a:spLocks noGrp="1"/>
          </p:cNvSpPr>
          <p:nvPr>
            <p:ph type="title"/>
          </p:nvPr>
        </p:nvSpPr>
        <p:spPr>
          <a:xfrm>
            <a:off x="73025" y="182323"/>
            <a:ext cx="9230994" cy="689932"/>
          </a:xfrm>
          <a:prstGeom prst="rect">
            <a:avLst/>
          </a:prstGeom>
        </p:spPr>
        <p:txBody>
          <a:bodyPr vert="horz" wrap="square" lIns="0" tIns="12700" rIns="0" bIns="0" rtlCol="0">
            <a:spAutoFit/>
          </a:bodyPr>
          <a:lstStyle/>
          <a:p>
            <a:r>
              <a:rPr lang="en-IN" spc="-10" dirty="0">
                <a:solidFill>
                  <a:prstClr val="white"/>
                </a:solidFill>
              </a:rPr>
              <a:t>References</a:t>
            </a:r>
            <a:endParaRPr lang="en-IN" sz="4000" dirty="0">
              <a:latin typeface="Times New Roman" panose="02020603050405020304" pitchFamily="18" charset="0"/>
              <a:cs typeface="Times New Roman" panose="02020603050405020304" pitchFamily="18" charset="0"/>
            </a:endParaRPr>
          </a:p>
        </p:txBody>
      </p:sp>
      <p:sp>
        <p:nvSpPr>
          <p:cNvPr id="10" name="object 10">
            <a:extLst>
              <a:ext uri="{FF2B5EF4-FFF2-40B4-BE49-F238E27FC236}">
                <a16:creationId xmlns:a16="http://schemas.microsoft.com/office/drawing/2014/main" id="{386E0E6D-AEBF-1115-722E-B668255EC280}"/>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1" name="object 11">
            <a:extLst>
              <a:ext uri="{FF2B5EF4-FFF2-40B4-BE49-F238E27FC236}">
                <a16:creationId xmlns:a16="http://schemas.microsoft.com/office/drawing/2014/main" id="{28C95324-E10E-2363-3607-08E4EB86B713}"/>
              </a:ext>
            </a:extLst>
          </p:cNvPr>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a:extLst>
              <a:ext uri="{FF2B5EF4-FFF2-40B4-BE49-F238E27FC236}">
                <a16:creationId xmlns:a16="http://schemas.microsoft.com/office/drawing/2014/main" id="{FDE9189E-F02E-3C10-E97C-AC399FF5691F}"/>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a:extLst>
              <a:ext uri="{FF2B5EF4-FFF2-40B4-BE49-F238E27FC236}">
                <a16:creationId xmlns:a16="http://schemas.microsoft.com/office/drawing/2014/main" id="{B5277317-A32B-3297-CE69-BE76DE58A538}"/>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21</a:t>
            </a:fld>
            <a:endParaRPr spc="-25" dirty="0"/>
          </a:p>
        </p:txBody>
      </p:sp>
      <p:sp>
        <p:nvSpPr>
          <p:cNvPr id="14" name="object 2">
            <a:extLst>
              <a:ext uri="{FF2B5EF4-FFF2-40B4-BE49-F238E27FC236}">
                <a16:creationId xmlns:a16="http://schemas.microsoft.com/office/drawing/2014/main" id="{B6FACBBE-3D27-B36D-D24F-C9D787ED42FA}"/>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4" name="TextBox 20">
            <a:extLst>
              <a:ext uri="{FF2B5EF4-FFF2-40B4-BE49-F238E27FC236}">
                <a16:creationId xmlns:a16="http://schemas.microsoft.com/office/drawing/2014/main" id="{3EBC29A4-8B96-9D8C-6038-387CC08F9A32}"/>
              </a:ext>
            </a:extLst>
          </p:cNvPr>
          <p:cNvSpPr txBox="1"/>
          <p:nvPr/>
        </p:nvSpPr>
        <p:spPr>
          <a:xfrm>
            <a:off x="274856" y="1386389"/>
            <a:ext cx="11518389" cy="434837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marR="0" lvl="0" indent="-406400" algn="just" defTabSz="914400" rtl="0" eaLnBrk="1" fontAlgn="auto" latinLnBrk="0" hangingPunct="1">
              <a:lnSpc>
                <a:spcPct val="90000"/>
              </a:lnSpc>
              <a:spcBef>
                <a:spcPts val="1000"/>
              </a:spcBef>
              <a:spcAft>
                <a:spcPts val="0"/>
              </a:spcAft>
              <a:buClr>
                <a:prstClr val="black"/>
              </a:buClr>
              <a:buSzPts val="2800"/>
              <a:buFont typeface="Noto Sans Symbols"/>
              <a:buChar char="⮚"/>
              <a:tabLst/>
              <a:defRPr/>
            </a:pPr>
            <a:r>
              <a:rPr lang="en-US" sz="2200" b="1" kern="0" dirty="0">
                <a:solidFill>
                  <a:prstClr val="black"/>
                </a:solidFill>
                <a:latin typeface="Times New Roman" panose="02020603050405020304"/>
                <a:cs typeface="Times New Roman" panose="02020603050405020304"/>
                <a:sym typeface="Times New Roman" panose="02020603050405020304"/>
              </a:rPr>
              <a:t>Books</a:t>
            </a:r>
            <a:endParaRPr kumimoji="0" lang="en-US" sz="2200" b="1" i="0" u="none" strike="noStrike" kern="0" cap="none" spc="0" normalizeH="0" baseline="0" noProof="0" dirty="0">
              <a:ln>
                <a:noFill/>
              </a:ln>
              <a:solidFill>
                <a:prstClr val="black"/>
              </a:solidFill>
              <a:effectLst/>
              <a:uLnTx/>
              <a:uFillTx/>
              <a:latin typeface="Times New Roman" panose="02020603050405020304"/>
              <a:cs typeface="Times New Roman" panose="02020603050405020304"/>
              <a:sym typeface="Times New Roman" panose="02020603050405020304"/>
            </a:endParaRPr>
          </a:p>
          <a:p>
            <a:pPr marL="914400" lvl="1" indent="-381000" algn="just">
              <a:lnSpc>
                <a:spcPct val="90000"/>
              </a:lnSpc>
              <a:spcBef>
                <a:spcPts val="500"/>
              </a:spcBef>
              <a:buClr>
                <a:prstClr val="black"/>
              </a:buClr>
              <a:buSzPts val="2400"/>
              <a:buFont typeface="Noto Sans Symbols"/>
              <a:buChar char="❑"/>
              <a:defRPr/>
            </a:pPr>
            <a:r>
              <a:rPr lang="en-US" altLang="en-US" sz="1900" kern="0" dirty="0">
                <a:solidFill>
                  <a:prstClr val="black"/>
                </a:solidFill>
                <a:latin typeface="Times New Roman" panose="02020603050405020304"/>
                <a:cs typeface="Times New Roman" panose="02020603050405020304"/>
                <a:sym typeface="Times New Roman" panose="02020603050405020304"/>
              </a:rPr>
              <a:t>[1] Ian Goodfellow, Yoshua Bengio, and Aaron Courville, Deep Learning. Cambridge, MA: MIT Press, 2016.</a:t>
            </a:r>
            <a:endParaRPr kumimoji="0" lang="en-US" altLang="en-US" sz="19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endParaRPr>
          </a:p>
          <a:p>
            <a:pPr marL="457200" marR="0" lvl="0" indent="-406400" algn="just" defTabSz="914400" rtl="0" eaLnBrk="1" fontAlgn="auto" latinLnBrk="0" hangingPunct="1">
              <a:lnSpc>
                <a:spcPct val="90000"/>
              </a:lnSpc>
              <a:spcBef>
                <a:spcPts val="1000"/>
              </a:spcBef>
              <a:spcAft>
                <a:spcPts val="0"/>
              </a:spcAft>
              <a:buClr>
                <a:prstClr val="black"/>
              </a:buClr>
              <a:buSzPts val="2800"/>
              <a:buFont typeface="Noto Sans Symbols"/>
              <a:buChar char="⮚"/>
              <a:tabLst/>
              <a:defRPr/>
            </a:pPr>
            <a:r>
              <a:rPr kumimoji="0" lang="en-US" altLang="en-US" sz="2200" b="1" i="0" u="none" strike="noStrike" kern="0" cap="none" spc="0" normalizeH="0" baseline="0" noProof="0" dirty="0">
                <a:ln>
                  <a:noFill/>
                </a:ln>
                <a:solidFill>
                  <a:prstClr val="black"/>
                </a:solidFill>
                <a:effectLst/>
                <a:uLnTx/>
                <a:uFillTx/>
                <a:latin typeface="Times New Roman" panose="02020603050405020304"/>
                <a:cs typeface="Times New Roman" panose="02020603050405020304"/>
                <a:sym typeface="Times New Roman" panose="02020603050405020304"/>
              </a:rPr>
              <a:t>Journal Article</a:t>
            </a:r>
          </a:p>
          <a:p>
            <a:pPr marL="914400" lvl="1" indent="-381000" algn="just">
              <a:lnSpc>
                <a:spcPct val="90000"/>
              </a:lnSpc>
              <a:spcBef>
                <a:spcPts val="500"/>
              </a:spcBef>
              <a:buClr>
                <a:prstClr val="black"/>
              </a:buClr>
              <a:buSzPts val="2400"/>
              <a:buFont typeface="Noto Sans Symbols"/>
              <a:buChar char="❑"/>
              <a:defRPr/>
            </a:pPr>
            <a:r>
              <a:rPr lang="en-US" altLang="en-US" sz="1900" kern="0" dirty="0">
                <a:solidFill>
                  <a:prstClr val="black"/>
                </a:solidFill>
                <a:latin typeface="Times New Roman" panose="02020603050405020304"/>
                <a:cs typeface="Times New Roman" panose="02020603050405020304"/>
                <a:sym typeface="Times New Roman" panose="02020603050405020304"/>
              </a:rPr>
              <a:t>[2] L. Chen and R. Williams, “Machine Learning-Based Expense Prediction for Personal Finance Management,” International Journal of Data Science and Analytics, vol. 14, no. 2, pp. 85–97, March 2022.</a:t>
            </a:r>
            <a:endParaRPr lang="en-US" altLang="en-US" sz="1900" kern="0" dirty="0">
              <a:solidFill>
                <a:prstClr val="black"/>
              </a:solidFill>
              <a:latin typeface="Times New Roman" panose="02020603050405020304" pitchFamily="18" charset="0"/>
              <a:cs typeface="Times New Roman" panose="02020603050405020304" pitchFamily="18" charset="0"/>
              <a:sym typeface="Times New Roman" panose="02020603050405020304"/>
            </a:endParaRPr>
          </a:p>
          <a:p>
            <a:pPr marL="457200" marR="0" lvl="0" indent="-406400" algn="just" defTabSz="914400" rtl="0" eaLnBrk="1" fontAlgn="auto" latinLnBrk="0" hangingPunct="1">
              <a:lnSpc>
                <a:spcPct val="90000"/>
              </a:lnSpc>
              <a:spcBef>
                <a:spcPts val="1000"/>
              </a:spcBef>
              <a:spcAft>
                <a:spcPts val="0"/>
              </a:spcAft>
              <a:buClr>
                <a:prstClr val="black"/>
              </a:buClr>
              <a:buSzPts val="2800"/>
              <a:buFont typeface="Noto Sans Symbols"/>
              <a:buChar char="⮚"/>
              <a:tabLst/>
              <a:defRPr/>
            </a:pPr>
            <a:r>
              <a:rPr kumimoji="0" lang="en-US" altLang="en-US" sz="2200" b="1" i="0" u="none" strike="noStrike" kern="0" cap="none" spc="0" normalizeH="0" baseline="0" noProof="0" dirty="0">
                <a:ln>
                  <a:noFill/>
                </a:ln>
                <a:solidFill>
                  <a:prstClr val="black"/>
                </a:solidFill>
                <a:effectLst/>
                <a:uLnTx/>
                <a:uFillTx/>
                <a:latin typeface="Times New Roman" panose="02020603050405020304"/>
                <a:cs typeface="Times New Roman" panose="02020603050405020304"/>
                <a:sym typeface="Times New Roman" panose="02020603050405020304"/>
              </a:rPr>
              <a:t>Newspaper article</a:t>
            </a:r>
          </a:p>
          <a:p>
            <a:pPr marL="914400" lvl="1" indent="-381000" algn="just">
              <a:lnSpc>
                <a:spcPct val="90000"/>
              </a:lnSpc>
              <a:spcBef>
                <a:spcPts val="500"/>
              </a:spcBef>
              <a:buClr>
                <a:prstClr val="black"/>
              </a:buClr>
              <a:buSzPts val="2400"/>
              <a:buFont typeface="Noto Sans Symbols"/>
              <a:buChar char="❑"/>
              <a:defRPr/>
            </a:pPr>
            <a:r>
              <a:rPr lang="en-US" altLang="en-US" sz="1900" kern="0" dirty="0">
                <a:solidFill>
                  <a:prstClr val="black"/>
                </a:solidFill>
                <a:latin typeface="Times New Roman" panose="02020603050405020304"/>
                <a:cs typeface="Times New Roman" panose="02020603050405020304"/>
                <a:sym typeface="Times New Roman" panose="02020603050405020304"/>
              </a:rPr>
              <a:t>[3] </a:t>
            </a:r>
            <a:r>
              <a:rPr lang="en-US" sz="2000" dirty="0">
                <a:latin typeface="Times New Roman" panose="02020603050405020304" pitchFamily="18" charset="0"/>
                <a:cs typeface="Times New Roman" panose="02020603050405020304" pitchFamily="18" charset="0"/>
              </a:rPr>
              <a:t>“How Artificial Intelligence Is Transforming Personal Finance,” The Economic Times, vol. 183, pp. 12–13, June 10, 2023.</a:t>
            </a:r>
            <a:endParaRPr kumimoji="0" lang="en-US" altLang="en-US" sz="19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endParaRPr>
          </a:p>
          <a:p>
            <a:pPr marL="457200" marR="0" lvl="0" indent="-406400" algn="just" defTabSz="914400" rtl="0" eaLnBrk="1" fontAlgn="auto" latinLnBrk="0" hangingPunct="1">
              <a:lnSpc>
                <a:spcPct val="90000"/>
              </a:lnSpc>
              <a:spcBef>
                <a:spcPts val="1000"/>
              </a:spcBef>
              <a:spcAft>
                <a:spcPts val="0"/>
              </a:spcAft>
              <a:buClr>
                <a:prstClr val="black"/>
              </a:buClr>
              <a:buSzPts val="2800"/>
              <a:buFont typeface="Noto Sans Symbols"/>
              <a:buChar char="⮚"/>
              <a:tabLst/>
              <a:defRPr/>
            </a:pPr>
            <a:r>
              <a:rPr kumimoji="0" lang="en-US" altLang="en-US" sz="2200" b="1" i="0" u="none" strike="noStrike" kern="0" cap="none" spc="0" normalizeH="0" baseline="0" noProof="0" dirty="0">
                <a:ln>
                  <a:noFill/>
                </a:ln>
                <a:solidFill>
                  <a:prstClr val="black"/>
                </a:solidFill>
                <a:effectLst/>
                <a:uLnTx/>
                <a:uFillTx/>
                <a:latin typeface="Times New Roman" panose="02020603050405020304"/>
                <a:cs typeface="Times New Roman" panose="02020603050405020304"/>
                <a:sym typeface="Times New Roman" panose="02020603050405020304"/>
              </a:rPr>
              <a:t>Technical Report</a:t>
            </a:r>
          </a:p>
          <a:p>
            <a:pPr marL="914400" lvl="1" indent="-381000" algn="just">
              <a:lnSpc>
                <a:spcPct val="90000"/>
              </a:lnSpc>
              <a:spcBef>
                <a:spcPts val="500"/>
              </a:spcBef>
              <a:buClr>
                <a:prstClr val="black"/>
              </a:buClr>
              <a:buSzPts val="2400"/>
              <a:buFont typeface="Noto Sans Symbols"/>
              <a:buChar char="❑"/>
              <a:defRPr/>
            </a:pPr>
            <a:r>
              <a:rPr lang="en-US" altLang="en-US" sz="1900" kern="0" dirty="0">
                <a:solidFill>
                  <a:prstClr val="black"/>
                </a:solidFill>
                <a:latin typeface="Times New Roman" panose="02020603050405020304"/>
                <a:cs typeface="Times New Roman" panose="02020603050405020304"/>
                <a:sym typeface="Times New Roman" panose="02020603050405020304"/>
              </a:rPr>
              <a:t>[4] </a:t>
            </a:r>
            <a:r>
              <a:rPr lang="en-US" altLang="en-US" sz="1900" kern="0" dirty="0" err="1">
                <a:solidFill>
                  <a:prstClr val="black"/>
                </a:solidFill>
                <a:latin typeface="Times New Roman" panose="02020603050405020304"/>
                <a:cs typeface="Times New Roman" panose="02020603050405020304"/>
                <a:sym typeface="Times New Roman" panose="02020603050405020304"/>
              </a:rPr>
              <a:t>Organisation</a:t>
            </a:r>
            <a:r>
              <a:rPr lang="en-US" altLang="en-US" sz="1900" kern="0" dirty="0">
                <a:solidFill>
                  <a:prstClr val="black"/>
                </a:solidFill>
                <a:latin typeface="Times New Roman" panose="02020603050405020304"/>
                <a:cs typeface="Times New Roman" panose="02020603050405020304"/>
                <a:sym typeface="Times New Roman" panose="02020603050405020304"/>
              </a:rPr>
              <a:t> for Economic Co-operation and Development (OECD), “Artificial Intelligence in Personal Financial Management and Consumer Decision-Making,” OECD Publishing, Financial Technology Technical Report OECD-AI-FIN-2021-07, July 2021.</a:t>
            </a:r>
            <a:endParaRPr kumimoji="0" lang="en-US" altLang="en-US" sz="2200" b="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sym typeface="Times New Roman" panose="02020603050405020304"/>
            </a:endParaRPr>
          </a:p>
        </p:txBody>
      </p:sp>
    </p:spTree>
    <p:extLst>
      <p:ext uri="{BB962C8B-B14F-4D97-AF65-F5344CB8AC3E}">
        <p14:creationId xmlns:p14="http://schemas.microsoft.com/office/powerpoint/2010/main" val="2746216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A821-5E54-6879-E1AF-0313137CFA50}"/>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4D88C5B-2A48-99E8-C846-C3B96DFA990D}"/>
              </a:ext>
            </a:extLst>
          </p:cNvPr>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grpSp>
        <p:nvGrpSpPr>
          <p:cNvPr id="5" name="object 5">
            <a:extLst>
              <a:ext uri="{FF2B5EF4-FFF2-40B4-BE49-F238E27FC236}">
                <a16:creationId xmlns:a16="http://schemas.microsoft.com/office/drawing/2014/main" id="{5F3D027D-9E6C-AC02-4458-8229F54A5EAF}"/>
              </a:ext>
            </a:extLst>
          </p:cNvPr>
          <p:cNvGrpSpPr/>
          <p:nvPr/>
        </p:nvGrpSpPr>
        <p:grpSpPr>
          <a:xfrm>
            <a:off x="0" y="216720"/>
            <a:ext cx="12192000" cy="803275"/>
            <a:chOff x="0" y="216720"/>
            <a:chExt cx="12192000" cy="803275"/>
          </a:xfrm>
        </p:grpSpPr>
        <p:pic>
          <p:nvPicPr>
            <p:cNvPr id="6" name="object 6">
              <a:extLst>
                <a:ext uri="{FF2B5EF4-FFF2-40B4-BE49-F238E27FC236}">
                  <a16:creationId xmlns:a16="http://schemas.microsoft.com/office/drawing/2014/main" id="{DD5379E9-9B71-1BC3-DC7F-77A68A734C5A}"/>
                </a:ext>
              </a:extLst>
            </p:cNvPr>
            <p:cNvPicPr/>
            <p:nvPr/>
          </p:nvPicPr>
          <p:blipFill>
            <a:blip r:embed="rId2" cstate="print"/>
            <a:stretch>
              <a:fillRect/>
            </a:stretch>
          </p:blipFill>
          <p:spPr>
            <a:xfrm>
              <a:off x="0" y="216720"/>
              <a:ext cx="12192000" cy="803160"/>
            </a:xfrm>
            <a:prstGeom prst="rect">
              <a:avLst/>
            </a:prstGeom>
          </p:spPr>
        </p:pic>
        <p:sp>
          <p:nvSpPr>
            <p:cNvPr id="7" name="object 7">
              <a:extLst>
                <a:ext uri="{FF2B5EF4-FFF2-40B4-BE49-F238E27FC236}">
                  <a16:creationId xmlns:a16="http://schemas.microsoft.com/office/drawing/2014/main" id="{A56D6DCD-C62F-8C6E-9E94-135BC3E4BCC0}"/>
                </a:ext>
              </a:extLst>
            </p:cNvPr>
            <p:cNvSpPr/>
            <p:nvPr/>
          </p:nvSpPr>
          <p:spPr>
            <a:xfrm>
              <a:off x="0" y="232920"/>
              <a:ext cx="12192000" cy="715010"/>
            </a:xfrm>
            <a:custGeom>
              <a:avLst/>
              <a:gdLst/>
              <a:ahLst/>
              <a:cxnLst/>
              <a:rect l="l" t="t" r="r" b="b"/>
              <a:pathLst>
                <a:path w="12192000" h="715010">
                  <a:moveTo>
                    <a:pt x="12191759" y="714599"/>
                  </a:moveTo>
                  <a:lnTo>
                    <a:pt x="0" y="714599"/>
                  </a:lnTo>
                  <a:lnTo>
                    <a:pt x="0" y="0"/>
                  </a:lnTo>
                  <a:lnTo>
                    <a:pt x="12191759" y="0"/>
                  </a:lnTo>
                  <a:lnTo>
                    <a:pt x="12191759" y="714599"/>
                  </a:lnTo>
                  <a:close/>
                </a:path>
              </a:pathLst>
            </a:custGeom>
            <a:solidFill>
              <a:srgbClr val="FF6600"/>
            </a:solidFill>
          </p:spPr>
          <p:txBody>
            <a:bodyPr wrap="square" lIns="0" tIns="0" rIns="0" bIns="0" rtlCol="0"/>
            <a:lstStyle/>
            <a:p>
              <a:endParaRPr/>
            </a:p>
          </p:txBody>
        </p:sp>
      </p:grpSp>
      <p:sp>
        <p:nvSpPr>
          <p:cNvPr id="10" name="object 10">
            <a:extLst>
              <a:ext uri="{FF2B5EF4-FFF2-40B4-BE49-F238E27FC236}">
                <a16:creationId xmlns:a16="http://schemas.microsoft.com/office/drawing/2014/main" id="{B8C8B184-5564-23B7-BDA8-C0202702B847}"/>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dirty="0"/>
              <a:t>-</a:t>
            </a:r>
            <a:r>
              <a:rPr spc="-5" dirty="0"/>
              <a:t> </a:t>
            </a:r>
            <a:r>
              <a:rPr lang="en-US" spc="-25" dirty="0"/>
              <a:t>06</a:t>
            </a:r>
            <a:endParaRPr spc="-25" dirty="0"/>
          </a:p>
        </p:txBody>
      </p:sp>
      <p:sp>
        <p:nvSpPr>
          <p:cNvPr id="11" name="object 11">
            <a:extLst>
              <a:ext uri="{FF2B5EF4-FFF2-40B4-BE49-F238E27FC236}">
                <a16:creationId xmlns:a16="http://schemas.microsoft.com/office/drawing/2014/main" id="{A3C7861E-2E76-F10C-2F85-1965B2723299}"/>
              </a:ext>
            </a:extLst>
          </p:cNvPr>
          <p:cNvSpPr txBox="1">
            <a:spLocks noGrp="1"/>
          </p:cNvSpPr>
          <p:nvPr>
            <p:ph type="dt" sz="half" idx="6"/>
          </p:nvPr>
        </p:nvSpPr>
        <p:spPr>
          <a:xfrm>
            <a:off x="1773949" y="6629559"/>
            <a:ext cx="3891278"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12" name="object 12">
            <a:extLst>
              <a:ext uri="{FF2B5EF4-FFF2-40B4-BE49-F238E27FC236}">
                <a16:creationId xmlns:a16="http://schemas.microsoft.com/office/drawing/2014/main" id="{5CAC825A-FB72-75D8-AF16-128EBE871A50}"/>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3" name="object 13">
            <a:extLst>
              <a:ext uri="{FF2B5EF4-FFF2-40B4-BE49-F238E27FC236}">
                <a16:creationId xmlns:a16="http://schemas.microsoft.com/office/drawing/2014/main" id="{42785E0D-D9B3-2CE4-3B04-5B4E59D7C327}"/>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22</a:t>
            </a:fld>
            <a:endParaRPr spc="-25" dirty="0"/>
          </a:p>
        </p:txBody>
      </p:sp>
      <p:sp>
        <p:nvSpPr>
          <p:cNvPr id="14" name="object 2">
            <a:extLst>
              <a:ext uri="{FF2B5EF4-FFF2-40B4-BE49-F238E27FC236}">
                <a16:creationId xmlns:a16="http://schemas.microsoft.com/office/drawing/2014/main" id="{9C902DCF-2DA2-C2A7-1975-C050BFBDBB1F}"/>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
        <p:nvSpPr>
          <p:cNvPr id="15" name="TextBox 14">
            <a:extLst>
              <a:ext uri="{FF2B5EF4-FFF2-40B4-BE49-F238E27FC236}">
                <a16:creationId xmlns:a16="http://schemas.microsoft.com/office/drawing/2014/main" id="{3A11133F-BC8E-42E7-183A-6AD3F66DB954}"/>
              </a:ext>
            </a:extLst>
          </p:cNvPr>
          <p:cNvSpPr txBox="1"/>
          <p:nvPr/>
        </p:nvSpPr>
        <p:spPr>
          <a:xfrm>
            <a:off x="304800" y="247935"/>
            <a:ext cx="7315200" cy="769441"/>
          </a:xfrm>
          <a:prstGeom prst="rect">
            <a:avLst/>
          </a:prstGeom>
          <a:noFill/>
        </p:spPr>
        <p:txBody>
          <a:bodyPr wrap="square" rtlCol="0">
            <a:spAutoFit/>
          </a:bodyPr>
          <a:lstStyle/>
          <a:p>
            <a:r>
              <a:rPr lang="en-IN" sz="4400" dirty="0">
                <a:solidFill>
                  <a:schemeClr val="bg1"/>
                </a:solidFill>
              </a:rPr>
              <a:t>GitHub Link</a:t>
            </a:r>
            <a:endParaRPr lang="en-US" sz="4400" dirty="0">
              <a:solidFill>
                <a:schemeClr val="bg1"/>
              </a:solidFill>
            </a:endParaRPr>
          </a:p>
        </p:txBody>
      </p:sp>
      <p:pic>
        <p:nvPicPr>
          <p:cNvPr id="16" name="Picture 15">
            <a:extLst>
              <a:ext uri="{FF2B5EF4-FFF2-40B4-BE49-F238E27FC236}">
                <a16:creationId xmlns:a16="http://schemas.microsoft.com/office/drawing/2014/main" id="{9EE17A6B-858B-C43D-1BB5-8D3FB38B7EE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22759" y="1086507"/>
            <a:ext cx="9117509" cy="4561176"/>
          </a:xfrm>
          <a:prstGeom prst="rect">
            <a:avLst/>
          </a:prstGeom>
        </p:spPr>
      </p:pic>
      <p:sp>
        <p:nvSpPr>
          <p:cNvPr id="17" name="TextBox 16">
            <a:extLst>
              <a:ext uri="{FF2B5EF4-FFF2-40B4-BE49-F238E27FC236}">
                <a16:creationId xmlns:a16="http://schemas.microsoft.com/office/drawing/2014/main" id="{657BEAA4-3BA7-7828-1D9E-791AA998473B}"/>
              </a:ext>
            </a:extLst>
          </p:cNvPr>
          <p:cNvSpPr txBox="1"/>
          <p:nvPr/>
        </p:nvSpPr>
        <p:spPr>
          <a:xfrm>
            <a:off x="784031" y="5853248"/>
            <a:ext cx="9745133" cy="369332"/>
          </a:xfrm>
          <a:prstGeom prst="rect">
            <a:avLst/>
          </a:prstGeom>
          <a:noFill/>
        </p:spPr>
        <p:txBody>
          <a:bodyPr wrap="square">
            <a:spAutoFit/>
          </a:bodyPr>
          <a:lstStyle/>
          <a:p>
            <a:r>
              <a:rPr lang="en-US" dirty="0"/>
              <a:t>G</a:t>
            </a:r>
            <a:r>
              <a:rPr lang="en-IN" dirty="0"/>
              <a:t>it Hub Link: </a:t>
            </a:r>
            <a:r>
              <a:rPr lang="en-IN" dirty="0">
                <a:hlinkClick r:id="rId4"/>
              </a:rPr>
              <a:t>https://github.com/hemanthkumarsake/CSE-2022-26-Batch-A06</a:t>
            </a:r>
            <a:endParaRPr lang="en-IN" dirty="0"/>
          </a:p>
        </p:txBody>
      </p:sp>
    </p:spTree>
    <p:extLst>
      <p:ext uri="{BB962C8B-B14F-4D97-AF65-F5344CB8AC3E}">
        <p14:creationId xmlns:p14="http://schemas.microsoft.com/office/powerpoint/2010/main" val="1303214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A3ED-FD00-8D80-6195-3BBAAD1B29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60799E2-69A4-D03C-1061-DE7E96EF5E8A}"/>
              </a:ext>
            </a:extLst>
          </p:cNvPr>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5" name="object 5">
            <a:extLst>
              <a:ext uri="{FF2B5EF4-FFF2-40B4-BE49-F238E27FC236}">
                <a16:creationId xmlns:a16="http://schemas.microsoft.com/office/drawing/2014/main" id="{9CFB6713-804A-08B5-7F54-19D1630BED50}"/>
              </a:ext>
            </a:extLst>
          </p:cNvPr>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IN" dirty="0"/>
              <a:t>-</a:t>
            </a:r>
            <a:r>
              <a:rPr spc="-5" dirty="0"/>
              <a:t> </a:t>
            </a:r>
            <a:r>
              <a:rPr lang="en-IN" spc="-25" dirty="0"/>
              <a:t>06</a:t>
            </a:r>
            <a:endParaRPr spc="-25" dirty="0"/>
          </a:p>
        </p:txBody>
      </p:sp>
      <p:sp>
        <p:nvSpPr>
          <p:cNvPr id="6" name="object 6">
            <a:extLst>
              <a:ext uri="{FF2B5EF4-FFF2-40B4-BE49-F238E27FC236}">
                <a16:creationId xmlns:a16="http://schemas.microsoft.com/office/drawing/2014/main" id="{C5957A7A-CD65-96AE-504D-573850C859A5}"/>
              </a:ext>
            </a:extLst>
          </p:cNvPr>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a:extLst>
              <a:ext uri="{FF2B5EF4-FFF2-40B4-BE49-F238E27FC236}">
                <a16:creationId xmlns:a16="http://schemas.microsoft.com/office/drawing/2014/main" id="{D5EEA178-0B2C-E35D-A694-7183BFB18958}"/>
              </a:ext>
            </a:extLst>
          </p:cNvPr>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8" name="object 8">
            <a:extLst>
              <a:ext uri="{FF2B5EF4-FFF2-40B4-BE49-F238E27FC236}">
                <a16:creationId xmlns:a16="http://schemas.microsoft.com/office/drawing/2014/main" id="{4D84D2A4-ED52-37A1-F03C-0E9069AFDFB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23</a:t>
            </a:fld>
            <a:endParaRPr spc="-25" dirty="0"/>
          </a:p>
        </p:txBody>
      </p:sp>
      <p:sp>
        <p:nvSpPr>
          <p:cNvPr id="4" name="object 4">
            <a:extLst>
              <a:ext uri="{FF2B5EF4-FFF2-40B4-BE49-F238E27FC236}">
                <a16:creationId xmlns:a16="http://schemas.microsoft.com/office/drawing/2014/main" id="{E2DEE184-FDA7-887B-0848-374471681780}"/>
              </a:ext>
            </a:extLst>
          </p:cNvPr>
          <p:cNvSpPr txBox="1">
            <a:spLocks noGrp="1"/>
          </p:cNvSpPr>
          <p:nvPr>
            <p:ph type="title"/>
          </p:nvPr>
        </p:nvSpPr>
        <p:spPr>
          <a:xfrm>
            <a:off x="2706766" y="2685864"/>
            <a:ext cx="6778468" cy="1490152"/>
          </a:xfrm>
          <a:prstGeom prst="rect">
            <a:avLst/>
          </a:prstGeom>
        </p:spPr>
        <p:txBody>
          <a:bodyPr vert="horz" wrap="square" lIns="0" tIns="12700" rIns="0" bIns="0" rtlCol="0">
            <a:spAutoFit/>
          </a:bodyPr>
          <a:lstStyle/>
          <a:p>
            <a:pPr marL="12700">
              <a:lnSpc>
                <a:spcPct val="100000"/>
              </a:lnSpc>
              <a:spcBef>
                <a:spcPts val="100"/>
              </a:spcBef>
            </a:pPr>
            <a:r>
              <a:rPr lang="en-US" sz="9600" i="1" dirty="0">
                <a:solidFill>
                  <a:srgbClr val="FF6600"/>
                </a:solidFill>
                <a:latin typeface="Times New Roman"/>
                <a:cs typeface="Times New Roman"/>
              </a:rPr>
              <a:t>Thank You!!!</a:t>
            </a:r>
            <a:endParaRPr sz="9600" dirty="0">
              <a:latin typeface="Times New Roman"/>
              <a:cs typeface="Times New Roman"/>
            </a:endParaRPr>
          </a:p>
        </p:txBody>
      </p:sp>
      <p:sp>
        <p:nvSpPr>
          <p:cNvPr id="9" name="object 2">
            <a:extLst>
              <a:ext uri="{FF2B5EF4-FFF2-40B4-BE49-F238E27FC236}">
                <a16:creationId xmlns:a16="http://schemas.microsoft.com/office/drawing/2014/main" id="{7D5BDDFC-918D-FEF2-9FC5-6A5379894BE6}"/>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extLst>
      <p:ext uri="{BB962C8B-B14F-4D97-AF65-F5344CB8AC3E}">
        <p14:creationId xmlns:p14="http://schemas.microsoft.com/office/powerpoint/2010/main" val="777162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2192000" cy="233045"/>
          </a:xfrm>
          <a:custGeom>
            <a:avLst/>
            <a:gdLst/>
            <a:ahLst/>
            <a:cxnLst/>
            <a:rect l="l" t="t" r="r" b="b"/>
            <a:pathLst>
              <a:path w="12192000" h="233045">
                <a:moveTo>
                  <a:pt x="12191759" y="232559"/>
                </a:moveTo>
                <a:lnTo>
                  <a:pt x="0" y="232559"/>
                </a:lnTo>
                <a:lnTo>
                  <a:pt x="0" y="0"/>
                </a:lnTo>
                <a:lnTo>
                  <a:pt x="12191759" y="0"/>
                </a:lnTo>
                <a:lnTo>
                  <a:pt x="12191759" y="232559"/>
                </a:lnTo>
                <a:close/>
              </a:path>
            </a:pathLst>
          </a:custGeom>
          <a:solidFill>
            <a:srgbClr val="006666"/>
          </a:solidFill>
        </p:spPr>
        <p:txBody>
          <a:bodyPr wrap="square" lIns="0" tIns="0" rIns="0" bIns="0" rtlCol="0"/>
          <a:lstStyle/>
          <a:p>
            <a:endParaRPr/>
          </a:p>
        </p:txBody>
      </p:sp>
      <p:sp>
        <p:nvSpPr>
          <p:cNvPr id="5" name="object 5"/>
          <p:cNvSpPr txBox="1">
            <a:spLocks noGrp="1"/>
          </p:cNvSpPr>
          <p:nvPr>
            <p:ph type="ftr" sz="quarter" idx="5"/>
          </p:nvPr>
        </p:nvSpPr>
        <p:spPr>
          <a:xfrm>
            <a:off x="149031" y="6629427"/>
            <a:ext cx="635000" cy="230832"/>
          </a:xfrm>
          <a:prstGeom prst="rect">
            <a:avLst/>
          </a:prstGeom>
        </p:spPr>
        <p:txBody>
          <a:bodyPr vert="horz" wrap="square" lIns="0" tIns="0" rIns="0" bIns="0" rtlCol="0">
            <a:spAutoFit/>
          </a:bodyPr>
          <a:lstStyle/>
          <a:p>
            <a:pPr marL="12700">
              <a:lnSpc>
                <a:spcPts val="1845"/>
              </a:lnSpc>
            </a:pPr>
            <a:r>
              <a:rPr dirty="0"/>
              <a:t>A</a:t>
            </a:r>
            <a:r>
              <a:rPr spc="-10" dirty="0"/>
              <a:t> </a:t>
            </a:r>
            <a:r>
              <a:rPr lang="en-IN" dirty="0"/>
              <a:t>-</a:t>
            </a:r>
            <a:r>
              <a:rPr spc="-5" dirty="0"/>
              <a:t> </a:t>
            </a:r>
            <a:r>
              <a:rPr lang="en-IN" spc="-25" dirty="0"/>
              <a:t>06</a:t>
            </a:r>
            <a:endParaRPr spc="-25" dirty="0"/>
          </a:p>
        </p:txBody>
      </p:sp>
      <p:sp>
        <p:nvSpPr>
          <p:cNvPr id="6" name="object 6"/>
          <p:cNvSpPr txBox="1">
            <a:spLocks noGrp="1"/>
          </p:cNvSpPr>
          <p:nvPr>
            <p:ph type="dt" sz="half" idx="6"/>
          </p:nvPr>
        </p:nvSpPr>
        <p:spPr>
          <a:xfrm>
            <a:off x="1773948" y="6629559"/>
            <a:ext cx="4017251" cy="230832"/>
          </a:xfrm>
          <a:prstGeom prst="rect">
            <a:avLst/>
          </a:prstGeom>
        </p:spPr>
        <p:txBody>
          <a:bodyPr vert="horz" wrap="square" lIns="0" tIns="0" rIns="0" bIns="0" rtlCol="0">
            <a:spAutoFit/>
          </a:bodyPr>
          <a:lstStyle/>
          <a:p>
            <a:pPr marL="12700">
              <a:lnSpc>
                <a:spcPts val="1845"/>
              </a:lnSpc>
            </a:pPr>
            <a:r>
              <a:rPr cap="small" spc="-75" dirty="0"/>
              <a:t>Dept.</a:t>
            </a:r>
            <a:r>
              <a:rPr cap="small" spc="-10" dirty="0"/>
              <a:t> </a:t>
            </a:r>
            <a:r>
              <a:rPr cap="small" spc="-100" dirty="0"/>
              <a:t>of</a:t>
            </a:r>
            <a:r>
              <a:rPr cap="small" spc="50" dirty="0"/>
              <a:t> </a:t>
            </a:r>
            <a:r>
              <a:rPr cap="small" spc="-114" dirty="0"/>
              <a:t>Computer</a:t>
            </a:r>
            <a:r>
              <a:rPr cap="small" spc="60" dirty="0"/>
              <a:t> </a:t>
            </a:r>
            <a:r>
              <a:rPr cap="small" spc="-95" dirty="0"/>
              <a:t>Science</a:t>
            </a:r>
            <a:r>
              <a:rPr cap="small" spc="55" dirty="0"/>
              <a:t> </a:t>
            </a:r>
            <a:r>
              <a:rPr cap="small" spc="-130" dirty="0"/>
              <a:t>and</a:t>
            </a:r>
            <a:r>
              <a:rPr cap="small" spc="55" dirty="0"/>
              <a:t> </a:t>
            </a:r>
            <a:r>
              <a:rPr cap="small" spc="-130" dirty="0"/>
              <a:t>Engineering</a:t>
            </a:r>
          </a:p>
        </p:txBody>
      </p:sp>
      <p:sp>
        <p:nvSpPr>
          <p:cNvPr id="7" name="object 7"/>
          <p:cNvSpPr txBox="1"/>
          <p:nvPr/>
        </p:nvSpPr>
        <p:spPr>
          <a:xfrm>
            <a:off x="7147541" y="6629197"/>
            <a:ext cx="413005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24</a:t>
            </a:fld>
            <a:endParaRPr spc="-25" dirty="0"/>
          </a:p>
        </p:txBody>
      </p:sp>
      <p:sp>
        <p:nvSpPr>
          <p:cNvPr id="4" name="object 4"/>
          <p:cNvSpPr txBox="1">
            <a:spLocks noGrp="1"/>
          </p:cNvSpPr>
          <p:nvPr>
            <p:ph type="title"/>
          </p:nvPr>
        </p:nvSpPr>
        <p:spPr>
          <a:xfrm>
            <a:off x="2705705" y="2352272"/>
            <a:ext cx="6692265" cy="1488440"/>
          </a:xfrm>
          <a:prstGeom prst="rect">
            <a:avLst/>
          </a:prstGeom>
        </p:spPr>
        <p:txBody>
          <a:bodyPr vert="horz" wrap="square" lIns="0" tIns="12700" rIns="0" bIns="0" rtlCol="0">
            <a:spAutoFit/>
          </a:bodyPr>
          <a:lstStyle/>
          <a:p>
            <a:pPr marL="12700">
              <a:lnSpc>
                <a:spcPct val="100000"/>
              </a:lnSpc>
              <a:spcBef>
                <a:spcPts val="100"/>
              </a:spcBef>
            </a:pPr>
            <a:r>
              <a:rPr sz="9600" i="1" dirty="0">
                <a:solidFill>
                  <a:srgbClr val="FF6600"/>
                </a:solidFill>
                <a:latin typeface="Times New Roman"/>
                <a:cs typeface="Times New Roman"/>
              </a:rPr>
              <a:t>Any</a:t>
            </a:r>
            <a:r>
              <a:rPr sz="9600" i="1" spc="-30" dirty="0">
                <a:solidFill>
                  <a:srgbClr val="FF6600"/>
                </a:solidFill>
                <a:latin typeface="Times New Roman"/>
                <a:cs typeface="Times New Roman"/>
              </a:rPr>
              <a:t> </a:t>
            </a:r>
            <a:r>
              <a:rPr sz="9600" i="1" spc="-10" dirty="0">
                <a:solidFill>
                  <a:srgbClr val="FF6600"/>
                </a:solidFill>
                <a:latin typeface="Times New Roman"/>
                <a:cs typeface="Times New Roman"/>
              </a:rPr>
              <a:t>Queries?</a:t>
            </a:r>
            <a:endParaRPr sz="9600">
              <a:latin typeface="Times New Roman"/>
              <a:cs typeface="Times New Roman"/>
            </a:endParaRPr>
          </a:p>
        </p:txBody>
      </p:sp>
      <p:sp>
        <p:nvSpPr>
          <p:cNvPr id="9" name="object 2">
            <a:extLst>
              <a:ext uri="{FF2B5EF4-FFF2-40B4-BE49-F238E27FC236}">
                <a16:creationId xmlns:a16="http://schemas.microsoft.com/office/drawing/2014/main" id="{1FB95357-1AC8-3787-8BDD-A655931299CF}"/>
              </a:ext>
            </a:extLst>
          </p:cNvPr>
          <p:cNvSpPr txBox="1"/>
          <p:nvPr/>
        </p:nvSpPr>
        <p:spPr>
          <a:xfrm>
            <a:off x="2628899" y="-38247"/>
            <a:ext cx="63246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AI-Based Personal Finance Manager with Smart Expense Prediction System</a:t>
            </a:r>
            <a:endParaRPr sz="15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1998</TotalTime>
  <Words>2231</Words>
  <Application>Microsoft Office PowerPoint</Application>
  <PresentationFormat>Widescreen</PresentationFormat>
  <Paragraphs>315</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Lucida Sans Unicode</vt:lpstr>
      <vt:lpstr>Noto Sans Symbols</vt:lpstr>
      <vt:lpstr>Times New Roman</vt:lpstr>
      <vt:lpstr>Wingdings</vt:lpstr>
      <vt:lpstr>Office Theme</vt:lpstr>
      <vt:lpstr>PowerPoint Presentation</vt:lpstr>
      <vt:lpstr>Comments </vt:lpstr>
      <vt:lpstr>Contents </vt:lpstr>
      <vt:lpstr>Abstract</vt:lpstr>
      <vt:lpstr>Introduction</vt:lpstr>
      <vt:lpstr>PowerPoint Presentation</vt:lpstr>
      <vt:lpstr>Existing System</vt:lpstr>
      <vt:lpstr>Proposed System</vt:lpstr>
      <vt:lpstr>Proposed System</vt:lpstr>
      <vt:lpstr>Planning</vt:lpstr>
      <vt:lpstr>Design </vt:lpstr>
      <vt:lpstr>Design </vt:lpstr>
      <vt:lpstr>Design </vt:lpstr>
      <vt:lpstr>Design </vt:lpstr>
      <vt:lpstr>Design </vt:lpstr>
      <vt:lpstr>UML diagram of Use Case</vt:lpstr>
      <vt:lpstr>UML diagram of Class</vt:lpstr>
      <vt:lpstr>PowerPoint Presentation</vt:lpstr>
      <vt:lpstr>Outputs</vt:lpstr>
      <vt:lpstr>Research Paper </vt:lpstr>
      <vt:lpstr>References</vt:lpstr>
      <vt:lpstr>PowerPoint Presentation</vt:lpstr>
      <vt:lpstr>Thank You!!!</vt:lpstr>
      <vt:lpstr>Any Queries?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Hemanth Kumar</dc:creator>
  <cp:lastModifiedBy>Hemanth Kumar</cp:lastModifiedBy>
  <cp:revision>92</cp:revision>
  <dcterms:created xsi:type="dcterms:W3CDTF">2025-12-04T07:04:46Z</dcterms:created>
  <dcterms:modified xsi:type="dcterms:W3CDTF">2026-07-10T21:09:52Z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2025-12-04T00:00:00Z</vt:filetime>
  </property>
  <property fmtid="{D5CDD505-2E9C-101B-9397-08002B2CF9AE}" pid="3" name="Creator">
    <vt:lpwstr>Google</vt:lpwstr>
  </property>
  <property fmtid="{D5CDD505-2E9C-101B-9397-08002B2CF9AE}" pid="4" name="LastSaved">
    <vt:filetime>2025-12-04T00:00:00Z</vt:filetime>
  </property>
</Properties>
</file>