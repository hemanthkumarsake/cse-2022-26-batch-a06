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8" r:id="rId13"/>
    <p:sldId id="269" r:id="rId14"/>
    <p:sldId id="270" r:id="rId15"/>
    <p:sldId id="271" r:id="rId16"/>
    <p:sldId id="275" r:id="rId17"/>
    <p:sldId id="276" r:id="rId18"/>
    <p:sldId id="272" r:id="rId19"/>
    <p:sldId id="273" r:id="rId20"/>
    <p:sldId id="267" r:id="rId21"/>
    <p:sldId id="26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69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5:27:4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486BD-0CDD-4D05-BE6D-30FDC2FD2F3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DD3BB-8524-40C8-A9B6-19FD67623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DD3BB-8524-40C8-A9B6-19FD676231C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79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20"/>
            <a:chOff x="777240" y="6634440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51746" y="1665226"/>
            <a:ext cx="3674597" cy="4238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US" sz="2400" dirty="0">
                <a:latin typeface="Times New Roman"/>
                <a:cs typeface="Times New Roman"/>
              </a:rPr>
              <a:t>B. JAHNAV ARJUN GOWD</a:t>
            </a:r>
            <a:endParaRPr sz="240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</a:t>
            </a:r>
            <a:r>
              <a:rPr lang="en-US" sz="1100" spc="-10" dirty="0">
                <a:latin typeface="Times New Roman"/>
                <a:cs typeface="Times New Roman"/>
              </a:rPr>
              <a:t>2</a:t>
            </a:r>
            <a:r>
              <a:rPr sz="1100" spc="-10" dirty="0">
                <a:latin typeface="Times New Roman"/>
                <a:cs typeface="Times New Roman"/>
              </a:rPr>
              <a:t>4G1A05</a:t>
            </a:r>
            <a:r>
              <a:rPr lang="en-US" sz="1100" spc="-10" dirty="0">
                <a:latin typeface="Times New Roman"/>
                <a:cs typeface="Times New Roman"/>
              </a:rPr>
              <a:t>32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1823" y="2322009"/>
            <a:ext cx="3382017" cy="9013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US" sz="2400" dirty="0">
                <a:latin typeface="Times New Roman"/>
                <a:cs typeface="Times New Roman"/>
              </a:rPr>
              <a:t>Mr. P. SHAJAHAN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kumimoji="0" lang="en-IN" sz="14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M.Tech</a:t>
            </a:r>
            <a:r>
              <a:rPr kumimoji="0" lang="en-IN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Assistant Professor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3948" y="5032471"/>
            <a:ext cx="8706312" cy="16369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lang="en-US" sz="2200" dirty="0">
                <a:latin typeface="Times New Roman"/>
                <a:cs typeface="Times New Roman"/>
              </a:rPr>
              <a:t>Department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of</a:t>
            </a:r>
            <a:r>
              <a:rPr lang="en-US" sz="2200" spc="-1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Computer</a:t>
            </a:r>
            <a:r>
              <a:rPr lang="en-US" sz="2200" spc="-1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Science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and</a:t>
            </a:r>
            <a:r>
              <a:rPr lang="en-US" sz="2200" spc="-1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Engineering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 dirty="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 dirty="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lang="en-IN" sz="1200" b="1" dirty="0" err="1">
                <a:latin typeface="Times New Roman"/>
                <a:cs typeface="Times New Roman"/>
              </a:rPr>
              <a:t>Rotarypuram</a:t>
            </a:r>
            <a:r>
              <a:rPr lang="en-IN" sz="1200" b="1" dirty="0">
                <a:latin typeface="Times New Roman"/>
                <a:cs typeface="Times New Roman"/>
              </a:rPr>
              <a:t> Village, B K </a:t>
            </a:r>
            <a:r>
              <a:rPr lang="en-IN" sz="1200" b="1" dirty="0" err="1">
                <a:latin typeface="Times New Roman"/>
                <a:cs typeface="Times New Roman"/>
              </a:rPr>
              <a:t>Samudram</a:t>
            </a:r>
            <a:r>
              <a:rPr lang="en-IN" sz="1200" b="1" dirty="0">
                <a:latin typeface="Times New Roman"/>
                <a:cs typeface="Times New Roman"/>
              </a:rPr>
              <a:t> Mandal, </a:t>
            </a:r>
            <a:r>
              <a:rPr lang="en-IN" sz="1200" b="1" dirty="0" err="1">
                <a:latin typeface="Times New Roman"/>
                <a:cs typeface="Times New Roman"/>
              </a:rPr>
              <a:t>Ananthapuramu</a:t>
            </a:r>
            <a:r>
              <a:rPr lang="en-IN" sz="1200" b="1" dirty="0">
                <a:latin typeface="Times New Roman"/>
                <a:cs typeface="Times New Roman"/>
              </a:rPr>
              <a:t> – 515701.</a:t>
            </a:r>
          </a:p>
          <a:p>
            <a:pPr marL="7620" algn="ctr">
              <a:lnSpc>
                <a:spcPts val="1370"/>
              </a:lnSpc>
            </a:pPr>
            <a:r>
              <a:rPr lang="en-IN" sz="1200" b="1" dirty="0">
                <a:latin typeface="Times New Roman"/>
                <a:cs typeface="Times New Roman"/>
              </a:rPr>
              <a:t>Accredited by NBA &amp; NAAC with “A” Grade, Affiliated to JNTUA, </a:t>
            </a:r>
            <a:r>
              <a:rPr lang="en-IN" sz="1200" b="1" dirty="0" err="1">
                <a:latin typeface="Times New Roman"/>
                <a:cs typeface="Times New Roman"/>
              </a:rPr>
              <a:t>Ananthapuramu</a:t>
            </a:r>
            <a:r>
              <a:rPr lang="en-IN" sz="1200" b="1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US"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5</a:t>
            </a: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</a:t>
            </a:r>
            <a:r>
              <a:rPr lang="en-IN"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26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4032" y="1650399"/>
            <a:ext cx="3358472" cy="46358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sz="2600" dirty="0">
                <a:latin typeface="Times New Roman"/>
                <a:cs typeface="Times New Roman"/>
              </a:rPr>
              <a:t>S. HEMANTH KUMAR</a:t>
            </a:r>
            <a:endParaRPr sz="2600" dirty="0">
              <a:latin typeface="Times New Roman"/>
              <a:cs typeface="Times New Roman"/>
            </a:endParaRPr>
          </a:p>
          <a:p>
            <a:pPr marL="1270" algn="ctr">
              <a:lnSpc>
                <a:spcPts val="1060"/>
              </a:lnSpc>
            </a:pPr>
            <a:r>
              <a:rPr sz="1300" dirty="0">
                <a:latin typeface="Times New Roman"/>
                <a:cs typeface="Times New Roman"/>
              </a:rPr>
              <a:t>Roll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No.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lang="en-US" sz="1300" spc="-10" dirty="0">
                <a:latin typeface="Times New Roman"/>
                <a:cs typeface="Times New Roman"/>
              </a:rPr>
              <a:t>2</a:t>
            </a:r>
            <a:r>
              <a:rPr sz="1300" spc="-10" dirty="0">
                <a:latin typeface="Times New Roman"/>
                <a:cs typeface="Times New Roman"/>
              </a:rPr>
              <a:t>24G1A05</a:t>
            </a:r>
            <a:r>
              <a:rPr lang="en-US" sz="1300" spc="-10" dirty="0">
                <a:latin typeface="Times New Roman"/>
                <a:cs typeface="Times New Roman"/>
              </a:rPr>
              <a:t>28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35585" y="1648911"/>
            <a:ext cx="1844675" cy="424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. PAVAN</a:t>
            </a:r>
            <a:endParaRPr sz="240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lang="en-US" sz="1100" spc="-10" dirty="0">
                <a:latin typeface="Times New Roman"/>
                <a:cs typeface="Times New Roman"/>
              </a:rPr>
              <a:t>22</a:t>
            </a:r>
            <a:r>
              <a:rPr sz="1100" spc="-10" dirty="0">
                <a:latin typeface="Times New Roman"/>
                <a:cs typeface="Times New Roman"/>
              </a:rPr>
              <a:t>4G1A05</a:t>
            </a:r>
            <a:r>
              <a:rPr lang="en-US" sz="1100" spc="-10" dirty="0">
                <a:latin typeface="Times New Roman"/>
                <a:cs typeface="Times New Roman"/>
              </a:rPr>
              <a:t>67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08692" y="561533"/>
            <a:ext cx="11664308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dirty="0"/>
              <a:t>AI-Based Personal Finance Manager with Smart Expense Prediction System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2311" y="3291712"/>
            <a:ext cx="1527378" cy="1685486"/>
          </a:xfrm>
          <a:prstGeom prst="rect">
            <a:avLst/>
          </a:prstGeom>
        </p:spPr>
      </p:pic>
      <p:sp>
        <p:nvSpPr>
          <p:cNvPr id="22" name="object 8">
            <a:extLst>
              <a:ext uri="{FF2B5EF4-FFF2-40B4-BE49-F238E27FC236}">
                <a16:creationId xmlns:a16="http://schemas.microsoft.com/office/drawing/2014/main" id="{FEE95ADA-7FE8-42A2-741D-DF6198D0167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92DC7436-16E1-998A-2673-3CD60CBA08D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172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cap="small" spc="-75" dirty="0"/>
              <a:t>Dept.</a:t>
            </a:r>
            <a:r>
              <a:rPr lang="en-US" cap="small" spc="-10" dirty="0"/>
              <a:t> </a:t>
            </a:r>
            <a:r>
              <a:rPr lang="en-US" cap="small" spc="-100" dirty="0"/>
              <a:t>of</a:t>
            </a:r>
            <a:r>
              <a:rPr lang="en-US" cap="small" spc="50" dirty="0"/>
              <a:t> </a:t>
            </a:r>
            <a:r>
              <a:rPr lang="en-US" cap="small" spc="-114" dirty="0"/>
              <a:t>Computer</a:t>
            </a:r>
            <a:r>
              <a:rPr lang="en-US" cap="small" spc="60" dirty="0"/>
              <a:t> </a:t>
            </a:r>
            <a:r>
              <a:rPr lang="en-US" cap="small" spc="-95" dirty="0"/>
              <a:t>Science</a:t>
            </a:r>
            <a:r>
              <a:rPr lang="en-US" cap="small" spc="55" dirty="0"/>
              <a:t> </a:t>
            </a:r>
            <a:r>
              <a:rPr lang="en-US" cap="small" spc="-130" dirty="0"/>
              <a:t>and</a:t>
            </a:r>
            <a:r>
              <a:rPr lang="en-US" cap="small" spc="55" dirty="0"/>
              <a:t> </a:t>
            </a:r>
            <a:r>
              <a:rPr lang="en-US" cap="small" spc="-130" dirty="0"/>
              <a:t>Engineering</a:t>
            </a:r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FE8984DC-A1BF-E526-76FD-E9A0AAB77F19}"/>
              </a:ext>
            </a:extLst>
          </p:cNvPr>
          <p:cNvSpPr txBox="1"/>
          <p:nvPr/>
        </p:nvSpPr>
        <p:spPr>
          <a:xfrm>
            <a:off x="7147541" y="6629197"/>
            <a:ext cx="42062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D8B793AA-916F-2AFA-5718-0EEB95EE9EC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587057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From Review 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172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2062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6" y="989990"/>
            <a:ext cx="10037414" cy="21031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spcBef>
                <a:spcPts val="760"/>
              </a:spcBef>
              <a:buFontTx/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main objective of this project?</a:t>
            </a:r>
          </a:p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system predict future expenses?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type of users can use this application?</a:t>
            </a: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What services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provided by this application?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sym typeface="+mn-ea"/>
              </a:rPr>
              <a:t>Title Explanation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172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2062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24C31-CA33-3AA0-F6AC-3F8332B657C5}"/>
              </a:ext>
            </a:extLst>
          </p:cNvPr>
          <p:cNvSpPr txBox="1"/>
          <p:nvPr/>
        </p:nvSpPr>
        <p:spPr>
          <a:xfrm>
            <a:off x="149031" y="981580"/>
            <a:ext cx="11872814" cy="561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“AI-Based Personal Finance Manager with Smart Expense Prediction System”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web-based application designed to manage personal finances efficiently using artificial intelligence and machine learning.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use of Artificial Intelligence and Machine Learning techniques to analyze user financial data, identify spending patterns, and provide intelligent predictions and insights.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 Manager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a digital platform that helps users track expenses, manage budgets, monitor savings goals, analyze spending patterns, and generate financial reports in an organized manner.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Expense Prediction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 system predicts future expense amounts based on historical spending behavior, budget limits, and usage patterns, helping users plan finances and avoid overspending.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D73C84D-790A-49A3-E600-A9B7BAEEEF88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030" y="245459"/>
            <a:ext cx="267036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0538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289E10-C778-97C5-3BEF-64F0215EEA35}"/>
              </a:ext>
            </a:extLst>
          </p:cNvPr>
          <p:cNvSpPr txBox="1"/>
          <p:nvPr/>
        </p:nvSpPr>
        <p:spPr>
          <a:xfrm>
            <a:off x="533400" y="1266702"/>
            <a:ext cx="10798369" cy="409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2280" lvl="0" indent="-462280" algn="just">
              <a:lnSpc>
                <a:spcPct val="90000"/>
              </a:lnSpc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Datasets/Modules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62280" lvl="0" indent="-46228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5B157D4-B5AD-AEDD-C57B-B9212F9250C1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sym typeface="+mn-ea"/>
              </a:rPr>
              <a:t>Abstract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389127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B098F-2EEB-E3B6-D749-B5552382089A}"/>
              </a:ext>
            </a:extLst>
          </p:cNvPr>
          <p:cNvSpPr txBox="1"/>
          <p:nvPr/>
        </p:nvSpPr>
        <p:spPr>
          <a:xfrm>
            <a:off x="488562" y="1073971"/>
            <a:ext cx="10941438" cy="488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AI-Based Personal Finance Manager to help users analyze expenses, manage budgets, and track savings using intelligent financial analytics.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personal finance applications mainly record past expenses and do not provide intelligent expense analysis, future spending prediction, or proactive financial insights.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machine learning regression techniques to analyze historical expense data along with user budget information and spending patterns to predict future expenses.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provides predicted expense values, budget usage analysis, and alert notifications that help users control overspending and plan finances effectively.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expense analysis with AI-based prediction, the system supports smarter financial decision-making and improves overall personal money management.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A56B9614-B502-B532-A454-AD5004FB3034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sym typeface="+mn-ea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2824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10147-AAFE-44E0-90DF-57091E7D7810}"/>
              </a:ext>
            </a:extLst>
          </p:cNvPr>
          <p:cNvSpPr txBox="1"/>
          <p:nvPr/>
        </p:nvSpPr>
        <p:spPr>
          <a:xfrm>
            <a:off x="696815" y="1192288"/>
            <a:ext cx="107983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designed to develop an AI-Based Personal Finance Manager with Smart Expense Prediction System for analyzing and managing personal expenses.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record daily expenses, categorize spending, set budgets, and track savings goals digitally.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user spending patterns and provides insights to control overspending and manage finances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techniques, the application predicts future expenses based on historical spending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centralized and intelligent platform to support better financial planning and decision-making.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4ACF158-DE06-EDE9-EEAE-2A4D2D0E1769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6599" y="221612"/>
            <a:ext cx="7165975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+mn-ea"/>
              </a:rPr>
              <a:t>Software Requirements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76530">
              <a:lnSpc>
                <a:spcPct val="100000"/>
              </a:lnSpc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773948" y="6629558"/>
            <a:ext cx="389127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47541" y="6629197"/>
            <a:ext cx="40538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1B07E8F8-9C4B-AD4B-1A8F-1B16E532DCFB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DC333-82C1-58F0-6FA4-DCBFA3BD23A2}"/>
              </a:ext>
            </a:extLst>
          </p:cNvPr>
          <p:cNvSpPr txBox="1"/>
          <p:nvPr/>
        </p:nvSpPr>
        <p:spPr>
          <a:xfrm>
            <a:off x="466531" y="1193049"/>
            <a:ext cx="1098253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HTML, CSS, JavaScript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Bootstrap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Python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Django Framework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SQLite 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Logic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(Regression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Models)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sym typeface="+mn-ea"/>
              </a:rPr>
              <a:t>Datasets/Modules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39410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735FF-BBB5-6D8E-47E3-5A04AED2F3BB}"/>
              </a:ext>
            </a:extLst>
          </p:cNvPr>
          <p:cNvSpPr txBox="1"/>
          <p:nvPr/>
        </p:nvSpPr>
        <p:spPr>
          <a:xfrm>
            <a:off x="466531" y="1054277"/>
            <a:ext cx="10798369" cy="530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User Expense Dataset</a:t>
            </a:r>
            <a:endParaRPr lang="en-IN" sz="2200" dirty="0">
              <a:solidFill>
                <a:prstClr val="black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Fields: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ID, User ID, Expense Category, Amount, Date, Month, Payment Mode, Description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Purpose: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expense records and serves as the primary dataset for expense tracking and analysis.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Budget Dataset</a:t>
            </a:r>
            <a:endParaRPr lang="en-IN" sz="2200" dirty="0">
              <a:solidFill>
                <a:prstClr val="black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Fields: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ID, User ID, Category, Monthly Budget Limit, Spent Amount, Remaining Amount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Purpose: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budget details and supports budget monitoring and alert generation.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Expense Prediction Dataset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Fields: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ID, User ID, Expense Category, Month, Payment Mode, Budget Limit, Historical Average, Predicted Amount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Purpose: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train and test Machine Learning models for predicting future expense amounts.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72A052D-21F1-2542-F7FA-CDD37594DE72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55FE-AE9F-8B2E-76F1-1E062AA7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0E8B817D-8F26-56FD-F7AC-435A50E60B50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D2DFB73-701F-95C7-421A-3F6320BA013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4EF3A74-09AE-C228-1853-CC13AA72FAA4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D95A507-1E95-6D60-A3CC-70E70EC7F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sym typeface="+mn-ea"/>
              </a:rPr>
              <a:t>Datasets/Modules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5B92848-287C-5105-9E61-C49868C142B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BF94955-4AFA-07D0-7C1A-38B5DDA349A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39410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810E3EF-CF98-4B60-9D23-D074363296DD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0DFB4C9-24BD-F3F3-FC85-A475ED3C98F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761F4-9EB9-B0BE-706C-10FD5E3C33FF}"/>
              </a:ext>
            </a:extLst>
          </p:cNvPr>
          <p:cNvSpPr txBox="1"/>
          <p:nvPr/>
        </p:nvSpPr>
        <p:spPr>
          <a:xfrm>
            <a:off x="510333" y="1583761"/>
            <a:ext cx="10798369" cy="297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Savings Goal Dataset</a:t>
            </a:r>
            <a:endParaRPr lang="en-IN" sz="2200" dirty="0">
              <a:solidFill>
                <a:prstClr val="black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Fields: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ID, User ID, Goal Name, Target Amount, Saved Amount, Deadline, Status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Purpose: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savings goals and monitors progress toward financial targets.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Group Dataset</a:t>
            </a:r>
            <a:endParaRPr lang="en-IN" sz="2200" dirty="0">
              <a:solidFill>
                <a:prstClr val="black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Fields: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Group ID, Group Name, Created By (User ID), Created Date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Purpose:</a:t>
            </a: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Stores family or group details and supports shared expense management.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8C4A53E-2ADE-087C-6063-1F3DDA48B102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7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473900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Implementation</a:t>
            </a:r>
            <a:br>
              <a:rPr lang="en-IN" dirty="0"/>
            </a:b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39410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42062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07F0E128-56BB-D1A1-1DC4-BCBD8590181E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03D66A-076A-F586-54DC-6BC8FA7D2B5C}"/>
              </a:ext>
            </a:extLst>
          </p:cNvPr>
          <p:cNvSpPr/>
          <p:nvPr/>
        </p:nvSpPr>
        <p:spPr>
          <a:xfrm>
            <a:off x="9185988" y="5552060"/>
            <a:ext cx="29718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2F08BCF-33C4-FA7A-D27F-219DD239B8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417" y="987345"/>
            <a:ext cx="5105088" cy="272005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13450D0-F7C2-26BD-5AAD-338552BA0B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0592" y="987344"/>
            <a:ext cx="5110083" cy="272005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69E47D9-4C98-C15D-A353-999BE89754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894" y="3799128"/>
            <a:ext cx="5202133" cy="277989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6EEBD99-9836-BE70-8212-0917CF0030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0768" y="3799128"/>
            <a:ext cx="5169732" cy="27491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19784B8-30A9-9392-B75B-18A174CB1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1259" y="2172521"/>
            <a:ext cx="4130059" cy="44525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UML diagram of Use Case</a:t>
            </a:r>
            <a:endParaRPr lang="en-IN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531969D9-679C-1AB3-033D-75458D134BD0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64A9A6-C8F6-38B7-F24F-036A85E86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4" y="1009793"/>
            <a:ext cx="11164426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platform to manage personal financial activities between Users and Admins using AI-based insights and expense prediction.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Role: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to the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personal expenses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budgets and savings goals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expense reports and financial insights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 AI-based expense predictions and recommendations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Role: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group (Family / Group Mode)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or remove members from the group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all group members’ expenses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who spent on what within the group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total group spending and shared budgets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653B-2FB1-BA00-E08D-D02472B4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33E2A95-00B2-6CFF-F4A1-66D14C633C8C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6F3382E7-3123-5F99-2396-AA9651010C87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C86910F-D9E8-4F5E-3138-A47170679A5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4A9BC98-1B72-5B70-594F-58A8F3150F26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1797D3E-E594-EF9C-A0B6-00E0C396C9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UML diagram of Class</a:t>
            </a: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E96278C-B640-0B7C-A225-DC227F415AD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06CDE3D-510D-B457-B804-6F7C0309F70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1729E32-CE83-1EE4-790C-1929F1271EDD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F74FDDA-DC5B-1FA5-132F-4BCF917D21C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417C2B61-AD84-2E85-3087-720D4C9D3657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14CB411F-F418-AE38-6EA5-3B2ECA7110B1}"/>
              </a:ext>
            </a:extLst>
          </p:cNvPr>
          <p:cNvSpPr txBox="1"/>
          <p:nvPr/>
        </p:nvSpPr>
        <p:spPr>
          <a:xfrm>
            <a:off x="-48577" y="878284"/>
            <a:ext cx="12011977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the static structure of the system showing classes, attributes, and methods.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Class: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username, email, password.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individual using the system.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Class (Family Mode):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group_name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created_by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family or shared expense group.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Class: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amount, date.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personal and group expenses.</a:t>
            </a:r>
          </a:p>
          <a:p>
            <a:pPr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Class: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limit,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spent_amount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tracking and controlling expenses.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Class: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predicted_amount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0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smart expense prediction output.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F65AF-3583-0052-D50E-132B25FDC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0684" y="1752600"/>
            <a:ext cx="4130059" cy="388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4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B7B5-F495-DB5B-785C-1F9AA4A2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1B31A7D-4502-0348-33A5-AA2D25CD97D5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0B95BDE-C71B-2A11-0173-08FE5FC9A918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777466B-3D46-611B-5D04-4E21A65492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5B67E16-529A-9209-2124-001B1E57AEF7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02E85FF-9194-1CE3-AF48-08E2B0245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UML diagram of Sequence</a:t>
            </a: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7F79808-7EFF-5ACE-B092-A60F0A9B152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37906CD-70D8-C402-A459-ACA103FDDC0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083183C-9E3F-B589-63D7-1F2D0BE38E76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41B4A68-1AA7-2EF0-BB18-1D4342C53D9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87255671-4C61-99CF-98C4-8553034C9D6C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6B7FCD-B8AA-691A-0992-D6AF31284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11" y="915888"/>
            <a:ext cx="11858657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the sequence of interactions between User and System over time in the AI-Based Personal Finance Manager.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Sequence: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data collection and Data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for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amount prediction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Sequence: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expense / provide input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predicted expense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Flow: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initiates requests through the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processes expense data using ML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expense result is generated and sent back to the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7BD199-88A6-AA7F-2FCE-E104AC6A9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19800" y="1828800"/>
            <a:ext cx="5867401" cy="4167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5311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920A-4D4D-5966-F2F8-B79D0B99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48CAB40-F480-6D87-E9CB-63DC53D1BE2C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8EB660D6-E907-8131-E653-B50E2202CE18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9CBAAC0-59CC-07DB-78FC-3A02C963016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67706A3-9F96-962E-283F-83BCC6B64049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07D7C1-9FBE-C45C-54B7-D1BCB50266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923099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UML diagram of Activity &amp; Component</a:t>
            </a: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CC43DEA-BBB8-7C0B-67DB-79721BEABA4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2B5406C-D37B-3ACF-1BA9-9681EB53000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0B44539-EFEF-BF49-8159-D2DB306AE579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963633E-EAF0-163D-0DB5-0FB817015C7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6E3A7EC1-3D56-A51B-591A-9C26A8D14023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EC8FF327-7556-D6F1-93AB-F3CFDC67BF74}"/>
              </a:ext>
            </a:extLst>
          </p:cNvPr>
          <p:cNvSpPr txBox="1"/>
          <p:nvPr/>
        </p:nvSpPr>
        <p:spPr>
          <a:xfrm>
            <a:off x="73026" y="897137"/>
            <a:ext cx="9985374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50800" indent="0" algn="l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step-by-step flow of user actions in the AI-Based Personal Finance Manager.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with user login or registration.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adding expenses, categorizing spending, and updating predictions.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budget monitoring and alert generation when limits are exceeded.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Ends with report generation and user logout.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 algn="l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</a:p>
          <a:p>
            <a:pPr marL="3937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high-level system architecture of </a:t>
            </a:r>
          </a:p>
          <a:p>
            <a:pPr marL="342000"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application.</a:t>
            </a:r>
          </a:p>
          <a:p>
            <a:pPr marL="3937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User Interface, Backend Server, AI Processing Module, and Database.</a:t>
            </a:r>
          </a:p>
          <a:p>
            <a:pPr marL="3937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interaction between frontend, AI services, and backend logic.</a:t>
            </a:r>
          </a:p>
          <a:p>
            <a:pPr marL="393700" indent="-342900" algn="l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system integration and data flow for expense prediction and management.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4950C2-E8B9-4D71-5E93-1A303C344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864" y="985691"/>
            <a:ext cx="1989136" cy="49579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5A9A94-655E-0619-B697-39688B682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76600"/>
            <a:ext cx="3883027" cy="141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23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E670-8E69-D5F2-93B3-04A488A1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7BDB0C-9C2F-11C9-DE09-A5396C0E0E93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EDB65BB1-4731-F25B-4F30-95A1A55F2B1E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1BAF141-1341-B4C1-40FD-9033B8A6B7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1DEAA90-B5FF-C992-0DB5-B072329B3865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B468662-54CA-ECA6-B6E3-9F8BC4C44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923099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Outputs</a:t>
            </a: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DA27F62-2F8F-3080-6DCC-1A18E67AF17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430D5E4-08CA-269A-D767-B5D0CA8A3DB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CBD91A8-7A13-4515-6AEB-851CF6670814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FAE9AA4-7381-50A0-CF5A-BF7D88F415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CEFED2FE-EE8F-2848-30B7-BC36F959DCF4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BD22D7-C1CD-0E63-8833-4A6F9C446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" r="47"/>
          <a:stretch/>
        </p:blipFill>
        <p:spPr>
          <a:xfrm>
            <a:off x="882219" y="1371600"/>
            <a:ext cx="10427562" cy="476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38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AE66-8EE9-2CF3-4348-54E30123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D64F698-065A-5AC7-AA94-A1E584498237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4BF0799-07ED-D9C1-C876-BE5480508532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25A6F3B-F3E0-3774-EE5E-0D1588D6C4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3B6C571-FED2-06D2-A3BE-251B0F0A4B9C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0CB3C31-B63F-1F64-8F3A-82CFAC572E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923099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Outputs</a:t>
            </a: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CFFA4F6-8170-9163-C3D6-C6E1B718D24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EA2FD33-C57E-E183-2A62-26FDAF7AB8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CCC7787-A0E4-1C88-39E9-CFDB1251E470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ECF323D-C28C-93CF-FB4C-CD718A2929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C0F498F0-428E-6F99-ACC3-AEB02EE6EF61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501EF-8777-2298-4E15-694A6D51A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031" y="1100072"/>
            <a:ext cx="10527003" cy="50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15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1819-2B36-C59B-CA2A-3E252BD8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301DF74-1514-23CB-3CF8-4F4B90F94C61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B0D7B3EB-E2F5-51E5-6613-4CF1F14B61F3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D5CBA2C-5058-9E36-0320-08480C2B30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A686C68-DD33-B995-2645-3AE503F39F63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62FC459-E6B7-5647-CF69-CA1B82941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923099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Outputs</a:t>
            </a: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448C6C3-12DA-7BB5-FAEE-883E1A02476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0D86560-2AF2-DE58-D9AC-71EBE0A71A5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D7C3271-A730-62FB-E5E8-66B75336DD7C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0E3FA51-9A9F-EF80-F08C-E5CD3B2FF3A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1C02E3B-A82D-5DCF-717C-5D4B7017039F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3F256-3806-4F5C-1469-BFFC15D0D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706" y="1125624"/>
            <a:ext cx="10658588" cy="510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0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1BA3-5AB7-003F-C2BB-0ECA2670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216F824-22AF-FAAC-C639-8033CA7D1440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4669401D-CBB9-42FB-ADB0-C351420C6430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60C1E17-C85A-4B48-BA5F-EA16EBBBFF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7D4BEB4-EEF4-1D2D-F27F-4DC108505569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A78DCC9-E908-083A-876F-B12E7DC36B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92309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prstClr val="white"/>
                </a:solidFill>
                <a:sym typeface="+mn-ea"/>
              </a:rPr>
              <a:t>Conclusion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1068CC8-6EAF-6AF2-1AE9-0AF8C4CFC04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40029A6-D43C-AA58-2040-2247B2F42EE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11A956C-437D-B0F7-83B7-E02A288B2FD7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8CE7985-4FD7-C874-A30A-42861C5DAFB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E172BB3B-5A99-D674-535A-D79D07F10628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2520E7-DCEC-9695-597D-CD99623E733F}"/>
                  </a:ext>
                </a:extLst>
              </p14:cNvPr>
              <p14:cNvContentPartPr/>
              <p14:nvPr/>
            </p14:nvContentPartPr>
            <p14:xfrm>
              <a:off x="7529312" y="388139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2520E7-DCEC-9695-597D-CD99623E73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0672" y="387275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904A035-9AA9-663D-F2B0-0D39C2EA4771}"/>
              </a:ext>
            </a:extLst>
          </p:cNvPr>
          <p:cNvSpPr txBox="1"/>
          <p:nvPr/>
        </p:nvSpPr>
        <p:spPr>
          <a:xfrm>
            <a:off x="762000" y="1363843"/>
            <a:ext cx="10668000" cy="4806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5080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Personal Finance Manager with Smart Expense Prediction System provides an effective platform for managing personal and group-based financial activities.</a:t>
            </a:r>
          </a:p>
          <a:p>
            <a:pPr marL="5080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users to track expenses, manage budgets, monitor savings goals, and view financial reports through a user-friendly interface.</a:t>
            </a:r>
          </a:p>
          <a:p>
            <a:pPr marL="5080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machine learning and a general AI chatbot supports smart expense prediction and better financial decision-making.</a:t>
            </a:r>
          </a:p>
          <a:p>
            <a:pPr marL="5080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system can be enhanced by integrating bank APIs, and improving prediction accuracy using advanced AI models.</a:t>
            </a:r>
          </a:p>
        </p:txBody>
      </p:sp>
    </p:spTree>
    <p:extLst>
      <p:ext uri="{BB962C8B-B14F-4D97-AF65-F5344CB8AC3E}">
        <p14:creationId xmlns:p14="http://schemas.microsoft.com/office/powerpoint/2010/main" val="66089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D1981-BE35-CCD7-93BD-F393CC66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65C2234-FB55-ACAF-4BD0-D4B50B6D486E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B553E38D-70AC-1E1D-B738-2216D14CC363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A78F214-A886-2FF0-8B78-1AA3C26700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4A668DC-D054-5841-B473-A7D7D9E3349E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83127DF-3B2E-6D0E-8199-A15DA08D3A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923099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pc="-10" dirty="0">
                <a:solidFill>
                  <a:prstClr val="white"/>
                </a:solidFill>
              </a:rPr>
              <a:t>References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86E0E6D-AEBF-1115-722E-B668255EC28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US" spc="-25" dirty="0"/>
              <a:t>06</a:t>
            </a:r>
            <a:endParaRPr spc="-25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8C95324-E10E-2363-3607-08E4EB86B71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9" y="6629559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DE9189E-F02E-3C10-E97C-AC399FF5691F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5277317-A32B-3297-CE69-BE76DE58A53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B6FACBBE-3D27-B36D-D24F-C9D787ED42FA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3EBC29A4-8B96-9D8C-6038-387CC08F9A32}"/>
              </a:ext>
            </a:extLst>
          </p:cNvPr>
          <p:cNvSpPr txBox="1"/>
          <p:nvPr/>
        </p:nvSpPr>
        <p:spPr>
          <a:xfrm>
            <a:off x="274856" y="1386389"/>
            <a:ext cx="11518389" cy="434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lang="en-US" sz="2200" b="1" kern="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Books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Noto Sans Symbols"/>
              <a:buChar char="❑"/>
              <a:defRPr/>
            </a:pPr>
            <a:r>
              <a:rPr lang="en-US" altLang="en-US" sz="1900" kern="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[1] Ian Goodfellow, Yoshua Bengio, and Aaron Courville, Deep Learning. Cambridge, MA: MIT Press, 2016.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Journal Article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Noto Sans Symbols"/>
              <a:buChar char="❑"/>
              <a:defRPr/>
            </a:pPr>
            <a:r>
              <a:rPr lang="en-US" altLang="en-US" sz="1900" kern="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[2] L. Chen and R. Williams, “Machine Learning-Based Expense Prediction for Personal Finance Management,” International Journal of Data Science and Analytics, vol. 14, no. 2, pp. 85–97, March 2022.</a:t>
            </a:r>
            <a:endParaRPr lang="en-US" altLang="en-US" sz="19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Newspaper article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Noto Sans Symbols"/>
              <a:buChar char="❑"/>
              <a:defRPr/>
            </a:pPr>
            <a:r>
              <a:rPr lang="en-US" altLang="en-US" sz="1900" kern="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[3]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Artificial Intelligence Is Transforming Personal Finance,” The Economic Times, vol. 183, pp. 12–13, June 10, 2023.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Noto Sans Symbols"/>
              <a:buChar char="⮚"/>
              <a:tabLst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Technical Report</a:t>
            </a:r>
          </a:p>
          <a:p>
            <a:pPr marL="914400" lvl="1" indent="-381000" algn="just">
              <a:lnSpc>
                <a:spcPct val="90000"/>
              </a:lnSpc>
              <a:spcBef>
                <a:spcPts val="500"/>
              </a:spcBef>
              <a:buClr>
                <a:prstClr val="black"/>
              </a:buClr>
              <a:buSzPts val="2400"/>
              <a:buFont typeface="Noto Sans Symbols"/>
              <a:buChar char="❑"/>
              <a:defRPr/>
            </a:pPr>
            <a:r>
              <a:rPr lang="en-US" altLang="en-US" sz="1900" kern="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[4] </a:t>
            </a:r>
            <a:r>
              <a:rPr lang="en-US" altLang="en-US" sz="1900" kern="0" dirty="0" err="1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Organisation</a:t>
            </a:r>
            <a:r>
              <a:rPr lang="en-US" altLang="en-US" sz="1900" kern="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for Economic Co-operation and Development (OECD), “Artificial Intelligence in Personal Financial Management and Consumer Decision-Making,” OECD Publishing, Financial Technology Technical Report OECD-AI-FIN-2021-07, July 2021.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46216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A3ED-FD00-8D80-6195-3BBAAD1B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0799E2-69A4-D03C-1061-DE7E96EF5E8A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CFB6713-804A-08B5-7F54-19D1630BED5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lang="en-IN" dirty="0"/>
              <a:t>-</a:t>
            </a:r>
            <a:r>
              <a:rPr spc="-5" dirty="0"/>
              <a:t> </a:t>
            </a:r>
            <a:r>
              <a:rPr lang="en-IN" spc="-25" dirty="0"/>
              <a:t>06</a:t>
            </a:r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5957A7A-CD65-96AE-504D-573850C859A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172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5EEA178-0B2C-E35D-A694-7183BFB18958}"/>
              </a:ext>
            </a:extLst>
          </p:cNvPr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D84D2A4-ED52-37A1-F03C-0E9069AFDFB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DEE184-FDA7-887B-0848-374471681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6766" y="2685864"/>
            <a:ext cx="6778468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Thank You!!!</a:t>
            </a:r>
            <a:endParaRPr sz="9600" dirty="0">
              <a:latin typeface="Times New Roman"/>
              <a:cs typeface="Times New Roman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D5BDDFC-918D-FEF2-9FC5-6A5379894BE6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716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lang="en-IN" dirty="0"/>
              <a:t>-</a:t>
            </a:r>
            <a:r>
              <a:rPr spc="-5" dirty="0"/>
              <a:t> </a:t>
            </a:r>
            <a:r>
              <a:rPr lang="en-IN" spc="-25" dirty="0"/>
              <a:t>06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172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47541" y="6629197"/>
            <a:ext cx="41300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1FB95357-1AC8-3787-8BDD-A655931299CF}"/>
              </a:ext>
            </a:extLst>
          </p:cNvPr>
          <p:cNvSpPr txBox="1"/>
          <p:nvPr/>
        </p:nvSpPr>
        <p:spPr>
          <a:xfrm>
            <a:off x="2628899" y="-38247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AI-Based Personal Finance Manager with Smart Expense Prediction System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1513</TotalTime>
  <Words>1938</Words>
  <Application>Microsoft Office PowerPoint</Application>
  <PresentationFormat>Widescreen</PresentationFormat>
  <Paragraphs>260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Lucida Sans Unicode</vt:lpstr>
      <vt:lpstr>Noto Sans Symbols</vt:lpstr>
      <vt:lpstr>Times New Roman</vt:lpstr>
      <vt:lpstr>Wingdings</vt:lpstr>
      <vt:lpstr>Office Theme</vt:lpstr>
      <vt:lpstr>AI-Based Personal Finance Manager with Smart Expense Prediction System</vt:lpstr>
      <vt:lpstr>Queries From Review 0 </vt:lpstr>
      <vt:lpstr>Title Explanation</vt:lpstr>
      <vt:lpstr>Contents </vt:lpstr>
      <vt:lpstr>Abstract</vt:lpstr>
      <vt:lpstr>Introduction</vt:lpstr>
      <vt:lpstr>PowerPoint Presentation</vt:lpstr>
      <vt:lpstr>Datasets/Modules</vt:lpstr>
      <vt:lpstr>Datasets/Modules</vt:lpstr>
      <vt:lpstr>Implementation </vt:lpstr>
      <vt:lpstr>UML diagram of Use Case</vt:lpstr>
      <vt:lpstr>UML diagram of Class</vt:lpstr>
      <vt:lpstr>UML diagram of Sequence</vt:lpstr>
      <vt:lpstr>UML diagram of Activity &amp; Component</vt:lpstr>
      <vt:lpstr>Outputs</vt:lpstr>
      <vt:lpstr>Outputs</vt:lpstr>
      <vt:lpstr>Outputs</vt:lpstr>
      <vt:lpstr>Conclusion </vt:lpstr>
      <vt:lpstr>References</vt:lpstr>
      <vt:lpstr>Thank You!!!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Hemanth Kumar</dc:creator>
  <cp:lastModifiedBy>Hemanth Kumar</cp:lastModifiedBy>
  <cp:revision>63</cp:revision>
  <dcterms:created xsi:type="dcterms:W3CDTF">2025-12-04T07:04:46Z</dcterms:created>
  <dcterms:modified xsi:type="dcterms:W3CDTF">2026-05-17T20:25:00Z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2025-12-04T00:00:00Z</vt:filetime>
  </property>
</Properties>
</file>