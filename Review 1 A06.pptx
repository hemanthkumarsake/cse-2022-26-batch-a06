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4" r:id="rId10"/>
    <p:sldId id="264" r:id="rId11"/>
    <p:sldId id="265" r:id="rId12"/>
    <p:sldId id="268" r:id="rId13"/>
    <p:sldId id="269" r:id="rId14"/>
    <p:sldId id="270" r:id="rId15"/>
    <p:sldId id="271" r:id="rId16"/>
    <p:sldId id="275" r:id="rId17"/>
    <p:sldId id="276" r:id="rId18"/>
    <p:sldId id="272" r:id="rId19"/>
    <p:sldId id="273" r:id="rId20"/>
    <p:sldId id="267" r:id="rId21"/>
    <p:sldId id="266" r:id="rId2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>
      <p:cViewPr varScale="1">
        <p:scale>
          <a:sx n="82" d="100"/>
          <a:sy n="82" d="100"/>
        </p:scale>
        <p:origin x="691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5:27:42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2486BD-0CDD-4D05-BE6D-30FDC2FD2F34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2DD3BB-8524-40C8-A9B6-19FD676231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1459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2DD3BB-8524-40C8-A9B6-19FD676231C9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1796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spc="-25" dirty="0"/>
              <a:t>XX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32814" y="6642719"/>
            <a:ext cx="5498465" cy="215265"/>
          </a:xfrm>
          <a:custGeom>
            <a:avLst/>
            <a:gdLst/>
            <a:ahLst/>
            <a:cxnLst/>
            <a:rect l="l" t="t" r="r" b="b"/>
            <a:pathLst>
              <a:path w="5498465" h="215265">
                <a:moveTo>
                  <a:pt x="0" y="214919"/>
                </a:moveTo>
                <a:lnTo>
                  <a:pt x="5498224" y="214919"/>
                </a:lnTo>
                <a:lnTo>
                  <a:pt x="5498224" y="0"/>
                </a:lnTo>
                <a:lnTo>
                  <a:pt x="0" y="0"/>
                </a:lnTo>
                <a:lnTo>
                  <a:pt x="0" y="214919"/>
                </a:lnTo>
                <a:close/>
              </a:path>
            </a:pathLst>
          </a:custGeom>
          <a:solidFill>
            <a:srgbClr val="00206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6431400" y="6641999"/>
            <a:ext cx="5191760" cy="215900"/>
          </a:xfrm>
          <a:custGeom>
            <a:avLst/>
            <a:gdLst/>
            <a:ahLst/>
            <a:cxnLst/>
            <a:rect l="l" t="t" r="r" b="b"/>
            <a:pathLst>
              <a:path w="5191759" h="215900">
                <a:moveTo>
                  <a:pt x="0" y="215639"/>
                </a:moveTo>
                <a:lnTo>
                  <a:pt x="5191639" y="215639"/>
                </a:lnTo>
                <a:lnTo>
                  <a:pt x="5191639" y="0"/>
                </a:lnTo>
                <a:lnTo>
                  <a:pt x="0" y="0"/>
                </a:lnTo>
                <a:lnTo>
                  <a:pt x="0" y="215639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1623040" y="6642099"/>
            <a:ext cx="568960" cy="215900"/>
          </a:xfrm>
          <a:custGeom>
            <a:avLst/>
            <a:gdLst/>
            <a:ahLst/>
            <a:cxnLst/>
            <a:rect l="l" t="t" r="r" b="b"/>
            <a:pathLst>
              <a:path w="568959" h="215900">
                <a:moveTo>
                  <a:pt x="568959" y="215899"/>
                </a:moveTo>
                <a:lnTo>
                  <a:pt x="0" y="215899"/>
                </a:lnTo>
                <a:lnTo>
                  <a:pt x="0" y="0"/>
                </a:lnTo>
                <a:lnTo>
                  <a:pt x="568959" y="0"/>
                </a:lnTo>
                <a:lnTo>
                  <a:pt x="568959" y="215899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506320" y="5956200"/>
            <a:ext cx="685439" cy="681285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0" y="6642734"/>
            <a:ext cx="932815" cy="214629"/>
          </a:xfrm>
          <a:custGeom>
            <a:avLst/>
            <a:gdLst/>
            <a:ahLst/>
            <a:cxnLst/>
            <a:rect l="l" t="t" r="r" b="b"/>
            <a:pathLst>
              <a:path w="932815" h="214629">
                <a:moveTo>
                  <a:pt x="932814" y="214629"/>
                </a:moveTo>
                <a:lnTo>
                  <a:pt x="0" y="214629"/>
                </a:lnTo>
                <a:lnTo>
                  <a:pt x="0" y="0"/>
                </a:lnTo>
                <a:lnTo>
                  <a:pt x="932814" y="0"/>
                </a:lnTo>
                <a:lnTo>
                  <a:pt x="932814" y="214629"/>
                </a:lnTo>
                <a:close/>
              </a:path>
            </a:pathLst>
          </a:custGeom>
          <a:solidFill>
            <a:srgbClr val="C55A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spc="-25" dirty="0"/>
              <a:t>XX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spc="-25" dirty="0"/>
              <a:t>XX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spc="-25" dirty="0"/>
              <a:t>XX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32814" y="6642719"/>
            <a:ext cx="5498465" cy="215265"/>
          </a:xfrm>
          <a:custGeom>
            <a:avLst/>
            <a:gdLst/>
            <a:ahLst/>
            <a:cxnLst/>
            <a:rect l="l" t="t" r="r" b="b"/>
            <a:pathLst>
              <a:path w="5498465" h="215265">
                <a:moveTo>
                  <a:pt x="0" y="214919"/>
                </a:moveTo>
                <a:lnTo>
                  <a:pt x="5498224" y="214919"/>
                </a:lnTo>
                <a:lnTo>
                  <a:pt x="5498224" y="0"/>
                </a:lnTo>
                <a:lnTo>
                  <a:pt x="0" y="0"/>
                </a:lnTo>
                <a:lnTo>
                  <a:pt x="0" y="214919"/>
                </a:lnTo>
                <a:close/>
              </a:path>
            </a:pathLst>
          </a:custGeom>
          <a:solidFill>
            <a:srgbClr val="00206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6431400" y="6641999"/>
            <a:ext cx="5191760" cy="215900"/>
          </a:xfrm>
          <a:custGeom>
            <a:avLst/>
            <a:gdLst/>
            <a:ahLst/>
            <a:cxnLst/>
            <a:rect l="l" t="t" r="r" b="b"/>
            <a:pathLst>
              <a:path w="5191759" h="215900">
                <a:moveTo>
                  <a:pt x="0" y="215639"/>
                </a:moveTo>
                <a:lnTo>
                  <a:pt x="5191639" y="215639"/>
                </a:lnTo>
                <a:lnTo>
                  <a:pt x="5191639" y="0"/>
                </a:lnTo>
                <a:lnTo>
                  <a:pt x="0" y="0"/>
                </a:lnTo>
                <a:lnTo>
                  <a:pt x="0" y="215639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1623040" y="6642099"/>
            <a:ext cx="568960" cy="215900"/>
          </a:xfrm>
          <a:custGeom>
            <a:avLst/>
            <a:gdLst/>
            <a:ahLst/>
            <a:cxnLst/>
            <a:rect l="l" t="t" r="r" b="b"/>
            <a:pathLst>
              <a:path w="568959" h="215900">
                <a:moveTo>
                  <a:pt x="568959" y="215899"/>
                </a:moveTo>
                <a:lnTo>
                  <a:pt x="0" y="215899"/>
                </a:lnTo>
                <a:lnTo>
                  <a:pt x="0" y="0"/>
                </a:lnTo>
                <a:lnTo>
                  <a:pt x="568959" y="0"/>
                </a:lnTo>
                <a:lnTo>
                  <a:pt x="568959" y="215899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506320" y="5956200"/>
            <a:ext cx="685439" cy="681285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0" y="6642734"/>
            <a:ext cx="932815" cy="214629"/>
          </a:xfrm>
          <a:custGeom>
            <a:avLst/>
            <a:gdLst/>
            <a:ahLst/>
            <a:cxnLst/>
            <a:rect l="l" t="t" r="r" b="b"/>
            <a:pathLst>
              <a:path w="932815" h="214629">
                <a:moveTo>
                  <a:pt x="932814" y="214629"/>
                </a:moveTo>
                <a:lnTo>
                  <a:pt x="0" y="214629"/>
                </a:lnTo>
                <a:lnTo>
                  <a:pt x="0" y="0"/>
                </a:lnTo>
                <a:lnTo>
                  <a:pt x="932814" y="0"/>
                </a:lnTo>
                <a:lnTo>
                  <a:pt x="932814" y="214629"/>
                </a:lnTo>
                <a:close/>
              </a:path>
            </a:pathLst>
          </a:custGeom>
          <a:solidFill>
            <a:srgbClr val="C55A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spc="-25" dirty="0"/>
              <a:t>XX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32814" y="6642719"/>
            <a:ext cx="5498465" cy="215265"/>
          </a:xfrm>
          <a:custGeom>
            <a:avLst/>
            <a:gdLst/>
            <a:ahLst/>
            <a:cxnLst/>
            <a:rect l="l" t="t" r="r" b="b"/>
            <a:pathLst>
              <a:path w="5498465" h="215265">
                <a:moveTo>
                  <a:pt x="0" y="214919"/>
                </a:moveTo>
                <a:lnTo>
                  <a:pt x="5498224" y="214919"/>
                </a:lnTo>
                <a:lnTo>
                  <a:pt x="5498224" y="0"/>
                </a:lnTo>
                <a:lnTo>
                  <a:pt x="0" y="0"/>
                </a:lnTo>
                <a:lnTo>
                  <a:pt x="0" y="214919"/>
                </a:lnTo>
                <a:close/>
              </a:path>
            </a:pathLst>
          </a:custGeom>
          <a:solidFill>
            <a:srgbClr val="00206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6431400" y="6641999"/>
            <a:ext cx="5191760" cy="215900"/>
          </a:xfrm>
          <a:custGeom>
            <a:avLst/>
            <a:gdLst/>
            <a:ahLst/>
            <a:cxnLst/>
            <a:rect l="l" t="t" r="r" b="b"/>
            <a:pathLst>
              <a:path w="5191759" h="215900">
                <a:moveTo>
                  <a:pt x="0" y="215639"/>
                </a:moveTo>
                <a:lnTo>
                  <a:pt x="5191639" y="215639"/>
                </a:lnTo>
                <a:lnTo>
                  <a:pt x="5191639" y="0"/>
                </a:lnTo>
                <a:lnTo>
                  <a:pt x="0" y="0"/>
                </a:lnTo>
                <a:lnTo>
                  <a:pt x="0" y="215639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1623040" y="6642099"/>
            <a:ext cx="568960" cy="215900"/>
          </a:xfrm>
          <a:custGeom>
            <a:avLst/>
            <a:gdLst/>
            <a:ahLst/>
            <a:cxnLst/>
            <a:rect l="l" t="t" r="r" b="b"/>
            <a:pathLst>
              <a:path w="568959" h="215900">
                <a:moveTo>
                  <a:pt x="568959" y="215899"/>
                </a:moveTo>
                <a:lnTo>
                  <a:pt x="0" y="215899"/>
                </a:lnTo>
                <a:lnTo>
                  <a:pt x="0" y="0"/>
                </a:lnTo>
                <a:lnTo>
                  <a:pt x="568959" y="0"/>
                </a:lnTo>
                <a:lnTo>
                  <a:pt x="568959" y="215899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1506320" y="5956200"/>
            <a:ext cx="685439" cy="681285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0" y="6642734"/>
            <a:ext cx="932815" cy="214629"/>
          </a:xfrm>
          <a:custGeom>
            <a:avLst/>
            <a:gdLst/>
            <a:ahLst/>
            <a:cxnLst/>
            <a:rect l="l" t="t" r="r" b="b"/>
            <a:pathLst>
              <a:path w="932815" h="214629">
                <a:moveTo>
                  <a:pt x="932814" y="214629"/>
                </a:moveTo>
                <a:lnTo>
                  <a:pt x="0" y="214629"/>
                </a:lnTo>
                <a:lnTo>
                  <a:pt x="0" y="0"/>
                </a:lnTo>
                <a:lnTo>
                  <a:pt x="932814" y="0"/>
                </a:lnTo>
                <a:lnTo>
                  <a:pt x="932814" y="214629"/>
                </a:lnTo>
                <a:close/>
              </a:path>
            </a:pathLst>
          </a:custGeom>
          <a:solidFill>
            <a:srgbClr val="C55A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3025" y="182323"/>
            <a:ext cx="4739005" cy="695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36899" y="1074318"/>
            <a:ext cx="11346815" cy="3137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50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spc="-25" dirty="0"/>
              <a:t>XX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773949" y="6629558"/>
            <a:ext cx="3661410" cy="250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93245" y="6629427"/>
            <a:ext cx="228600" cy="250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77240" y="6634440"/>
            <a:ext cx="11414760" cy="223520"/>
            <a:chOff x="777240" y="6634440"/>
            <a:chExt cx="11414760" cy="223520"/>
          </a:xfrm>
        </p:grpSpPr>
        <p:sp>
          <p:nvSpPr>
            <p:cNvPr id="3" name="object 3"/>
            <p:cNvSpPr/>
            <p:nvPr/>
          </p:nvSpPr>
          <p:spPr>
            <a:xfrm>
              <a:off x="777240" y="6634440"/>
              <a:ext cx="5781675" cy="220979"/>
            </a:xfrm>
            <a:custGeom>
              <a:avLst/>
              <a:gdLst/>
              <a:ahLst/>
              <a:cxnLst/>
              <a:rect l="l" t="t" r="r" b="b"/>
              <a:pathLst>
                <a:path w="5781675" h="220979">
                  <a:moveTo>
                    <a:pt x="5781599" y="220679"/>
                  </a:moveTo>
                  <a:lnTo>
                    <a:pt x="0" y="220679"/>
                  </a:lnTo>
                  <a:lnTo>
                    <a:pt x="0" y="0"/>
                  </a:lnTo>
                  <a:lnTo>
                    <a:pt x="5781599" y="0"/>
                  </a:lnTo>
                  <a:lnTo>
                    <a:pt x="5781599" y="220679"/>
                  </a:lnTo>
                  <a:close/>
                </a:path>
              </a:pathLst>
            </a:custGeom>
            <a:solidFill>
              <a:srgbClr val="0020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6559199" y="6634440"/>
              <a:ext cx="5194935" cy="220979"/>
            </a:xfrm>
            <a:custGeom>
              <a:avLst/>
              <a:gdLst/>
              <a:ahLst/>
              <a:cxnLst/>
              <a:rect l="l" t="t" r="r" b="b"/>
              <a:pathLst>
                <a:path w="5194934" h="220979">
                  <a:moveTo>
                    <a:pt x="5194799" y="220679"/>
                  </a:moveTo>
                  <a:lnTo>
                    <a:pt x="0" y="220679"/>
                  </a:lnTo>
                  <a:lnTo>
                    <a:pt x="0" y="0"/>
                  </a:lnTo>
                  <a:lnTo>
                    <a:pt x="5194799" y="0"/>
                  </a:lnTo>
                  <a:lnTo>
                    <a:pt x="5194799" y="220679"/>
                  </a:lnTo>
                  <a:close/>
                </a:path>
              </a:pathLst>
            </a:custGeom>
            <a:solidFill>
              <a:srgbClr val="0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754359" y="6636960"/>
              <a:ext cx="437515" cy="220979"/>
            </a:xfrm>
            <a:custGeom>
              <a:avLst/>
              <a:gdLst/>
              <a:ahLst/>
              <a:cxnLst/>
              <a:rect l="l" t="t" r="r" b="b"/>
              <a:pathLst>
                <a:path w="437515" h="220979">
                  <a:moveTo>
                    <a:pt x="437399" y="220679"/>
                  </a:moveTo>
                  <a:lnTo>
                    <a:pt x="0" y="220679"/>
                  </a:lnTo>
                  <a:lnTo>
                    <a:pt x="0" y="0"/>
                  </a:lnTo>
                  <a:lnTo>
                    <a:pt x="437399" y="0"/>
                  </a:lnTo>
                  <a:lnTo>
                    <a:pt x="437399" y="220679"/>
                  </a:lnTo>
                  <a:close/>
                </a:path>
              </a:pathLst>
            </a:custGeom>
            <a:solidFill>
              <a:srgbClr val="FFC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0" y="6634440"/>
            <a:ext cx="777240" cy="221615"/>
          </a:xfrm>
          <a:custGeom>
            <a:avLst/>
            <a:gdLst/>
            <a:ahLst/>
            <a:cxnLst/>
            <a:rect l="l" t="t" r="r" b="b"/>
            <a:pathLst>
              <a:path w="777240" h="221615">
                <a:moveTo>
                  <a:pt x="776879" y="221039"/>
                </a:moveTo>
                <a:lnTo>
                  <a:pt x="0" y="221039"/>
                </a:lnTo>
                <a:lnTo>
                  <a:pt x="0" y="0"/>
                </a:lnTo>
                <a:lnTo>
                  <a:pt x="776879" y="0"/>
                </a:lnTo>
                <a:lnTo>
                  <a:pt x="776879" y="221039"/>
                </a:lnTo>
                <a:close/>
              </a:path>
            </a:pathLst>
          </a:custGeom>
          <a:solidFill>
            <a:srgbClr val="C55A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551746" y="1665226"/>
            <a:ext cx="3674597" cy="42383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ts val="2080"/>
              </a:lnSpc>
              <a:spcBef>
                <a:spcPts val="105"/>
              </a:spcBef>
            </a:pPr>
            <a:r>
              <a:rPr lang="en-US" sz="2400" dirty="0">
                <a:latin typeface="Times New Roman"/>
                <a:cs typeface="Times New Roman"/>
              </a:rPr>
              <a:t>B. JAHNAV ARJUN GOWD</a:t>
            </a:r>
            <a:endParaRPr sz="2400" dirty="0">
              <a:latin typeface="Times New Roman"/>
              <a:cs typeface="Times New Roman"/>
            </a:endParaRPr>
          </a:p>
          <a:p>
            <a:pPr marL="635" algn="ctr">
              <a:lnSpc>
                <a:spcPts val="1060"/>
              </a:lnSpc>
            </a:pPr>
            <a:r>
              <a:rPr sz="1100" dirty="0">
                <a:latin typeface="Times New Roman"/>
                <a:cs typeface="Times New Roman"/>
              </a:rPr>
              <a:t>Roll</a:t>
            </a:r>
            <a:r>
              <a:rPr sz="1100" spc="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No.</a:t>
            </a:r>
            <a:r>
              <a:rPr sz="1100" spc="5" dirty="0">
                <a:latin typeface="Times New Roman"/>
                <a:cs typeface="Times New Roman"/>
              </a:rPr>
              <a:t> </a:t>
            </a:r>
            <a:r>
              <a:rPr sz="1100" spc="-10" dirty="0">
                <a:latin typeface="Times New Roman"/>
                <a:cs typeface="Times New Roman"/>
              </a:rPr>
              <a:t>2</a:t>
            </a:r>
            <a:r>
              <a:rPr lang="en-US" sz="1100" spc="-10" dirty="0">
                <a:latin typeface="Times New Roman"/>
                <a:cs typeface="Times New Roman"/>
              </a:rPr>
              <a:t>2</a:t>
            </a:r>
            <a:r>
              <a:rPr sz="1100" spc="-10" dirty="0">
                <a:latin typeface="Times New Roman"/>
                <a:cs typeface="Times New Roman"/>
              </a:rPr>
              <a:t>4G1A05</a:t>
            </a:r>
            <a:r>
              <a:rPr lang="en-US" sz="1100" spc="-10" dirty="0">
                <a:latin typeface="Times New Roman"/>
                <a:cs typeface="Times New Roman"/>
              </a:rPr>
              <a:t>32</a:t>
            </a:r>
            <a:endParaRPr sz="1100" dirty="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01823" y="2322009"/>
            <a:ext cx="3382017" cy="90133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" algn="ctr">
              <a:lnSpc>
                <a:spcPts val="1630"/>
              </a:lnSpc>
              <a:spcBef>
                <a:spcPts val="100"/>
              </a:spcBef>
            </a:pPr>
            <a:r>
              <a:rPr sz="1400" i="1" dirty="0">
                <a:latin typeface="Times New Roman"/>
                <a:cs typeface="Times New Roman"/>
              </a:rPr>
              <a:t>Under</a:t>
            </a:r>
            <a:r>
              <a:rPr sz="1400" i="1" spc="-35" dirty="0">
                <a:latin typeface="Times New Roman"/>
                <a:cs typeface="Times New Roman"/>
              </a:rPr>
              <a:t> </a:t>
            </a:r>
            <a:r>
              <a:rPr sz="1400" i="1" dirty="0">
                <a:latin typeface="Times New Roman"/>
                <a:cs typeface="Times New Roman"/>
              </a:rPr>
              <a:t>the</a:t>
            </a:r>
            <a:r>
              <a:rPr sz="1400" i="1" spc="-35" dirty="0">
                <a:latin typeface="Times New Roman"/>
                <a:cs typeface="Times New Roman"/>
              </a:rPr>
              <a:t> </a:t>
            </a:r>
            <a:r>
              <a:rPr sz="1400" i="1" spc="-10" dirty="0">
                <a:latin typeface="Times New Roman"/>
                <a:cs typeface="Times New Roman"/>
              </a:rPr>
              <a:t>guidance</a:t>
            </a:r>
            <a:r>
              <a:rPr sz="1400" i="1" spc="-35" dirty="0">
                <a:latin typeface="Times New Roman"/>
                <a:cs typeface="Times New Roman"/>
              </a:rPr>
              <a:t> </a:t>
            </a:r>
            <a:r>
              <a:rPr sz="1400" i="1" spc="-25" dirty="0">
                <a:latin typeface="Times New Roman"/>
                <a:cs typeface="Times New Roman"/>
              </a:rPr>
              <a:t>of</a:t>
            </a:r>
            <a:endParaRPr sz="1400" dirty="0">
              <a:latin typeface="Times New Roman"/>
              <a:cs typeface="Times New Roman"/>
            </a:endParaRPr>
          </a:p>
          <a:p>
            <a:pPr marL="12065" marR="5080" algn="ctr">
              <a:lnSpc>
                <a:spcPts val="2790"/>
              </a:lnSpc>
              <a:spcBef>
                <a:spcPts val="114"/>
              </a:spcBef>
            </a:pPr>
            <a:r>
              <a:rPr lang="en-US" sz="2400" dirty="0">
                <a:latin typeface="Times New Roman"/>
                <a:cs typeface="Times New Roman"/>
              </a:rPr>
              <a:t>Mr. P. SHAJAHAN</a:t>
            </a:r>
            <a:r>
              <a:rPr sz="2400" spc="-10" dirty="0">
                <a:latin typeface="Times New Roman"/>
                <a:cs typeface="Times New Roman"/>
              </a:rPr>
              <a:t>,</a:t>
            </a:r>
            <a:r>
              <a:rPr lang="en-US" sz="2400" spc="-10" dirty="0">
                <a:latin typeface="Times New Roman"/>
                <a:cs typeface="Times New Roman"/>
              </a:rPr>
              <a:t> </a:t>
            </a:r>
            <a:r>
              <a:rPr kumimoji="0" lang="en-IN" sz="1400" b="0" i="0" u="none" strike="noStrike" kern="0" cap="none" spc="-1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cs typeface="Times New Roman"/>
              </a:rPr>
              <a:t>M.Tech</a:t>
            </a:r>
            <a:r>
              <a:rPr kumimoji="0" lang="en-IN" sz="14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cs typeface="Times New Roman"/>
              </a:rPr>
              <a:t>.</a:t>
            </a:r>
            <a:r>
              <a:rPr lang="en-US" sz="2400" spc="-1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lang="en-IN" sz="1400" spc="-10" dirty="0">
                <a:latin typeface="Times New Roman"/>
                <a:cs typeface="Times New Roman"/>
              </a:rPr>
              <a:t>Assistant Professor</a:t>
            </a:r>
            <a:endParaRPr sz="1400" dirty="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773948" y="5032471"/>
            <a:ext cx="8706312" cy="163698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445" algn="ctr">
              <a:lnSpc>
                <a:spcPts val="2300"/>
              </a:lnSpc>
              <a:spcBef>
                <a:spcPts val="105"/>
              </a:spcBef>
            </a:pPr>
            <a:r>
              <a:rPr lang="en-US" sz="2200" dirty="0">
                <a:latin typeface="Times New Roman"/>
                <a:cs typeface="Times New Roman"/>
              </a:rPr>
              <a:t>Department</a:t>
            </a:r>
            <a:r>
              <a:rPr lang="en-US" sz="2200" spc="-25" dirty="0">
                <a:latin typeface="Times New Roman"/>
                <a:cs typeface="Times New Roman"/>
              </a:rPr>
              <a:t> </a:t>
            </a:r>
            <a:r>
              <a:rPr lang="en-US" sz="2200" dirty="0">
                <a:latin typeface="Times New Roman"/>
                <a:cs typeface="Times New Roman"/>
              </a:rPr>
              <a:t>of</a:t>
            </a:r>
            <a:r>
              <a:rPr lang="en-US" sz="2200" spc="-15" dirty="0">
                <a:latin typeface="Times New Roman"/>
                <a:cs typeface="Times New Roman"/>
              </a:rPr>
              <a:t> </a:t>
            </a:r>
            <a:r>
              <a:rPr lang="en-US" sz="2200" dirty="0">
                <a:latin typeface="Times New Roman"/>
                <a:cs typeface="Times New Roman"/>
              </a:rPr>
              <a:t>Computer</a:t>
            </a:r>
            <a:r>
              <a:rPr lang="en-US" sz="2200" spc="-15" dirty="0">
                <a:latin typeface="Times New Roman"/>
                <a:cs typeface="Times New Roman"/>
              </a:rPr>
              <a:t> </a:t>
            </a:r>
            <a:r>
              <a:rPr lang="en-US" sz="2200" dirty="0">
                <a:latin typeface="Times New Roman"/>
                <a:cs typeface="Times New Roman"/>
              </a:rPr>
              <a:t>Science</a:t>
            </a:r>
            <a:r>
              <a:rPr lang="en-US" sz="2200" spc="-20" dirty="0">
                <a:latin typeface="Times New Roman"/>
                <a:cs typeface="Times New Roman"/>
              </a:rPr>
              <a:t> </a:t>
            </a:r>
            <a:r>
              <a:rPr lang="en-US" sz="2200" dirty="0">
                <a:latin typeface="Times New Roman"/>
                <a:cs typeface="Times New Roman"/>
              </a:rPr>
              <a:t>and</a:t>
            </a:r>
            <a:r>
              <a:rPr lang="en-US" sz="2200" spc="-15" dirty="0">
                <a:latin typeface="Times New Roman"/>
                <a:cs typeface="Times New Roman"/>
              </a:rPr>
              <a:t> </a:t>
            </a:r>
            <a:r>
              <a:rPr lang="en-US" sz="2200" dirty="0">
                <a:latin typeface="Times New Roman"/>
                <a:cs typeface="Times New Roman"/>
              </a:rPr>
              <a:t>Engineering</a:t>
            </a:r>
            <a:endParaRPr sz="2200" dirty="0">
              <a:latin typeface="Times New Roman"/>
              <a:cs typeface="Times New Roman"/>
            </a:endParaRPr>
          </a:p>
          <a:p>
            <a:pPr algn="ctr">
              <a:lnSpc>
                <a:spcPts val="3565"/>
              </a:lnSpc>
            </a:pPr>
            <a:r>
              <a:rPr sz="3400" dirty="0">
                <a:solidFill>
                  <a:srgbClr val="FF0000"/>
                </a:solidFill>
                <a:latin typeface="Times New Roman"/>
                <a:cs typeface="Times New Roman"/>
              </a:rPr>
              <a:t>Srinivasa</a:t>
            </a:r>
            <a:r>
              <a:rPr sz="34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400" dirty="0">
                <a:solidFill>
                  <a:srgbClr val="FF0000"/>
                </a:solidFill>
                <a:latin typeface="Times New Roman"/>
                <a:cs typeface="Times New Roman"/>
              </a:rPr>
              <a:t>Ramanujan</a:t>
            </a:r>
            <a:r>
              <a:rPr sz="34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400" dirty="0">
                <a:solidFill>
                  <a:srgbClr val="FF0000"/>
                </a:solidFill>
                <a:latin typeface="Times New Roman"/>
                <a:cs typeface="Times New Roman"/>
              </a:rPr>
              <a:t>Institute</a:t>
            </a:r>
            <a:r>
              <a:rPr sz="34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400" dirty="0">
                <a:solidFill>
                  <a:srgbClr val="FF0000"/>
                </a:solidFill>
                <a:latin typeface="Times New Roman"/>
                <a:cs typeface="Times New Roman"/>
              </a:rPr>
              <a:t>of</a:t>
            </a:r>
            <a:r>
              <a:rPr sz="34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400" spc="-10" dirty="0">
                <a:solidFill>
                  <a:srgbClr val="FF0000"/>
                </a:solidFill>
                <a:latin typeface="Times New Roman"/>
                <a:cs typeface="Times New Roman"/>
              </a:rPr>
              <a:t>Technology</a:t>
            </a:r>
            <a:endParaRPr sz="3400" dirty="0">
              <a:latin typeface="Times New Roman"/>
              <a:cs typeface="Times New Roman"/>
            </a:endParaRPr>
          </a:p>
          <a:p>
            <a:pPr marL="6350" algn="ctr">
              <a:lnSpc>
                <a:spcPts val="1850"/>
              </a:lnSpc>
            </a:pPr>
            <a:r>
              <a:rPr sz="1750" b="1" spc="-10" dirty="0">
                <a:latin typeface="Times New Roman"/>
                <a:cs typeface="Times New Roman"/>
              </a:rPr>
              <a:t>Autonomous</a:t>
            </a:r>
            <a:endParaRPr sz="1750" dirty="0">
              <a:latin typeface="Times New Roman"/>
              <a:cs typeface="Times New Roman"/>
            </a:endParaRPr>
          </a:p>
          <a:p>
            <a:pPr marL="7620" algn="ctr">
              <a:lnSpc>
                <a:spcPts val="1370"/>
              </a:lnSpc>
            </a:pPr>
            <a:r>
              <a:rPr lang="en-IN" sz="1200" b="1" dirty="0" err="1">
                <a:latin typeface="Times New Roman"/>
                <a:cs typeface="Times New Roman"/>
              </a:rPr>
              <a:t>Rotarypuram</a:t>
            </a:r>
            <a:r>
              <a:rPr lang="en-IN" sz="1200" b="1" dirty="0">
                <a:latin typeface="Times New Roman"/>
                <a:cs typeface="Times New Roman"/>
              </a:rPr>
              <a:t> Village, B K </a:t>
            </a:r>
            <a:r>
              <a:rPr lang="en-IN" sz="1200" b="1" dirty="0" err="1">
                <a:latin typeface="Times New Roman"/>
                <a:cs typeface="Times New Roman"/>
              </a:rPr>
              <a:t>Samudram</a:t>
            </a:r>
            <a:r>
              <a:rPr lang="en-IN" sz="1200" b="1" dirty="0">
                <a:latin typeface="Times New Roman"/>
                <a:cs typeface="Times New Roman"/>
              </a:rPr>
              <a:t> Mandal, </a:t>
            </a:r>
            <a:r>
              <a:rPr lang="en-IN" sz="1200" b="1" dirty="0" err="1">
                <a:latin typeface="Times New Roman"/>
                <a:cs typeface="Times New Roman"/>
              </a:rPr>
              <a:t>Ananthapuramu</a:t>
            </a:r>
            <a:r>
              <a:rPr lang="en-IN" sz="1200" b="1" dirty="0">
                <a:latin typeface="Times New Roman"/>
                <a:cs typeface="Times New Roman"/>
              </a:rPr>
              <a:t> – 515701.</a:t>
            </a:r>
          </a:p>
          <a:p>
            <a:pPr marL="7620" algn="ctr">
              <a:lnSpc>
                <a:spcPts val="1370"/>
              </a:lnSpc>
            </a:pPr>
            <a:r>
              <a:rPr lang="en-IN" sz="1200" b="1" dirty="0">
                <a:latin typeface="Times New Roman"/>
                <a:cs typeface="Times New Roman"/>
              </a:rPr>
              <a:t>Accredited by NBA &amp; NAAC with “A” Grade, Affiliated to JNTUA, </a:t>
            </a:r>
            <a:r>
              <a:rPr lang="en-IN" sz="1200" b="1" dirty="0" err="1">
                <a:latin typeface="Times New Roman"/>
                <a:cs typeface="Times New Roman"/>
              </a:rPr>
              <a:t>Ananthapuramu</a:t>
            </a:r>
            <a:r>
              <a:rPr lang="en-IN" sz="1200" b="1" dirty="0">
                <a:latin typeface="Times New Roman"/>
                <a:cs typeface="Times New Roman"/>
              </a:rPr>
              <a:t>.</a:t>
            </a:r>
            <a:endParaRPr sz="1200" dirty="0">
              <a:latin typeface="Times New Roman"/>
              <a:cs typeface="Times New Roman"/>
            </a:endParaRPr>
          </a:p>
          <a:p>
            <a:pPr marL="6985" algn="ctr">
              <a:lnSpc>
                <a:spcPct val="100000"/>
              </a:lnSpc>
              <a:spcBef>
                <a:spcPts val="545"/>
              </a:spcBef>
            </a:pPr>
            <a:r>
              <a:rPr sz="1300" b="1" dirty="0">
                <a:solidFill>
                  <a:srgbClr val="1E4E78"/>
                </a:solidFill>
                <a:latin typeface="Times New Roman"/>
                <a:cs typeface="Times New Roman"/>
              </a:rPr>
              <a:t>202</a:t>
            </a:r>
            <a:r>
              <a:rPr lang="en-US" sz="1300" b="1" dirty="0">
                <a:solidFill>
                  <a:srgbClr val="1E4E78"/>
                </a:solidFill>
                <a:latin typeface="Times New Roman"/>
                <a:cs typeface="Times New Roman"/>
              </a:rPr>
              <a:t>5</a:t>
            </a:r>
            <a:r>
              <a:rPr sz="1300" b="1" dirty="0">
                <a:solidFill>
                  <a:srgbClr val="1E4E78"/>
                </a:solidFill>
                <a:latin typeface="Times New Roman"/>
                <a:cs typeface="Times New Roman"/>
              </a:rPr>
              <a:t>-</a:t>
            </a:r>
            <a:r>
              <a:rPr sz="1300" b="1" spc="-20" dirty="0">
                <a:solidFill>
                  <a:srgbClr val="1E4E78"/>
                </a:solidFill>
                <a:latin typeface="Times New Roman"/>
                <a:cs typeface="Times New Roman"/>
              </a:rPr>
              <a:t>20</a:t>
            </a:r>
            <a:r>
              <a:rPr lang="en-IN" sz="1300" b="1" spc="-20" dirty="0">
                <a:solidFill>
                  <a:srgbClr val="1E4E78"/>
                </a:solidFill>
                <a:latin typeface="Times New Roman"/>
                <a:cs typeface="Times New Roman"/>
              </a:rPr>
              <a:t>26</a:t>
            </a:r>
            <a:endParaRPr sz="13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84032" y="1650399"/>
            <a:ext cx="3358472" cy="463588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algn="ctr">
              <a:lnSpc>
                <a:spcPts val="2380"/>
              </a:lnSpc>
              <a:spcBef>
                <a:spcPts val="115"/>
              </a:spcBef>
            </a:pPr>
            <a:r>
              <a:rPr lang="en-IN" sz="2600" dirty="0">
                <a:latin typeface="Times New Roman"/>
                <a:cs typeface="Times New Roman"/>
              </a:rPr>
              <a:t>S. HEMANTH KUMAR</a:t>
            </a:r>
            <a:endParaRPr sz="2600" dirty="0">
              <a:latin typeface="Times New Roman"/>
              <a:cs typeface="Times New Roman"/>
            </a:endParaRPr>
          </a:p>
          <a:p>
            <a:pPr marL="1270" algn="ctr">
              <a:lnSpc>
                <a:spcPts val="1060"/>
              </a:lnSpc>
            </a:pPr>
            <a:r>
              <a:rPr sz="1300" dirty="0">
                <a:latin typeface="Times New Roman"/>
                <a:cs typeface="Times New Roman"/>
              </a:rPr>
              <a:t>Roll</a:t>
            </a:r>
            <a:r>
              <a:rPr sz="1300" spc="40" dirty="0">
                <a:latin typeface="Times New Roman"/>
                <a:cs typeface="Times New Roman"/>
              </a:rPr>
              <a:t> </a:t>
            </a:r>
            <a:r>
              <a:rPr sz="1300" dirty="0">
                <a:latin typeface="Times New Roman"/>
                <a:cs typeface="Times New Roman"/>
              </a:rPr>
              <a:t>No.</a:t>
            </a:r>
            <a:r>
              <a:rPr sz="1300" spc="40" dirty="0">
                <a:latin typeface="Times New Roman"/>
                <a:cs typeface="Times New Roman"/>
              </a:rPr>
              <a:t> </a:t>
            </a:r>
            <a:r>
              <a:rPr lang="en-US" sz="1300" spc="-10" dirty="0">
                <a:latin typeface="Times New Roman"/>
                <a:cs typeface="Times New Roman"/>
              </a:rPr>
              <a:t>2</a:t>
            </a:r>
            <a:r>
              <a:rPr sz="1300" spc="-10" dirty="0">
                <a:latin typeface="Times New Roman"/>
                <a:cs typeface="Times New Roman"/>
              </a:rPr>
              <a:t>24G1A05</a:t>
            </a:r>
            <a:r>
              <a:rPr lang="en-US" sz="1300" spc="-10" dirty="0">
                <a:latin typeface="Times New Roman"/>
                <a:cs typeface="Times New Roman"/>
              </a:rPr>
              <a:t>28</a:t>
            </a:r>
            <a:endParaRPr sz="1300" dirty="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635585" y="1648911"/>
            <a:ext cx="1844675" cy="4248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ts val="2080"/>
              </a:lnSpc>
              <a:spcBef>
                <a:spcPts val="105"/>
              </a:spcBef>
            </a:pPr>
            <a:r>
              <a:rPr sz="2400" dirty="0">
                <a:latin typeface="Times New Roman"/>
                <a:cs typeface="Times New Roman"/>
              </a:rPr>
              <a:t>T</a:t>
            </a:r>
            <a:r>
              <a:rPr lang="en-US" sz="2400" dirty="0">
                <a:latin typeface="Times New Roman"/>
                <a:cs typeface="Times New Roman"/>
              </a:rPr>
              <a:t>. PAVAN</a:t>
            </a:r>
            <a:endParaRPr sz="2400" dirty="0">
              <a:latin typeface="Times New Roman"/>
              <a:cs typeface="Times New Roman"/>
            </a:endParaRPr>
          </a:p>
          <a:p>
            <a:pPr marL="635" algn="ctr">
              <a:lnSpc>
                <a:spcPts val="1060"/>
              </a:lnSpc>
            </a:pPr>
            <a:r>
              <a:rPr sz="1100" dirty="0">
                <a:latin typeface="Times New Roman"/>
                <a:cs typeface="Times New Roman"/>
              </a:rPr>
              <a:t>Roll</a:t>
            </a:r>
            <a:r>
              <a:rPr sz="1100" spc="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No.</a:t>
            </a:r>
            <a:r>
              <a:rPr sz="1100" spc="5" dirty="0">
                <a:latin typeface="Times New Roman"/>
                <a:cs typeface="Times New Roman"/>
              </a:rPr>
              <a:t> </a:t>
            </a:r>
            <a:r>
              <a:rPr lang="en-US" sz="1100" spc="-10" dirty="0">
                <a:latin typeface="Times New Roman"/>
                <a:cs typeface="Times New Roman"/>
              </a:rPr>
              <a:t>22</a:t>
            </a:r>
            <a:r>
              <a:rPr sz="1100" spc="-10" dirty="0">
                <a:latin typeface="Times New Roman"/>
                <a:cs typeface="Times New Roman"/>
              </a:rPr>
              <a:t>4G1A05</a:t>
            </a:r>
            <a:r>
              <a:rPr lang="en-US" sz="1100" spc="-10" dirty="0">
                <a:latin typeface="Times New Roman"/>
                <a:cs typeface="Times New Roman"/>
              </a:rPr>
              <a:t>67</a:t>
            </a:r>
            <a:endParaRPr sz="1100" dirty="0">
              <a:latin typeface="Times New Roman"/>
              <a:cs typeface="Times New Roman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715009" y="318271"/>
            <a:ext cx="10608310" cy="937894"/>
            <a:chOff x="715009" y="318271"/>
            <a:chExt cx="10608310" cy="937894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5009" y="318271"/>
              <a:ext cx="10608182" cy="93786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55008" y="335270"/>
              <a:ext cx="10528300" cy="857885"/>
            </a:xfrm>
            <a:custGeom>
              <a:avLst/>
              <a:gdLst/>
              <a:ahLst/>
              <a:cxnLst/>
              <a:rect l="l" t="t" r="r" b="b"/>
              <a:pathLst>
                <a:path w="10528300" h="857885">
                  <a:moveTo>
                    <a:pt x="10385202" y="857863"/>
                  </a:moveTo>
                  <a:lnTo>
                    <a:pt x="142980" y="857863"/>
                  </a:lnTo>
                  <a:lnTo>
                    <a:pt x="97787" y="850574"/>
                  </a:lnTo>
                  <a:lnTo>
                    <a:pt x="58537" y="830277"/>
                  </a:lnTo>
                  <a:lnTo>
                    <a:pt x="27586" y="799326"/>
                  </a:lnTo>
                  <a:lnTo>
                    <a:pt x="7289" y="760076"/>
                  </a:lnTo>
                  <a:lnTo>
                    <a:pt x="0" y="714883"/>
                  </a:lnTo>
                  <a:lnTo>
                    <a:pt x="0" y="142980"/>
                  </a:lnTo>
                  <a:lnTo>
                    <a:pt x="7289" y="97787"/>
                  </a:lnTo>
                  <a:lnTo>
                    <a:pt x="27586" y="58537"/>
                  </a:lnTo>
                  <a:lnTo>
                    <a:pt x="58537" y="27586"/>
                  </a:lnTo>
                  <a:lnTo>
                    <a:pt x="97787" y="7289"/>
                  </a:lnTo>
                  <a:lnTo>
                    <a:pt x="142980" y="0"/>
                  </a:lnTo>
                  <a:lnTo>
                    <a:pt x="10385202" y="0"/>
                  </a:lnTo>
                  <a:lnTo>
                    <a:pt x="10439918" y="10883"/>
                  </a:lnTo>
                  <a:lnTo>
                    <a:pt x="10486304" y="41877"/>
                  </a:lnTo>
                  <a:lnTo>
                    <a:pt x="10517299" y="88264"/>
                  </a:lnTo>
                  <a:lnTo>
                    <a:pt x="10528183" y="142980"/>
                  </a:lnTo>
                  <a:lnTo>
                    <a:pt x="10528183" y="714883"/>
                  </a:lnTo>
                  <a:lnTo>
                    <a:pt x="10520894" y="760076"/>
                  </a:lnTo>
                  <a:lnTo>
                    <a:pt x="10500596" y="799326"/>
                  </a:lnTo>
                  <a:lnTo>
                    <a:pt x="10469645" y="830277"/>
                  </a:lnTo>
                  <a:lnTo>
                    <a:pt x="10430395" y="850574"/>
                  </a:lnTo>
                  <a:lnTo>
                    <a:pt x="10385202" y="857863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>
            <a:spLocks noGrp="1"/>
          </p:cNvSpPr>
          <p:nvPr>
            <p:ph type="title"/>
          </p:nvPr>
        </p:nvSpPr>
        <p:spPr>
          <a:xfrm>
            <a:off x="908692" y="561533"/>
            <a:ext cx="11664308" cy="4129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600" dirty="0"/>
              <a:t>AI-Based Personal Finance Manager with Smart Expense Prediction System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5987420" y="1278968"/>
            <a:ext cx="21717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i="1" spc="-25" dirty="0">
                <a:latin typeface="Times New Roman"/>
                <a:cs typeface="Times New Roman"/>
              </a:rPr>
              <a:t>by</a:t>
            </a:r>
            <a:endParaRPr sz="1600">
              <a:latin typeface="Times New Roman"/>
              <a:cs typeface="Times New Roman"/>
            </a:endParaRPr>
          </a:p>
        </p:txBody>
      </p:sp>
      <p:pic>
        <p:nvPicPr>
          <p:cNvPr id="19" name="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332311" y="3291712"/>
            <a:ext cx="1527378" cy="1685486"/>
          </a:xfrm>
          <a:prstGeom prst="rect">
            <a:avLst/>
          </a:prstGeom>
        </p:spPr>
      </p:pic>
      <p:sp>
        <p:nvSpPr>
          <p:cNvPr id="22" name="object 8">
            <a:extLst>
              <a:ext uri="{FF2B5EF4-FFF2-40B4-BE49-F238E27FC236}">
                <a16:creationId xmlns:a16="http://schemas.microsoft.com/office/drawing/2014/main" id="{FEE95ADA-7FE8-42A2-741D-DF6198D01670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23" name="object 9">
            <a:extLst>
              <a:ext uri="{FF2B5EF4-FFF2-40B4-BE49-F238E27FC236}">
                <a16:creationId xmlns:a16="http://schemas.microsoft.com/office/drawing/2014/main" id="{92DC7436-16E1-998A-2673-3CD60CBA08DA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3948" y="6629559"/>
            <a:ext cx="4017251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lang="en-US" cap="small" spc="-75" dirty="0"/>
              <a:t>Dept.</a:t>
            </a:r>
            <a:r>
              <a:rPr lang="en-US" cap="small" spc="-10" dirty="0"/>
              <a:t> </a:t>
            </a:r>
            <a:r>
              <a:rPr lang="en-US" cap="small" spc="-100" dirty="0"/>
              <a:t>of</a:t>
            </a:r>
            <a:r>
              <a:rPr lang="en-US" cap="small" spc="50" dirty="0"/>
              <a:t> </a:t>
            </a:r>
            <a:r>
              <a:rPr lang="en-US" cap="small" spc="-114" dirty="0"/>
              <a:t>Computer</a:t>
            </a:r>
            <a:r>
              <a:rPr lang="en-US" cap="small" spc="60" dirty="0"/>
              <a:t> </a:t>
            </a:r>
            <a:r>
              <a:rPr lang="en-US" cap="small" spc="-95" dirty="0"/>
              <a:t>Science</a:t>
            </a:r>
            <a:r>
              <a:rPr lang="en-US" cap="small" spc="55" dirty="0"/>
              <a:t> </a:t>
            </a:r>
            <a:r>
              <a:rPr lang="en-US" cap="small" spc="-130" dirty="0"/>
              <a:t>and</a:t>
            </a:r>
            <a:r>
              <a:rPr lang="en-US" cap="small" spc="55" dirty="0"/>
              <a:t> </a:t>
            </a:r>
            <a:r>
              <a:rPr lang="en-US" cap="small" spc="-130" dirty="0"/>
              <a:t>Engineering</a:t>
            </a:r>
          </a:p>
        </p:txBody>
      </p:sp>
      <p:sp>
        <p:nvSpPr>
          <p:cNvPr id="24" name="object 10">
            <a:extLst>
              <a:ext uri="{FF2B5EF4-FFF2-40B4-BE49-F238E27FC236}">
                <a16:creationId xmlns:a16="http://schemas.microsoft.com/office/drawing/2014/main" id="{FE8984DC-A1BF-E526-76FD-E9A0AAB77F19}"/>
              </a:ext>
            </a:extLst>
          </p:cNvPr>
          <p:cNvSpPr txBox="1"/>
          <p:nvPr/>
        </p:nvSpPr>
        <p:spPr>
          <a:xfrm>
            <a:off x="7147541" y="6629197"/>
            <a:ext cx="42062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25" name="object 11">
            <a:extLst>
              <a:ext uri="{FF2B5EF4-FFF2-40B4-BE49-F238E27FC236}">
                <a16:creationId xmlns:a16="http://schemas.microsoft.com/office/drawing/2014/main" id="{D8B793AA-916F-2AFA-5718-0EEB95EE9ECA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1793245" y="6629427"/>
            <a:ext cx="228600" cy="25082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</a:t>
            </a:fld>
            <a:endParaRPr spc="-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212399"/>
            <a:ext cx="12192000" cy="803275"/>
            <a:chOff x="0" y="212399"/>
            <a:chExt cx="12192000" cy="803275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212399"/>
              <a:ext cx="12192000" cy="80316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239" y="22859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5870575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Queries From Review 0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spc="-10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3948" y="6629559"/>
            <a:ext cx="4017251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41" y="6629197"/>
            <a:ext cx="42062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  <p:sp>
        <p:nvSpPr>
          <p:cNvPr id="7" name="object 7"/>
          <p:cNvSpPr txBox="1"/>
          <p:nvPr/>
        </p:nvSpPr>
        <p:spPr>
          <a:xfrm>
            <a:off x="325786" y="989990"/>
            <a:ext cx="10037414" cy="2103140"/>
          </a:xfrm>
          <a:prstGeom prst="rect">
            <a:avLst/>
          </a:prstGeom>
        </p:spPr>
        <p:txBody>
          <a:bodyPr vert="horz" wrap="square" lIns="0" tIns="96520" rIns="0" bIns="0" rtlCol="0">
            <a:spAutoFit/>
          </a:bodyPr>
          <a:lstStyle/>
          <a:p>
            <a:pPr marL="421005" indent="-408305">
              <a:spcBef>
                <a:spcPts val="760"/>
              </a:spcBef>
              <a:buFontTx/>
              <a:buChar char="•"/>
              <a:tabLst>
                <a:tab pos="421005" algn="l"/>
              </a:tabLst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main objective of this project?</a:t>
            </a:r>
          </a:p>
          <a:p>
            <a:pPr marL="421005" indent="-408305">
              <a:lnSpc>
                <a:spcPct val="100000"/>
              </a:lnSpc>
              <a:spcBef>
                <a:spcPts val="760"/>
              </a:spcBef>
              <a:buChar char="•"/>
              <a:tabLst>
                <a:tab pos="421005" algn="l"/>
              </a:tabLst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does the system predict future expenses?</a:t>
            </a:r>
            <a:endParaRPr sz="2800" dirty="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type of users can use this application?</a:t>
            </a: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What services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provided by this application?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0" y="212399"/>
            <a:ext cx="12192000" cy="803275"/>
            <a:chOff x="0" y="212399"/>
            <a:chExt cx="12192000" cy="80327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2399"/>
              <a:ext cx="12192000" cy="80316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39" y="22859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dirty="0">
                <a:solidFill>
                  <a:prstClr val="white"/>
                </a:solidFill>
                <a:sym typeface="+mn-ea"/>
              </a:rPr>
              <a:t>Title Explanation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3948" y="6629559"/>
            <a:ext cx="4017251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41" y="6629197"/>
            <a:ext cx="42062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924C31-CA33-3AA0-F6AC-3F8332B657C5}"/>
              </a:ext>
            </a:extLst>
          </p:cNvPr>
          <p:cNvSpPr txBox="1"/>
          <p:nvPr/>
        </p:nvSpPr>
        <p:spPr>
          <a:xfrm>
            <a:off x="149031" y="981580"/>
            <a:ext cx="11872814" cy="5617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title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“AI-Based Personal Finance Manager with Smart Expense Prediction System”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represents a web-based application designed to manage personal finances efficiently using artificial intelligence and machine learning.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AI-Based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refers to the use of Artificial Intelligence and Machine Learning techniques to analyze user financial data, identify spending patterns, and provide intelligent predictions and insights.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Personal Finance Manager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refers to a digital platform that helps users track expenses, manage budgets, monitor savings goals, analyze spending patterns, and generate financial reports in an organized manner.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Expense Prediction System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means the system predicts future expense amounts based on historical spending behavior, budget limits, and usage patterns, helping users plan finances and avoid overspending.</a:t>
            </a:r>
          </a:p>
        </p:txBody>
      </p:sp>
      <p:sp>
        <p:nvSpPr>
          <p:cNvPr id="12" name="object 2">
            <a:extLst>
              <a:ext uri="{FF2B5EF4-FFF2-40B4-BE49-F238E27FC236}">
                <a16:creationId xmlns:a16="http://schemas.microsoft.com/office/drawing/2014/main" id="{9D73C84D-790A-49A3-E600-A9B7BAEEEF88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49030" y="245459"/>
            <a:ext cx="2670369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3949" y="6629559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41" y="6629197"/>
            <a:ext cx="40538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289E10-C778-97C5-3BEF-64F0215EEA35}"/>
              </a:ext>
            </a:extLst>
          </p:cNvPr>
          <p:cNvSpPr txBox="1"/>
          <p:nvPr/>
        </p:nvSpPr>
        <p:spPr>
          <a:xfrm>
            <a:off x="533400" y="1266702"/>
            <a:ext cx="10798369" cy="409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62280" lvl="0" indent="-462280" algn="just">
              <a:lnSpc>
                <a:spcPct val="90000"/>
              </a:lnSpc>
              <a:buClr>
                <a:schemeClr val="dk1"/>
              </a:buClr>
              <a:buSzPts val="280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462280" lvl="0" indent="-462280" algn="just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462280" lvl="0" indent="-462280" algn="just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Requirements</a:t>
            </a:r>
          </a:p>
          <a:p>
            <a:pPr marL="462280" lvl="0" indent="-462280" algn="just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Datasets/Modules</a:t>
            </a:r>
          </a:p>
          <a:p>
            <a:pPr marL="462280" lvl="0" indent="-462280" algn="just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  <a:p>
            <a:pPr marL="462280" lvl="0" indent="-462280" algn="just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Outputs</a:t>
            </a:r>
          </a:p>
          <a:p>
            <a:pPr marL="462280" lvl="0" indent="-462280" algn="just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462280" lvl="0" indent="-462280" algn="just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85B157D4-B5AD-AEDD-C57B-B9212F9250C1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dirty="0">
                <a:solidFill>
                  <a:prstClr val="white"/>
                </a:solidFill>
                <a:sym typeface="+mn-ea"/>
              </a:rPr>
              <a:t>Abstract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3948" y="6629559"/>
            <a:ext cx="389127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4B098F-2EEB-E3B6-D749-B5552382089A}"/>
              </a:ext>
            </a:extLst>
          </p:cNvPr>
          <p:cNvSpPr txBox="1"/>
          <p:nvPr/>
        </p:nvSpPr>
        <p:spPr>
          <a:xfrm>
            <a:off x="488562" y="1073971"/>
            <a:ext cx="10941438" cy="4881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develops an AI-Based Personal Finance Manager to help users analyze expenses, manage budgets, and track savings using intelligent financial analytics.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personal finance applications mainly record past expenses and do not provide intelligent expense analysis, future spending prediction, or proactive financial insights.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uses machine learning regression techniques to analyze historical expense data along with user budget information and spending patterns to predict future expenses.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application provides predicted expense values, budget usage analysis, and alert notifications that help users control overspending and plan finances effectively.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integrating expense analysis with AI-based prediction, the system supports smarter financial decision-making and improves overall personal money management.</a:t>
            </a: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A56B9614-B502-B532-A454-AD5004FB3034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dirty="0">
                <a:solidFill>
                  <a:prstClr val="white"/>
                </a:solidFill>
                <a:sym typeface="+mn-ea"/>
              </a:rPr>
              <a:t>Introduction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3949" y="6629559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41" y="6629197"/>
            <a:ext cx="42824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910147-AAFE-44E0-90DF-57091E7D7810}"/>
              </a:ext>
            </a:extLst>
          </p:cNvPr>
          <p:cNvSpPr txBox="1"/>
          <p:nvPr/>
        </p:nvSpPr>
        <p:spPr>
          <a:xfrm>
            <a:off x="696815" y="1192288"/>
            <a:ext cx="10798369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is designed to develop an AI-Based Personal Finance Manager with Smart Expense Prediction System for analyzing and managing personal expenses.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allows users to record daily expenses, categorize spending, set budgets, and track savings goals digitally.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analyzes user spending patterns and provides insights to control overspending and manage finances effectively.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machine learning techniques, the application predicts future expenses based on historical spending behavior.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provides a centralized and intelligent platform to support better financial planning and decision-making.</a:t>
            </a: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74ACF158-DE06-EDE9-EEAE-2A4D2D0E1769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36599" y="221612"/>
            <a:ext cx="7165975" cy="1577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/>
                <a:cs typeface="Times New Roman" panose="02020603050405020304"/>
                <a:sym typeface="+mn-ea"/>
              </a:rPr>
              <a:t>Software Requirements</a:t>
            </a:r>
            <a:endParaRPr lang="en-IN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sz="2800" dirty="0">
              <a:latin typeface="Times New Roman"/>
              <a:cs typeface="Times New Roman"/>
            </a:endParaRPr>
          </a:p>
          <a:p>
            <a:pPr marL="176530">
              <a:lnSpc>
                <a:spcPct val="100000"/>
              </a:lnSpc>
            </a:pPr>
            <a:endParaRPr sz="2800" dirty="0">
              <a:latin typeface="Lucida Sans Unicode"/>
              <a:cs typeface="Lucida Sans Unicode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xfrm>
            <a:off x="1773948" y="6629558"/>
            <a:ext cx="389127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7147541" y="6629197"/>
            <a:ext cx="40538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12" name="object 2">
            <a:extLst>
              <a:ext uri="{FF2B5EF4-FFF2-40B4-BE49-F238E27FC236}">
                <a16:creationId xmlns:a16="http://schemas.microsoft.com/office/drawing/2014/main" id="{1B07E8F8-9C4B-AD4B-1A8F-1B16E532DCFB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3DC333-82C1-58F0-6FA4-DCBFA3BD23A2}"/>
              </a:ext>
            </a:extLst>
          </p:cNvPr>
          <p:cNvSpPr txBox="1"/>
          <p:nvPr/>
        </p:nvSpPr>
        <p:spPr>
          <a:xfrm>
            <a:off x="466531" y="1193049"/>
            <a:ext cx="1098253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HTML, CSS, JavaScript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Bootstrap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Python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Django Framework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SQLite  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/ Logic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(Regression </a:t>
            </a:r>
            <a:r>
              <a:rPr lang="en-IN" sz="2400">
                <a:latin typeface="Times New Roman" panose="02020603050405020304" pitchFamily="18" charset="0"/>
                <a:cs typeface="Times New Roman" panose="02020603050405020304" pitchFamily="18" charset="0"/>
              </a:rPr>
              <a:t>Models)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Code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4"/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3888104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dirty="0">
                <a:solidFill>
                  <a:prstClr val="white"/>
                </a:solidFill>
                <a:sym typeface="+mn-ea"/>
              </a:rPr>
              <a:t>Datasets/Modules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3948" y="6629559"/>
            <a:ext cx="3941051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0735FF-BBB5-6D8E-47E3-5A04AED2F3BB}"/>
              </a:ext>
            </a:extLst>
          </p:cNvPr>
          <p:cNvSpPr txBox="1"/>
          <p:nvPr/>
        </p:nvSpPr>
        <p:spPr>
          <a:xfrm>
            <a:off x="466531" y="1054277"/>
            <a:ext cx="10798369" cy="530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064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prstClr val="black"/>
              </a:buClr>
              <a:buSzPts val="2800"/>
              <a:buFont typeface="Noto Sans Symbols"/>
              <a:buChar char="⮚"/>
              <a:tabLst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User Expense Dataset</a:t>
            </a:r>
            <a:endParaRPr lang="en-IN" sz="2200" dirty="0">
              <a:solidFill>
                <a:prstClr val="black"/>
              </a:solidFill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Arial" panose="020B0604020202020204" pitchFamily="34" charset="0"/>
              <a:buChar char="•"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Fields:</a:t>
            </a:r>
            <a:r>
              <a:rPr lang="en-IN" sz="2200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Expense ID, User ID, Expense Category, Amount, Date, Month, Payment Mode, Description</a:t>
            </a: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Arial" panose="020B0604020202020204" pitchFamily="34" charset="0"/>
              <a:buChar char="•"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Purpose:</a:t>
            </a:r>
            <a:r>
              <a:rPr lang="en-IN" sz="2200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user expense records and serves as the primary dataset for expense tracking and analysis.</a:t>
            </a:r>
            <a:endParaRPr lang="en-IN" sz="2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Times New Roman" panose="02020603050405020304"/>
            </a:endParaRPr>
          </a:p>
          <a:p>
            <a:pPr marL="457200" marR="0" lvl="0" indent="-4064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prstClr val="black"/>
              </a:buClr>
              <a:buSzPts val="2800"/>
              <a:buFont typeface="Noto Sans Symbols"/>
              <a:buChar char="⮚"/>
              <a:tabLst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Budget Dataset</a:t>
            </a:r>
            <a:endParaRPr lang="en-IN" sz="2200" dirty="0">
              <a:solidFill>
                <a:prstClr val="black"/>
              </a:solidFill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Arial" panose="020B0604020202020204" pitchFamily="34" charset="0"/>
              <a:buChar char="•"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Fields:</a:t>
            </a:r>
            <a:r>
              <a:rPr lang="en-I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 ID, User ID, Category, Monthly Budget Limit, Spent Amount, Remaining Amount</a:t>
            </a: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Arial" panose="020B0604020202020204" pitchFamily="34" charset="0"/>
              <a:buChar char="•"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Purpose:</a:t>
            </a:r>
            <a:r>
              <a:rPr lang="en-I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Maintains budget details and supports budget monitoring and alert generation.</a:t>
            </a:r>
            <a:endParaRPr lang="en-IN" sz="2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Times New Roman" panose="02020603050405020304"/>
            </a:endParaRPr>
          </a:p>
          <a:p>
            <a:pPr marL="457200" marR="0" lvl="0" indent="-4064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prstClr val="black"/>
              </a:buClr>
              <a:buSzPts val="2800"/>
              <a:buFont typeface="Noto Sans Symbols"/>
              <a:buChar char="⮚"/>
              <a:tabLst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Expense Prediction Dataset</a:t>
            </a: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Arial" panose="020B0604020202020204" pitchFamily="34" charset="0"/>
              <a:buChar char="•"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Fields:</a:t>
            </a:r>
            <a:r>
              <a:rPr lang="en-I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 ID, User ID, Expense Category, Month, Payment Mode, Budget Limit, Historical Average, Predicted Amount</a:t>
            </a: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Arial" panose="020B0604020202020204" pitchFamily="34" charset="0"/>
              <a:buChar char="•"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Purpose:</a:t>
            </a:r>
            <a:r>
              <a:rPr lang="en-I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to train and test Machine Learning models for predicting future expense amounts.</a:t>
            </a:r>
            <a:endParaRPr lang="en-US" sz="2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472A052D-21F1-2542-F7FA-CDD37594DE72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255FE-AE9F-8B2E-76F1-1E062AA7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4">
            <a:extLst>
              <a:ext uri="{FF2B5EF4-FFF2-40B4-BE49-F238E27FC236}">
                <a16:creationId xmlns:a16="http://schemas.microsoft.com/office/drawing/2014/main" id="{0E8B817D-8F26-56FD-F7AC-435A50E60B50}"/>
              </a:ext>
            </a:extLst>
          </p:cNvPr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4D2DFB73-701F-95C7-421A-3F6320BA013F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54EF3A74-09AE-C228-1853-CC13AA72FAA4}"/>
                </a:ext>
              </a:extLst>
            </p:cNvPr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DD95A507-1E95-6D60-A3CC-70E70EC7F4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3888104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dirty="0">
                <a:solidFill>
                  <a:prstClr val="white"/>
                </a:solidFill>
                <a:sym typeface="+mn-ea"/>
              </a:rPr>
              <a:t>Datasets/Modules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5B92848-287C-5105-9E61-C49868C142BA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BF94955-4AFA-07D0-7C1A-38B5DDA349A6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3948" y="6629559"/>
            <a:ext cx="3941051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810E3EF-CF98-4B60-9D23-D074363296DD}"/>
              </a:ext>
            </a:extLst>
          </p:cNvPr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0DFB4C9-24BD-F3F3-FC85-A475ED3C98F3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F761F4-9EB9-B0BE-706C-10FD5E3C33FF}"/>
              </a:ext>
            </a:extLst>
          </p:cNvPr>
          <p:cNvSpPr txBox="1"/>
          <p:nvPr/>
        </p:nvSpPr>
        <p:spPr>
          <a:xfrm>
            <a:off x="510333" y="1583761"/>
            <a:ext cx="10798369" cy="2978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064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prstClr val="black"/>
              </a:buClr>
              <a:buSzPts val="2800"/>
              <a:buFont typeface="Noto Sans Symbols"/>
              <a:buChar char="⮚"/>
              <a:tabLst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Savings Goal Dataset</a:t>
            </a:r>
            <a:endParaRPr lang="en-IN" sz="2200" dirty="0">
              <a:solidFill>
                <a:prstClr val="black"/>
              </a:solidFill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Arial" panose="020B0604020202020204" pitchFamily="34" charset="0"/>
              <a:buChar char="•"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Fields:</a:t>
            </a:r>
            <a:r>
              <a:rPr lang="en-IN" sz="2200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 ID, User ID, Goal Name, Target Amount, Saved Amount, Deadline, Status</a:t>
            </a: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Arial" panose="020B0604020202020204" pitchFamily="34" charset="0"/>
              <a:buChar char="•"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Purpose:</a:t>
            </a:r>
            <a:r>
              <a:rPr lang="en-IN" sz="2200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Tracks user savings goals and monitors progress toward financial targets.</a:t>
            </a: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Arial" panose="020B0604020202020204" pitchFamily="34" charset="0"/>
              <a:buChar char="•"/>
              <a:defRPr/>
            </a:pPr>
            <a:endParaRPr lang="en-IN" sz="2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Times New Roman" panose="02020603050405020304"/>
            </a:endParaRPr>
          </a:p>
          <a:p>
            <a:pPr marL="457200" marR="0" lvl="0" indent="-4064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prstClr val="black"/>
              </a:buClr>
              <a:buSzPts val="2800"/>
              <a:buFont typeface="Noto Sans Symbols"/>
              <a:buChar char="⮚"/>
              <a:tabLst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Group Dataset</a:t>
            </a:r>
            <a:endParaRPr lang="en-IN" sz="2200" dirty="0">
              <a:solidFill>
                <a:prstClr val="black"/>
              </a:solidFill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Arial" panose="020B0604020202020204" pitchFamily="34" charset="0"/>
              <a:buChar char="•"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Fields:</a:t>
            </a:r>
            <a:r>
              <a:rPr lang="en-I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 </a:t>
            </a:r>
            <a:r>
              <a:rPr 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Group ID, Group Name, Created By (User ID), Created Date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Arial" panose="020B0604020202020204" pitchFamily="34" charset="0"/>
              <a:buChar char="•"/>
              <a:defRPr/>
            </a:pPr>
            <a:r>
              <a:rPr lang="en-IN" sz="22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Purpose:</a:t>
            </a:r>
            <a:r>
              <a:rPr lang="en-I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 </a:t>
            </a:r>
            <a:r>
              <a:rPr 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Stores family or group details and supports shared expense management.</a:t>
            </a:r>
            <a:endParaRPr lang="en-IN" sz="2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08C4A53E-2ADE-087C-6063-1F3DDA48B102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374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4739005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0">
              <a:spcBef>
                <a:spcPts val="100"/>
              </a:spcBef>
            </a:pPr>
            <a:r>
              <a:rPr lang="en-US" dirty="0">
                <a:solidFill>
                  <a:prstClr val="white"/>
                </a:solidFill>
                <a:sym typeface="+mn-ea"/>
              </a:rPr>
              <a:t>Implementation</a:t>
            </a:r>
            <a:br>
              <a:rPr lang="en-IN" dirty="0"/>
            </a:br>
            <a:endParaRPr spc="-10" dirty="0"/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10" name="object 10"/>
          <p:cNvSpPr txBox="1">
            <a:spLocks noGrp="1"/>
          </p:cNvSpPr>
          <p:nvPr>
            <p:ph type="dt" sz="half" idx="6"/>
          </p:nvPr>
        </p:nvSpPr>
        <p:spPr>
          <a:xfrm>
            <a:off x="1773948" y="6629559"/>
            <a:ext cx="3941051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147541" y="6629197"/>
            <a:ext cx="42062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07F0E128-56BB-D1A1-1DC4-BCBD8590181E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403D66A-076A-F586-54DC-6BC8FA7D2B5C}"/>
              </a:ext>
            </a:extLst>
          </p:cNvPr>
          <p:cNvSpPr/>
          <p:nvPr/>
        </p:nvSpPr>
        <p:spPr>
          <a:xfrm>
            <a:off x="9185988" y="5552060"/>
            <a:ext cx="2971800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F2F08BCF-33C4-FA7A-D27F-219DD239B8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6417" y="987345"/>
            <a:ext cx="5105088" cy="2720055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13450D0-F7C2-26BD-5AAD-338552BA0B0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70592" y="987344"/>
            <a:ext cx="5110083" cy="2720055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069E47D9-4C98-C15D-A353-999BE897549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7894" y="3799128"/>
            <a:ext cx="5202133" cy="277989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6EEBD99-9836-BE70-8212-0917CF0030E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40768" y="3799128"/>
            <a:ext cx="5169732" cy="27491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919784B8-30A9-9392-B75B-18A174CB11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61259" y="2172521"/>
            <a:ext cx="4130059" cy="4452559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813625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prstClr val="white"/>
                </a:solidFill>
                <a:sym typeface="+mn-ea"/>
              </a:rPr>
              <a:t>UML diagram of Use Case</a:t>
            </a:r>
            <a:endParaRPr lang="en-IN" dirty="0"/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11" name="object 11"/>
          <p:cNvSpPr txBox="1">
            <a:spLocks noGrp="1"/>
          </p:cNvSpPr>
          <p:nvPr>
            <p:ph type="dt" sz="half" idx="6"/>
          </p:nvPr>
        </p:nvSpPr>
        <p:spPr>
          <a:xfrm>
            <a:off x="1773949" y="6629559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14" name="object 2">
            <a:extLst>
              <a:ext uri="{FF2B5EF4-FFF2-40B4-BE49-F238E27FC236}">
                <a16:creationId xmlns:a16="http://schemas.microsoft.com/office/drawing/2014/main" id="{531969D9-679C-1AB3-033D-75458D134BD0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64A9A6-C8F6-38B7-F24F-036A85E864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74" y="1009793"/>
            <a:ext cx="11164426" cy="55399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Centralized platform to manage personal financial activities between Users and Admins using AI-based insights and expense prediction.</a:t>
            </a: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 Role: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Register and login to the system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 and manage personal expenses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 budgets and savings goals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View expense reports and financial insights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Receive AI-based expense predictions and recommendations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 Role: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Create a group (Family / Group Mode)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 or remove members from the group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View all group members’ expenses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Track who spent on what within the group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Monitor total group spending and shared budgets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3653B-2FB1-BA00-E08D-D02472B45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D33E2A95-00B2-6CFF-F4A1-66D14C633C8C}"/>
              </a:ext>
            </a:extLst>
          </p:cNvPr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6F3382E7-3123-5F99-2396-AA9651010C87}"/>
              </a:ext>
            </a:extLst>
          </p:cNvPr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2C86910F-D9E8-4F5E-3138-A47170679A5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C4A9BC98-1B72-5B70-594F-58A8F3150F26}"/>
                </a:ext>
              </a:extLst>
            </p:cNvPr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01797D3E-E594-EF9C-A0B6-00E0C396C9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813625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prstClr val="white"/>
                </a:solidFill>
                <a:sym typeface="+mn-ea"/>
              </a:rPr>
              <a:t>UML diagram of Class</a:t>
            </a:r>
            <a:endParaRPr lang="en-IN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DE96278C-B640-0B7C-A225-DC227F415AD4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406CDE3D-510D-B457-B804-6F7C0309F703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3949" y="6629559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71729E32-CE83-1EE4-790C-1929F1271EDD}"/>
              </a:ext>
            </a:extLst>
          </p:cNvPr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F74FDDA-DC5B-1FA5-132F-4BCF917D21C9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14" name="object 2">
            <a:extLst>
              <a:ext uri="{FF2B5EF4-FFF2-40B4-BE49-F238E27FC236}">
                <a16:creationId xmlns:a16="http://schemas.microsoft.com/office/drawing/2014/main" id="{417C2B61-AD84-2E85-3087-720D4C9D3657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14CB411F-F418-AE38-6EA5-3B2ECA7110B1}"/>
              </a:ext>
            </a:extLst>
          </p:cNvPr>
          <p:cNvSpPr txBox="1"/>
          <p:nvPr/>
        </p:nvSpPr>
        <p:spPr>
          <a:xfrm>
            <a:off x="-48577" y="878284"/>
            <a:ext cx="12011977" cy="58477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represent the static structure of the system showing classes, attributes, and methods.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Class: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Attributes: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user_id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username, email, password.</a:t>
            </a:r>
          </a:p>
          <a:p>
            <a:pPr marL="342000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the individual using the system.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Class (Family Mode):</a:t>
            </a:r>
            <a:b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Attributes: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group_id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group_name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created_by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000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a family or shared expense group.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Expense Class:</a:t>
            </a:r>
          </a:p>
          <a:p>
            <a:pPr marL="342000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Attributes: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expense_id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user_id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group_id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category, amount, date.</a:t>
            </a:r>
          </a:p>
          <a:p>
            <a:pPr marL="342000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personal and group expenses.</a:t>
            </a:r>
          </a:p>
          <a:p>
            <a:pPr indent="-342900">
              <a:buFont typeface="Wingdings" panose="05000000000000000000" pitchFamily="2" charset="2"/>
              <a:buChar char="Ø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 Class:</a:t>
            </a:r>
          </a:p>
          <a:p>
            <a:pPr marL="342000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Attributes: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budget_id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user_id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category, limit,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spent_amount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000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tracking and controlling expenses.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Class:</a:t>
            </a:r>
          </a:p>
          <a:p>
            <a:pPr marL="342000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Attributes: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prediction_id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user_id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predicted_amount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000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the smart expense prediction output.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F65AF-3583-0052-D50E-132B25FDC1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00684" y="1752600"/>
            <a:ext cx="4130059" cy="388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941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BB7B5-F495-DB5B-785C-1F9AA4A2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31B31A7D-4502-0348-33A5-AA2D25CD97D5}"/>
              </a:ext>
            </a:extLst>
          </p:cNvPr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20B95BDE-C71B-2A11-0173-08FE5FC9A918}"/>
              </a:ext>
            </a:extLst>
          </p:cNvPr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1777466B-3D46-611B-5D04-4E21A65492D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95B67E16-529A-9209-2124-001B1E57AEF7}"/>
                </a:ext>
              </a:extLst>
            </p:cNvPr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402E85FF-9194-1CE3-AF48-08E2B02454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813625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prstClr val="white"/>
                </a:solidFill>
                <a:sym typeface="+mn-ea"/>
              </a:rPr>
              <a:t>UML diagram of Sequence</a:t>
            </a:r>
            <a:endParaRPr lang="en-IN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7F79808-7EFF-5ACE-B092-A60F0A9B1525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37906CD-70D8-C402-A459-ACA103FDDC0D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3949" y="6629559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2083183C-9E3F-B589-63D7-1F2D0BE38E76}"/>
              </a:ext>
            </a:extLst>
          </p:cNvPr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341B4A68-1AA7-2EF0-BB18-1D4342C53D9D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sp>
        <p:nvSpPr>
          <p:cNvPr id="14" name="object 2">
            <a:extLst>
              <a:ext uri="{FF2B5EF4-FFF2-40B4-BE49-F238E27FC236}">
                <a16:creationId xmlns:a16="http://schemas.microsoft.com/office/drawing/2014/main" id="{87255671-4C61-99CF-98C4-8553034C9D6C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6B7FCD-B8AA-691A-0992-D6AF31284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311" y="915888"/>
            <a:ext cx="11858657" cy="5940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show the sequence of interactions between User and System over time in the AI-Based Personal Finance Manager.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Sequence: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Expense data collection and Data preprocessing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 for prediction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model execution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Expense amount prediction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Sequence: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expense / provide input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predicted expense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Logout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Interaction Flow: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initiates requests through the application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processes expense data using ML techniques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Predicted expense result is generated and sent back to the user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F7BD199-88A6-AA7F-2FCE-E104AC6A9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019800" y="1828800"/>
            <a:ext cx="5867401" cy="41672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75311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C920A-4D4D-5966-F2F8-B79D0B995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F48CAB40-F480-6D87-E9CB-63DC53D1BE2C}"/>
              </a:ext>
            </a:extLst>
          </p:cNvPr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8EB660D6-E907-8131-E653-B50E2202CE18}"/>
              </a:ext>
            </a:extLst>
          </p:cNvPr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B9CBAAC0-59CC-07DB-78FC-3A02C963016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667706A3-9F96-962E-283F-83BCC6B64049}"/>
                </a:ext>
              </a:extLst>
            </p:cNvPr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4107D7C1-9FBE-C45C-54B7-D1BCB50266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9230994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prstClr val="white"/>
                </a:solidFill>
                <a:sym typeface="+mn-ea"/>
              </a:rPr>
              <a:t>UML diagram of Activity &amp; Component</a:t>
            </a:r>
            <a:endParaRPr lang="en-IN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CC43DEA-BBB8-7C0B-67DB-79721BEABA42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2B5406C-D37B-3ACF-1BA9-9681EB530003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3949" y="6629559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10B44539-EFEF-BF49-8159-D2DB306AE579}"/>
              </a:ext>
            </a:extLst>
          </p:cNvPr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A963633E-EAF0-163D-0DB5-0FB817015C71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sp>
        <p:nvSpPr>
          <p:cNvPr id="14" name="object 2">
            <a:extLst>
              <a:ext uri="{FF2B5EF4-FFF2-40B4-BE49-F238E27FC236}">
                <a16:creationId xmlns:a16="http://schemas.microsoft.com/office/drawing/2014/main" id="{6E3A7EC1-3D56-A51B-591A-9C26A8D14023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EC8FF327-7556-D6F1-93AB-F3CFDC67BF74}"/>
              </a:ext>
            </a:extLst>
          </p:cNvPr>
          <p:cNvSpPr txBox="1"/>
          <p:nvPr/>
        </p:nvSpPr>
        <p:spPr>
          <a:xfrm>
            <a:off x="73026" y="897137"/>
            <a:ext cx="9985374" cy="5401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0"/>
            </a:defPPr>
          </a:lstStyle>
          <a:p>
            <a:pPr marL="50800" indent="0" algn="l">
              <a:buNone/>
            </a:pP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 Diagram</a:t>
            </a: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the step-by-step flow of user actions in the AI-Based Personal Finance Manager.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Starts with user login or registration.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adding expenses, categorizing spending, and updating predictions.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Covers budget monitoring and alert generation when limits are exceeded.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Ends with report generation and user logout.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0800" indent="0" algn="l">
              <a:buNone/>
            </a:pP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Component Diagram</a:t>
            </a:r>
          </a:p>
          <a:p>
            <a:pPr marL="393700" indent="-342900" algn="l"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the high-level system architecture of </a:t>
            </a:r>
          </a:p>
          <a:p>
            <a:pPr marL="342000" algn="l"/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application.</a:t>
            </a:r>
          </a:p>
          <a:p>
            <a:pPr marL="393700" indent="-342900" algn="l"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User Interface, Backend Server, AI Processing Module, and Database.</a:t>
            </a:r>
          </a:p>
          <a:p>
            <a:pPr marL="393700" indent="-342900" algn="l"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interaction between frontend, AI services, and backend logic.</a:t>
            </a:r>
          </a:p>
          <a:p>
            <a:pPr marL="393700" indent="-342900" algn="l"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understand system integration and data flow for expense prediction and management.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4950C2-E8B9-4D71-5E93-1A303C344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864" y="985691"/>
            <a:ext cx="1989136" cy="495790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15A9A94-655E-0619-B697-39688B6826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3276600"/>
            <a:ext cx="3883027" cy="1417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623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E670-8E69-D5F2-93B3-04A488A1F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547BDB0C-9C2F-11C9-DE09-A5396C0E0E93}"/>
              </a:ext>
            </a:extLst>
          </p:cNvPr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EDB65BB1-4731-F25B-4F30-95A1A55F2B1E}"/>
              </a:ext>
            </a:extLst>
          </p:cNvPr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61BAF141-1341-B4C1-40FD-9033B8A6B76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E1DEAA90-B5FF-C992-0DB5-B072329B3865}"/>
                </a:ext>
              </a:extLst>
            </p:cNvPr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9B468662-54CA-ECA6-B6E3-9F8BC4C44C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9230994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prstClr val="white"/>
                </a:solidFill>
                <a:sym typeface="+mn-ea"/>
              </a:rPr>
              <a:t>Outputs</a:t>
            </a:r>
            <a:endParaRPr lang="en-IN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DA27F62-2F8F-3080-6DCC-1A18E67AF170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430D5E4-08CA-269A-D767-B5D0CA8A3DB5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3949" y="6629559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7CBD91A8-7A13-4515-6AEB-851CF6670814}"/>
              </a:ext>
            </a:extLst>
          </p:cNvPr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DFAE9AA4-7381-50A0-CF5A-BF7D88F4158D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sp>
        <p:nvSpPr>
          <p:cNvPr id="14" name="object 2">
            <a:extLst>
              <a:ext uri="{FF2B5EF4-FFF2-40B4-BE49-F238E27FC236}">
                <a16:creationId xmlns:a16="http://schemas.microsoft.com/office/drawing/2014/main" id="{CEFED2FE-EE8F-2848-30B7-BC36F959DCF4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2BD22D7-C1CD-0E63-8833-4A6F9C4466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556"/>
          <a:stretch>
            <a:fillRect/>
          </a:stretch>
        </p:blipFill>
        <p:spPr>
          <a:xfrm>
            <a:off x="882219" y="1371600"/>
            <a:ext cx="10427562" cy="476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038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4AE66-8EE9-2CF3-4348-54E30123D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1D64F698-065A-5AC7-AA94-A1E584498237}"/>
              </a:ext>
            </a:extLst>
          </p:cNvPr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14BF0799-07ED-D9C1-C876-BE5480508532}"/>
              </a:ext>
            </a:extLst>
          </p:cNvPr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925A6F3B-F3E0-3774-EE5E-0D1588D6C40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13B6C571-FED2-06D2-A3BE-251B0F0A4B9C}"/>
                </a:ext>
              </a:extLst>
            </p:cNvPr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40CB3C31-B63F-1F64-8F3A-82CFAC572E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9230994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prstClr val="white"/>
                </a:solidFill>
                <a:sym typeface="+mn-ea"/>
              </a:rPr>
              <a:t>Outputs</a:t>
            </a:r>
            <a:endParaRPr lang="en-IN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CFFA4F6-8170-9163-C3D6-C6E1B718D241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EA2FD33-C57E-E183-2A62-26FDAF7AB85F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3949" y="6629559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ACCC7787-A0E4-1C88-39E9-CFDB1251E470}"/>
              </a:ext>
            </a:extLst>
          </p:cNvPr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4ECF323D-C28C-93CF-FB4C-CD718A292947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p:sp>
        <p:nvSpPr>
          <p:cNvPr id="14" name="object 2">
            <a:extLst>
              <a:ext uri="{FF2B5EF4-FFF2-40B4-BE49-F238E27FC236}">
                <a16:creationId xmlns:a16="http://schemas.microsoft.com/office/drawing/2014/main" id="{C0F498F0-428E-6F99-ACC3-AEB02EE6EF61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9501EF-8777-2298-4E15-694A6D51A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031" y="1088975"/>
            <a:ext cx="10527003" cy="5098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0154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11819-2B36-C59B-CA2A-3E252BD8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E301DF74-1514-23CB-3CF8-4F4B90F94C61}"/>
              </a:ext>
            </a:extLst>
          </p:cNvPr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B0D7B3EB-E2F5-51E5-6613-4CF1F14B61F3}"/>
              </a:ext>
            </a:extLst>
          </p:cNvPr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1D5CBA2C-5058-9E36-0320-08480C2B30C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CA686C68-DD33-B995-2645-3AE503F39F63}"/>
                </a:ext>
              </a:extLst>
            </p:cNvPr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862FC459-E6B7-5647-CF69-CA1B829413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9230994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prstClr val="white"/>
                </a:solidFill>
                <a:sym typeface="+mn-ea"/>
              </a:rPr>
              <a:t>Outputs</a:t>
            </a:r>
            <a:endParaRPr lang="en-IN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448C6C3-12DA-7BB5-FAEE-883E1A024764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0D86560-2AF2-DE58-D9AC-71EBE0A71A51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3949" y="6629559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6D7C3271-A730-62FB-E5E8-66B75336DD7C}"/>
              </a:ext>
            </a:extLst>
          </p:cNvPr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B0E3FA51-9A9F-EF80-F08C-E5CD3B2FF3A2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p:sp>
        <p:nvSpPr>
          <p:cNvPr id="14" name="object 2">
            <a:extLst>
              <a:ext uri="{FF2B5EF4-FFF2-40B4-BE49-F238E27FC236}">
                <a16:creationId xmlns:a16="http://schemas.microsoft.com/office/drawing/2014/main" id="{F1C02E3B-A82D-5DCF-717C-5D4B7017039F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3F256-3806-4F5C-1469-BFFC15D0D3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06" y="1095774"/>
            <a:ext cx="10658588" cy="516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302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1BA3-5AB7-003F-C2BB-0ECA26702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1216F824-22AF-FAAC-C639-8033CA7D1440}"/>
              </a:ext>
            </a:extLst>
          </p:cNvPr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4669401D-CBB9-42FB-ADB0-C351420C6430}"/>
              </a:ext>
            </a:extLst>
          </p:cNvPr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760C1E17-C85A-4B48-BA5F-EA16EBBBFF7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F7D4BEB4-EEF4-1D2D-F27F-4DC108505569}"/>
                </a:ext>
              </a:extLst>
            </p:cNvPr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5A78DCC9-E908-083A-876F-B12E7DC36B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9230994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dirty="0">
                <a:solidFill>
                  <a:prstClr val="white"/>
                </a:solidFill>
                <a:sym typeface="+mn-ea"/>
              </a:rPr>
              <a:t>Conclusion</a:t>
            </a:r>
            <a:b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B1068CC8-6EAF-6AF2-1AE9-0AF8C4CFC045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40029A6-D43C-AA58-2040-2247B2F42EE9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3949" y="6629559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D11A956C-437D-B0F7-83B7-E02A288B2FD7}"/>
              </a:ext>
            </a:extLst>
          </p:cNvPr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D8CE7985-4FD7-C874-A30A-42861C5DAFBD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  <p:sp>
        <p:nvSpPr>
          <p:cNvPr id="14" name="object 2">
            <a:extLst>
              <a:ext uri="{FF2B5EF4-FFF2-40B4-BE49-F238E27FC236}">
                <a16:creationId xmlns:a16="http://schemas.microsoft.com/office/drawing/2014/main" id="{E172BB3B-5A99-D674-535A-D79D07F10628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82520E7-DCEC-9695-597D-CD99623E733F}"/>
                  </a:ext>
                </a:extLst>
              </p14:cNvPr>
              <p14:cNvContentPartPr/>
              <p14:nvPr/>
            </p14:nvContentPartPr>
            <p14:xfrm>
              <a:off x="7529312" y="3881395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82520E7-DCEC-9695-597D-CD99623E733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20672" y="3872755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C904A035-9AA9-663D-F2B0-0D39C2EA4771}"/>
              </a:ext>
            </a:extLst>
          </p:cNvPr>
          <p:cNvSpPr txBox="1"/>
          <p:nvPr/>
        </p:nvSpPr>
        <p:spPr>
          <a:xfrm>
            <a:off x="762000" y="1363843"/>
            <a:ext cx="10668000" cy="4806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0"/>
            </a:defPPr>
          </a:lstStyle>
          <a:p>
            <a:pPr marL="5080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AI-Based Personal Finance Manager with Smart Expense Prediction System provides an effective platform for managing personal and group-based financial activities.</a:t>
            </a:r>
          </a:p>
          <a:p>
            <a:pPr marL="5080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enables users to track expenses, manage budgets, monitor savings goals, and view financial reports through a user-friendly interface.</a:t>
            </a:r>
          </a:p>
          <a:p>
            <a:pPr marL="5080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integration of machine learning and a general AI chatbot supports smart expense prediction and better financial decision-making.</a:t>
            </a:r>
          </a:p>
          <a:p>
            <a:pPr marL="5080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future, the system can be enhanced by integrating bank APIs, and improving prediction accuracy using advanced AI models.</a:t>
            </a:r>
          </a:p>
        </p:txBody>
      </p:sp>
    </p:spTree>
    <p:extLst>
      <p:ext uri="{BB962C8B-B14F-4D97-AF65-F5344CB8AC3E}">
        <p14:creationId xmlns:p14="http://schemas.microsoft.com/office/powerpoint/2010/main" val="660892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D1981-BE35-CCD7-93BD-F393CC668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265C2234-FB55-ACAF-4BD0-D4B50B6D486E}"/>
              </a:ext>
            </a:extLst>
          </p:cNvPr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B553E38D-70AC-1E1D-B738-2216D14CC363}"/>
              </a:ext>
            </a:extLst>
          </p:cNvPr>
          <p:cNvGrpSpPr/>
          <p:nvPr/>
        </p:nvGrpSpPr>
        <p:grpSpPr>
          <a:xfrm>
            <a:off x="0" y="216720"/>
            <a:ext cx="12192000" cy="803275"/>
            <a:chOff x="0" y="216720"/>
            <a:chExt cx="12192000" cy="803275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7A78F214-A886-2FF0-8B78-1AA3C26700CC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720"/>
              <a:ext cx="12192000" cy="803160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04A668DC-D054-5841-B473-A7D7D9E3349E}"/>
                </a:ext>
              </a:extLst>
            </p:cNvPr>
            <p:cNvSpPr/>
            <p:nvPr/>
          </p:nvSpPr>
          <p:spPr>
            <a:xfrm>
              <a:off x="0" y="232920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759" y="714599"/>
                  </a:moveTo>
                  <a:lnTo>
                    <a:pt x="0" y="714599"/>
                  </a:lnTo>
                  <a:lnTo>
                    <a:pt x="0" y="0"/>
                  </a:lnTo>
                  <a:lnTo>
                    <a:pt x="12191759" y="0"/>
                  </a:lnTo>
                  <a:lnTo>
                    <a:pt x="12191759" y="714599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383127DF-3B2E-6D0E-8199-A15DA08D3A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025" y="182323"/>
            <a:ext cx="9230994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IN" spc="-10" dirty="0">
                <a:solidFill>
                  <a:prstClr val="white"/>
                </a:solidFill>
              </a:rPr>
              <a:t>References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86E0E6D-AEBF-1115-722E-B668255EC280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lang="en-US" spc="-25" dirty="0"/>
              <a:t>06</a:t>
            </a:r>
            <a:endParaRPr spc="-25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8C95324-E10E-2363-3607-08E4EB86B713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3949" y="6629559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FDE9189E-F02E-3C10-E97C-AC399FF5691F}"/>
              </a:ext>
            </a:extLst>
          </p:cNvPr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B5277317-A32B-3297-CE69-BE76DE58A538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  <p:sp>
        <p:nvSpPr>
          <p:cNvPr id="14" name="object 2">
            <a:extLst>
              <a:ext uri="{FF2B5EF4-FFF2-40B4-BE49-F238E27FC236}">
                <a16:creationId xmlns:a16="http://schemas.microsoft.com/office/drawing/2014/main" id="{B6FACBBE-3D27-B36D-D24F-C9D787ED42FA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  <p:sp>
        <p:nvSpPr>
          <p:cNvPr id="4" name="TextBox 20">
            <a:extLst>
              <a:ext uri="{FF2B5EF4-FFF2-40B4-BE49-F238E27FC236}">
                <a16:creationId xmlns:a16="http://schemas.microsoft.com/office/drawing/2014/main" id="{3EBC29A4-8B96-9D8C-6038-387CC08F9A32}"/>
              </a:ext>
            </a:extLst>
          </p:cNvPr>
          <p:cNvSpPr txBox="1"/>
          <p:nvPr/>
        </p:nvSpPr>
        <p:spPr>
          <a:xfrm>
            <a:off x="274856" y="1386389"/>
            <a:ext cx="11518389" cy="43483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0" indent="-4064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prstClr val="black"/>
              </a:buClr>
              <a:buSzPts val="2800"/>
              <a:buFont typeface="Noto Sans Symbols"/>
              <a:buChar char="⮚"/>
              <a:tabLst/>
              <a:defRPr/>
            </a:pPr>
            <a:r>
              <a:rPr lang="en-US" sz="2200" b="1" kern="0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Books</a:t>
            </a:r>
            <a:endParaRPr kumimoji="0" lang="en-US" sz="2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Noto Sans Symbols"/>
              <a:buChar char="❑"/>
              <a:defRPr/>
            </a:pPr>
            <a:r>
              <a:rPr lang="en-US" altLang="en-US" sz="1900" kern="0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[1] Ian Goodfellow, Yoshua Bengio, and Aaron Courville, Deep Learning. Cambridge, MA: MIT Press, 2016.</a:t>
            </a:r>
            <a:endParaRPr kumimoji="0" lang="en-US" altLang="en-US" sz="1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  <a:sym typeface="Times New Roman" panose="02020603050405020304"/>
            </a:endParaRPr>
          </a:p>
          <a:p>
            <a:pPr marL="457200" marR="0" lvl="0" indent="-4064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prstClr val="black"/>
              </a:buClr>
              <a:buSzPts val="2800"/>
              <a:buFont typeface="Noto Sans Symbols"/>
              <a:buChar char="⮚"/>
              <a:tabLst/>
              <a:defRPr/>
            </a:pPr>
            <a:r>
              <a:rPr kumimoji="0" lang="en-US" altLang="en-US" sz="2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Journal Article</a:t>
            </a: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Noto Sans Symbols"/>
              <a:buChar char="❑"/>
              <a:defRPr/>
            </a:pPr>
            <a:r>
              <a:rPr lang="en-US" altLang="en-US" sz="1900" kern="0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[2] L. Chen and R. Williams, “Machine Learning-Based Expense Prediction for Personal Finance Management,” International Journal of Data Science and Analytics, vol. 14, no. 2, pp. 85–97, March 2022.</a:t>
            </a:r>
            <a:endParaRPr lang="en-US" altLang="en-US" sz="1900" kern="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Times New Roman" panose="02020603050405020304"/>
            </a:endParaRPr>
          </a:p>
          <a:p>
            <a:pPr marL="457200" marR="0" lvl="0" indent="-4064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prstClr val="black"/>
              </a:buClr>
              <a:buSzPts val="2800"/>
              <a:buFont typeface="Noto Sans Symbols"/>
              <a:buChar char="⮚"/>
              <a:tabLst/>
              <a:defRPr/>
            </a:pPr>
            <a:r>
              <a:rPr kumimoji="0" lang="en-US" altLang="en-US" sz="2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Newspaper article</a:t>
            </a: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Noto Sans Symbols"/>
              <a:buChar char="❑"/>
              <a:defRPr/>
            </a:pPr>
            <a:r>
              <a:rPr lang="en-US" altLang="en-US" sz="1900" kern="0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[3]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“How Artificial Intelligence Is Transforming Personal Finance,” The Economic Times, vol. 183, pp. 12–13, June 10, 2023.</a:t>
            </a:r>
            <a:endParaRPr kumimoji="0" lang="en-US" altLang="en-US" sz="19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  <a:sym typeface="Times New Roman" panose="02020603050405020304"/>
            </a:endParaRPr>
          </a:p>
          <a:p>
            <a:pPr marL="457200" marR="0" lvl="0" indent="-4064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prstClr val="black"/>
              </a:buClr>
              <a:buSzPts val="2800"/>
              <a:buFont typeface="Noto Sans Symbols"/>
              <a:buChar char="⮚"/>
              <a:tabLst/>
              <a:defRPr/>
            </a:pPr>
            <a:r>
              <a:rPr kumimoji="0" lang="en-US" altLang="en-US" sz="2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Technical Report</a:t>
            </a:r>
          </a:p>
          <a:p>
            <a:pPr marL="914400" lvl="1" indent="-381000" algn="just">
              <a:lnSpc>
                <a:spcPct val="90000"/>
              </a:lnSpc>
              <a:spcBef>
                <a:spcPts val="500"/>
              </a:spcBef>
              <a:buClr>
                <a:prstClr val="black"/>
              </a:buClr>
              <a:buSzPts val="2400"/>
              <a:buFont typeface="Noto Sans Symbols"/>
              <a:buChar char="❑"/>
              <a:defRPr/>
            </a:pPr>
            <a:r>
              <a:rPr lang="en-US" altLang="en-US" sz="1900" kern="0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[4] </a:t>
            </a:r>
            <a:r>
              <a:rPr lang="en-US" altLang="en-US" sz="1900" kern="0" dirty="0" err="1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Organisation</a:t>
            </a:r>
            <a:r>
              <a:rPr lang="en-US" altLang="en-US" sz="1900" kern="0" dirty="0">
                <a:solidFill>
                  <a:prstClr val="black"/>
                </a:solidFill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 for Economic Co-operation and Development (OECD), “Artificial Intelligence in Personal Financial Management and Consumer Decision-Making,” OECD Publishing, Financial Technology Technical Report OECD-AI-FIN-2021-07, July 2021.</a:t>
            </a:r>
            <a:endParaRPr kumimoji="0" lang="en-US" altLang="en-US" sz="2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  <a:sym typeface="Times New Roman" panose="02020603050405020304"/>
            </a:endParaRPr>
          </a:p>
        </p:txBody>
      </p:sp>
    </p:spTree>
    <p:extLst>
      <p:ext uri="{BB962C8B-B14F-4D97-AF65-F5344CB8AC3E}">
        <p14:creationId xmlns:p14="http://schemas.microsoft.com/office/powerpoint/2010/main" val="2746216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CA3ED-FD00-8D80-6195-3BBAAD1B2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60799E2-69A4-D03C-1061-DE7E96EF5E8A}"/>
              </a:ext>
            </a:extLst>
          </p:cNvPr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CFB6713-804A-08B5-7F54-19D1630BED50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lang="en-IN" dirty="0"/>
              <a:t>-</a:t>
            </a:r>
            <a:r>
              <a:rPr spc="-5" dirty="0"/>
              <a:t> </a:t>
            </a:r>
            <a:r>
              <a:rPr lang="en-IN" spc="-25" dirty="0"/>
              <a:t>06</a:t>
            </a:r>
            <a:endParaRPr spc="-25" dirty="0"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C5957A7A-CD65-96AE-504D-573850C859A5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3948" y="6629559"/>
            <a:ext cx="4017251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5EEA178-0B2C-E35D-A694-7183BFB18958}"/>
              </a:ext>
            </a:extLst>
          </p:cNvPr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D84D2A4-ED52-37A1-F03C-0E9069AFDFBB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E2DEE184-FDA7-887B-0848-3744716817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06766" y="2685864"/>
            <a:ext cx="6778468" cy="14901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9600" i="1" dirty="0">
                <a:solidFill>
                  <a:srgbClr val="FF6600"/>
                </a:solidFill>
                <a:latin typeface="Times New Roman"/>
                <a:cs typeface="Times New Roman"/>
              </a:rPr>
              <a:t>Thank You!!!</a:t>
            </a:r>
            <a:endParaRPr sz="9600" dirty="0">
              <a:latin typeface="Times New Roman"/>
              <a:cs typeface="Times New Roman"/>
            </a:endParaRP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7D5BDDFC-918D-FEF2-9FC5-6A5379894BE6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77162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149031" y="6629427"/>
            <a:ext cx="6350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dirty="0"/>
              <a:t>A</a:t>
            </a:r>
            <a:r>
              <a:rPr spc="-10" dirty="0"/>
              <a:t> </a:t>
            </a:r>
            <a:r>
              <a:rPr lang="en-IN" dirty="0"/>
              <a:t>-</a:t>
            </a:r>
            <a:r>
              <a:rPr spc="-5" dirty="0"/>
              <a:t> </a:t>
            </a:r>
            <a:r>
              <a:rPr lang="en-IN" spc="-25" dirty="0"/>
              <a:t>06</a:t>
            </a:r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xfrm>
            <a:off x="1773948" y="6629559"/>
            <a:ext cx="4017251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7147541" y="6629197"/>
            <a:ext cx="4130059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21</a:t>
            </a:fld>
            <a:endParaRPr spc="-25" dirty="0"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2705705" y="2352272"/>
            <a:ext cx="6692265" cy="1488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600" i="1" dirty="0">
                <a:solidFill>
                  <a:srgbClr val="FF6600"/>
                </a:solidFill>
                <a:latin typeface="Times New Roman"/>
                <a:cs typeface="Times New Roman"/>
              </a:rPr>
              <a:t>Any</a:t>
            </a:r>
            <a:r>
              <a:rPr sz="9600" i="1" spc="-30" dirty="0">
                <a:solidFill>
                  <a:srgbClr val="FF6600"/>
                </a:solidFill>
                <a:latin typeface="Times New Roman"/>
                <a:cs typeface="Times New Roman"/>
              </a:rPr>
              <a:t> </a:t>
            </a:r>
            <a:r>
              <a:rPr sz="9600" i="1" spc="-10" dirty="0">
                <a:solidFill>
                  <a:srgbClr val="FF6600"/>
                </a:solidFill>
                <a:latin typeface="Times New Roman"/>
                <a:cs typeface="Times New Roman"/>
              </a:rPr>
              <a:t>Queries?</a:t>
            </a:r>
            <a:endParaRPr sz="9600">
              <a:latin typeface="Times New Roman"/>
              <a:cs typeface="Times New Roman"/>
            </a:endParaRP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1FB95357-1AC8-3787-8BDD-A655931299CF}"/>
              </a:ext>
            </a:extLst>
          </p:cNvPr>
          <p:cNvSpPr txBox="1"/>
          <p:nvPr/>
        </p:nvSpPr>
        <p:spPr>
          <a:xfrm>
            <a:off x="2628899" y="-38247"/>
            <a:ext cx="63246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500" b="1" i="1" dirty="0">
                <a:solidFill>
                  <a:srgbClr val="FFFFFF"/>
                </a:solidFill>
                <a:latin typeface="Times New Roman"/>
                <a:cs typeface="Times New Roman"/>
              </a:rPr>
              <a:t>AI-Based Personal Finance Manager with Smart Expense Prediction System</a:t>
            </a:r>
            <a:endParaRPr sz="15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1495</TotalTime>
  <Words>1938</Words>
  <Application>Microsoft Office PowerPoint</Application>
  <PresentationFormat>Widescreen</PresentationFormat>
  <Paragraphs>260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Lucida Sans Unicode</vt:lpstr>
      <vt:lpstr>Noto Sans Symbols</vt:lpstr>
      <vt:lpstr>Times New Roman</vt:lpstr>
      <vt:lpstr>Wingdings</vt:lpstr>
      <vt:lpstr>Office Theme</vt:lpstr>
      <vt:lpstr>AI-Based Personal Finance Manager with Smart Expense Prediction System</vt:lpstr>
      <vt:lpstr>Queries From Review 0 </vt:lpstr>
      <vt:lpstr>Title Explanation</vt:lpstr>
      <vt:lpstr>Contents </vt:lpstr>
      <vt:lpstr>Abstract</vt:lpstr>
      <vt:lpstr>Introduction</vt:lpstr>
      <vt:lpstr>PowerPoint Presentation</vt:lpstr>
      <vt:lpstr>Datasets/Modules</vt:lpstr>
      <vt:lpstr>Datasets/Modules</vt:lpstr>
      <vt:lpstr>Implementation </vt:lpstr>
      <vt:lpstr>UML diagram of Use Case</vt:lpstr>
      <vt:lpstr>UML diagram of Class</vt:lpstr>
      <vt:lpstr>UML diagram of Sequence</vt:lpstr>
      <vt:lpstr>UML diagram of Activity &amp; Component</vt:lpstr>
      <vt:lpstr>Outputs</vt:lpstr>
      <vt:lpstr>Outputs</vt:lpstr>
      <vt:lpstr>Outputs</vt:lpstr>
      <vt:lpstr>Conclusion </vt:lpstr>
      <vt:lpstr>References</vt:lpstr>
      <vt:lpstr>Thank You!!!</vt:lpstr>
      <vt:lpstr>Any Queries?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Hemanth Kumar</dc:creator>
  <cp:lastModifiedBy>Hemanth Kumar</cp:lastModifiedBy>
  <cp:revision>62</cp:revision>
  <dcterms:created xsi:type="dcterms:W3CDTF">2025-12-04T07:04:46Z</dcterms:created>
  <dcterms:modified xsi:type="dcterms:W3CDTF">2026-02-12T18:29:40Z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2025-12-04T00:00:00Z</vt:filetime>
  </property>
  <property fmtid="{D5CDD505-2E9C-101B-9397-08002B2CF9AE}" pid="3" name="Creator">
    <vt:lpwstr>Google</vt:lpwstr>
  </property>
  <property fmtid="{D5CDD505-2E9C-101B-9397-08002B2CF9AE}" pid="4" name="LastSaved">
    <vt:filetime>2025-12-04T00:00:00Z</vt:filetime>
  </property>
</Properties>
</file>